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image11.svg" ContentType="image/svg+xml"/>
  <Override PartName="/ppt/media/image12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706" r:id="rId2"/>
    <p:sldMasterId id="2147483718" r:id="rId3"/>
  </p:sldMasterIdLst>
  <p:notesMasterIdLst>
    <p:notesMasterId r:id="rId5"/>
  </p:notesMasterIdLst>
  <p:sldIdLst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</p:sldIdLst>
  <p:sldSz cx="12192000" cy="6858000"/>
  <p:notesSz cx="6858000" cy="9144000"/>
  <p:custDataLst>
    <p:tags r:id="rId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aham Trevor Ivan" initials="GTI" lastIdx="8" clrIdx="0">
    <p:extLst>
      <p:ext uri="{19B8F6BF-5375-455C-9EA6-DF929625EA0E}">
        <p15:presenceInfo xmlns:p15="http://schemas.microsoft.com/office/powerpoint/2012/main" userId="S-1-5-21-1457237435-869827030-340508006-64904" providerId="AD"/>
      </p:ext>
    </p:extLst>
  </p:cmAuthor>
  <p:cmAuthor id="2" name="Gushchin Stanislav" initials="GS" lastIdx="1" clrIdx="1">
    <p:extLst>
      <p:ext uri="{19B8F6BF-5375-455C-9EA6-DF929625EA0E}">
        <p15:presenceInfo xmlns:p15="http://schemas.microsoft.com/office/powerpoint/2012/main" userId="S-1-5-21-1457237435-869827030-340508006-678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8C1F"/>
    <a:srgbClr val="4A6C8C"/>
    <a:srgbClr val="F2A900"/>
    <a:srgbClr val="A8A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85" autoAdjust="0"/>
  </p:normalViewPr>
  <p:slideViewPr>
    <p:cSldViewPr snapToGrid="0">
      <p:cViewPr varScale="1">
        <p:scale>
          <a:sx n="87" d="100"/>
          <a:sy n="87" d="100"/>
        </p:scale>
        <p:origin x="4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B7CE6-0BAB-4E7A-B67C-DF9B1C696D1B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2073D-A461-4973-BE2B-65211B90AC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3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Relationship Id="rId3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4691063" y="0"/>
            <a:ext cx="7500937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9407B-AEE7-DF45-98B6-EB09E201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688" y="2092549"/>
            <a:ext cx="6084887" cy="2750431"/>
          </a:xfrm>
        </p:spPr>
        <p:txBody>
          <a:bodyPr anchor="b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688" y="5217461"/>
            <a:ext cx="4468450" cy="116564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69DFB5-9698-6042-8C50-6660FF608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95DD8-9DF3-1744-9219-070A43C21F55}"/>
              </a:ext>
            </a:extLst>
          </p:cNvPr>
          <p:cNvCxnSpPr>
            <a:cxnSpLocks/>
          </p:cNvCxnSpPr>
          <p:nvPr userDrawn="1"/>
        </p:nvCxnSpPr>
        <p:spPr>
          <a:xfrm>
            <a:off x="5627688" y="4924269"/>
            <a:ext cx="608488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AA2A26C-1293-4142-9834-7D7E5E92C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91064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2274AE4-DBE6-8A4F-BCA4-30E049F5E0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87584" y="6056026"/>
            <a:ext cx="1324992" cy="327081"/>
          </a:xfrm>
          <a:ln w="9525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34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781E02-E320-9040-9F89-B90925F09530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800" spc="-150" dirty="0">
                <a:solidFill>
                  <a:schemeClr val="accent5"/>
                </a:solidFill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6302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73BFD-0EC1-9E40-8E76-C7926ABECD26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spc="-150" dirty="0">
                <a:solidFill>
                  <a:schemeClr val="accent5"/>
                </a:solidFill>
              </a:rPr>
              <a:t>Agenda</a:t>
            </a:r>
            <a:endParaRPr lang="ru-RU" sz="12800" spc="-150" dirty="0">
              <a:solidFill>
                <a:schemeClr val="accent5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D2A2CA-E89D-BA47-8BFA-7EC488A16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9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0"/>
            <a:ext cx="117125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3D8012-FC47-8744-A34F-7E52B9CC20F5}"/>
              </a:ext>
            </a:extLst>
          </p:cNvPr>
          <p:cNvGrpSpPr/>
          <p:nvPr userDrawn="1"/>
        </p:nvGrpSpPr>
        <p:grpSpPr>
          <a:xfrm>
            <a:off x="4900369" y="1"/>
            <a:ext cx="6840543" cy="6866676"/>
            <a:chOff x="4900369" y="1"/>
            <a:chExt cx="6840543" cy="686667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04F0E82-1502-614A-AAC8-B3F5DEA8D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FD796C-27EA-9B4C-9062-2D7ACF3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7663" y="1093788"/>
            <a:ext cx="3276599" cy="5187742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E76B95-0B2F-6E4D-8A28-DBB809DC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8" y="2151087"/>
            <a:ext cx="6084885" cy="445767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43E4E-CB39-0B43-9425-94BD6060CB7E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F7E8-8DFE-BB4E-8ECA-76EE0F2AC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95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-1"/>
            <a:ext cx="8435975" cy="63082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1752F1-3AEF-6545-96D5-53F7049F2610}"/>
              </a:ext>
            </a:extLst>
          </p:cNvPr>
          <p:cNvGrpSpPr/>
          <p:nvPr userDrawn="1"/>
        </p:nvGrpSpPr>
        <p:grpSpPr>
          <a:xfrm>
            <a:off x="1595432" y="-8676"/>
            <a:ext cx="6840543" cy="6866676"/>
            <a:chOff x="4900369" y="1"/>
            <a:chExt cx="6840543" cy="686667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DE75CDE-E2CC-204F-8A74-1CF2290B3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78AC5E-B598-3D47-A58A-2900FDA8E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6533E7A-05CB-EC45-AD54-AB236AF537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5975" y="0"/>
            <a:ext cx="32766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BDD422-8594-8A43-BE23-C12198FA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9" y="2151087"/>
            <a:ext cx="6558442" cy="415711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78837-6B41-A64E-8885-0D3A9B5AB131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6CACC7B-993A-1C40-A6B0-57CB69925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50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06" y="1599757"/>
            <a:ext cx="10757257" cy="458368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14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381-A7B1-C54A-B6B7-E5F1631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086F4-9543-3847-B735-3BA464E5A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70" y="1592263"/>
            <a:ext cx="5358256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4B83-7BFD-FF47-B024-8256DB65F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299" y="1592263"/>
            <a:ext cx="5362575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13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F7-B190-F944-A809-0073EEB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1" y="365125"/>
            <a:ext cx="11214100" cy="7286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1D39-9A56-CB4D-8EFC-D6273A8F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50" y="844777"/>
            <a:ext cx="5138438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3560-B3C3-0E45-8AE9-EF4CCB96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73" y="1981200"/>
            <a:ext cx="5135816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7D86-407D-974C-8520-0492B67B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44777"/>
            <a:ext cx="5148263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40D-6F33-D34C-9D8B-F73D4A32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81200"/>
            <a:ext cx="5148263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064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E56-7AA0-9D4D-A0CE-D5ACE08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92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660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or Th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362D50-E4D6-5441-8951-7D71689522CF}"/>
              </a:ext>
            </a:extLst>
          </p:cNvPr>
          <p:cNvSpPr/>
          <p:nvPr userDrawn="1"/>
        </p:nvSpPr>
        <p:spPr>
          <a:xfrm>
            <a:off x="0" y="0"/>
            <a:ext cx="1171257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 Regula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38" y="2759103"/>
            <a:ext cx="9828212" cy="3496553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 and lower </a:t>
            </a:r>
            <a:br>
              <a:rPr lang="en-US" dirty="0"/>
            </a:br>
            <a:r>
              <a:rPr lang="en-US" dirty="0"/>
              <a:t>quote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4471D494-F440-314A-A10E-9216BA02CB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75" y="1093789"/>
            <a:ext cx="1403349" cy="13448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A6A39D-1D86-6F46-ADB1-C944AB67B88F}"/>
              </a:ext>
            </a:extLst>
          </p:cNvPr>
          <p:cNvCxnSpPr/>
          <p:nvPr userDrawn="1"/>
        </p:nvCxnSpPr>
        <p:spPr>
          <a:xfrm flipH="1">
            <a:off x="5159375" y="6265628"/>
            <a:ext cx="14033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016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224436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69122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604971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2332393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93707" y="1599758"/>
            <a:ext cx="2333981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571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432981-6499-8440-879F-083798A992F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3567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718797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FBFB4F4-21E0-4042-B642-6C57839D3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E21290B-E456-D846-AAB9-03155747DD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01091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E7F1902-25F4-8F45-AAE4-3D2A960D7A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0998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DA44385-2DBC-704F-A011-24DF0AB68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994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70793-77F6-3A40-8DBB-14E2F645261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FB3064-8A44-7F4F-BB66-218CF8C8CB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01090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FC8F2C-F8AA-3247-A063-E91A468AFC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0099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8432FE-B5E1-FA4C-8405-63BD4DCAC5F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907992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54589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582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Second level and lower (</a:t>
            </a:r>
            <a:r>
              <a:rPr lang="en-US" dirty="0" err="1"/>
              <a:t>subheader</a:t>
            </a:r>
            <a:r>
              <a:rPr lang="en-US" dirty="0"/>
              <a:t> if you have five blocks)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707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7665" y="1599758"/>
            <a:ext cx="3048359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07665" y="4132501"/>
            <a:ext cx="3048360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A9F76-19E2-7848-9F8A-DF4239818793}"/>
              </a:ext>
            </a:extLst>
          </p:cNvPr>
          <p:cNvGrpSpPr/>
          <p:nvPr userDrawn="1"/>
        </p:nvGrpSpPr>
        <p:grpSpPr>
          <a:xfrm>
            <a:off x="479056" y="1592262"/>
            <a:ext cx="10766065" cy="2181451"/>
            <a:chOff x="479056" y="1592263"/>
            <a:chExt cx="10766065" cy="11608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6E6000-9670-804A-9C5F-D217EDAE4F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EEC813-5B4D-554F-BA4A-1F0752955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11A2-4304-644B-8C8B-5912DC2432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CF34F8-9CFE-E94F-BC62-E6B131DABB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7FFD1B-3B57-F244-8179-0958677B90FE}"/>
              </a:ext>
            </a:extLst>
          </p:cNvPr>
          <p:cNvGrpSpPr/>
          <p:nvPr userDrawn="1"/>
        </p:nvGrpSpPr>
        <p:grpSpPr>
          <a:xfrm>
            <a:off x="479056" y="4120777"/>
            <a:ext cx="10766065" cy="2181451"/>
            <a:chOff x="479056" y="1592263"/>
            <a:chExt cx="10766065" cy="116089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119063-B300-054C-91C3-05B8109928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2116F5-CBC9-ED4C-943F-3C234BEE13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C06347-B86F-974E-A69B-BEEBF15354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F1F16-C9B6-1B4F-874E-3F127C173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7938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31693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969121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776632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150290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B267D3F-FE69-7B48-8836-0A2C698CA9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009A61-2BE6-0E45-AB6B-D359576DD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951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09E7B413-ABF2-844B-B062-036AC90AB8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951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D7297-41E1-A144-9A85-14C86D5BB0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7855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8BA5CAF-B784-9244-B1AA-98A534B2B8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7855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507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6" y="4056744"/>
            <a:ext cx="5140681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0" y="4056744"/>
            <a:ext cx="5142139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366515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33890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1FB8ABB-D011-AC4A-A34C-702667C620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7889" y="3621315"/>
            <a:ext cx="3744686" cy="26561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970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49E491D-B703-7441-BED2-E95DBE03E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55748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361397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7967887" y="0"/>
            <a:ext cx="374595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291795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6562725" y="0"/>
            <a:ext cx="51511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032625" y="1599521"/>
            <a:ext cx="4211639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1719392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A7925-B4C4-1046-A39A-0674E0746DD2}"/>
              </a:ext>
            </a:extLst>
          </p:cNvPr>
          <p:cNvSpPr/>
          <p:nvPr userDrawn="1"/>
        </p:nvSpPr>
        <p:spPr>
          <a:xfrm>
            <a:off x="1" y="0"/>
            <a:ext cx="79663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469628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FC6438-3C24-A14F-9BFC-CD46841D9F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5976" y="2598873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120A445-097D-1846-B120-CCE57BF9564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35976" y="4728119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A7AFC-E83B-9548-951B-7B22739ED3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3271" y="1599521"/>
            <a:ext cx="7007442" cy="4944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9250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509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70" y="1582060"/>
            <a:ext cx="232613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92263"/>
            <a:ext cx="5616575" cy="31387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7714" y="1582060"/>
            <a:ext cx="233966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C78A69-FF95-9548-B4E7-A349FCE666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032625" y="5136543"/>
            <a:ext cx="0" cy="1136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8972AC-7DD0-0247-B721-5C90D3BC7D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51405" y="5122072"/>
            <a:ext cx="3992858" cy="1151169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187180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69" y="1582060"/>
            <a:ext cx="2794443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439" y="1582060"/>
            <a:ext cx="2808286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2780026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4"/>
            <a:ext cx="6083301" cy="465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751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5"/>
            <a:ext cx="6083301" cy="23912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4283242"/>
            <a:ext cx="6083301" cy="232552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6235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55129" y="1530617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341438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2626" y="1341439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E25E9-7986-DB41-A595-036FDF28378B}"/>
              </a:ext>
            </a:extLst>
          </p:cNvPr>
          <p:cNvCxnSpPr>
            <a:cxnSpLocks/>
          </p:cNvCxnSpPr>
          <p:nvPr userDrawn="1"/>
        </p:nvCxnSpPr>
        <p:spPr>
          <a:xfrm>
            <a:off x="479424" y="1341438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102-8429-194E-9822-4DF4A51A6DB9}"/>
              </a:ext>
            </a:extLst>
          </p:cNvPr>
          <p:cNvCxnSpPr>
            <a:cxnSpLocks/>
          </p:cNvCxnSpPr>
          <p:nvPr userDrawn="1"/>
        </p:nvCxnSpPr>
        <p:spPr>
          <a:xfrm>
            <a:off x="479424" y="2577024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93EB7-C698-8044-906A-19D6820D467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812610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6D829-2DE9-CC49-95A2-2E775D19C61A}"/>
              </a:ext>
            </a:extLst>
          </p:cNvPr>
          <p:cNvCxnSpPr>
            <a:cxnSpLocks/>
          </p:cNvCxnSpPr>
          <p:nvPr userDrawn="1"/>
        </p:nvCxnSpPr>
        <p:spPr>
          <a:xfrm>
            <a:off x="479424" y="5048196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3235D-B3B7-844B-AE5F-8BE5E1BE300F}"/>
              </a:ext>
            </a:extLst>
          </p:cNvPr>
          <p:cNvCxnSpPr>
            <a:cxnSpLocks/>
          </p:cNvCxnSpPr>
          <p:nvPr userDrawn="1"/>
        </p:nvCxnSpPr>
        <p:spPr>
          <a:xfrm>
            <a:off x="479424" y="6283783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4A53347A-C7BF-8C41-B75E-05C0A6C779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55129" y="2778171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4B71A2-1AAC-2445-A98E-B3D54EB08E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88992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29188D7-E1F7-814C-9F2B-77B4F81440C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2626" y="2588993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180E5B8-AF09-9C49-9996-0172B8518DD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55129" y="4004459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A796471-FED7-7F4F-9D92-44FD153D130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9425" y="3815280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3AEC7A9-EF90-D945-9FD4-852E0790423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032626" y="3815281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DE1E0F0E-286C-C447-8682-329EB4170A1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5129" y="5244924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47939DC-034E-FC45-8049-B9DC258BB9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055745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B7BDEA2-8758-914D-9AC2-B74F93D8816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626" y="5055746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0985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13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27689" y="1247502"/>
            <a:ext cx="5148262" cy="50030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255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91447A-7607-634B-8673-116970492860}"/>
              </a:ext>
            </a:extLst>
          </p:cNvPr>
          <p:cNvSpPr/>
          <p:nvPr userDrawn="1"/>
        </p:nvSpPr>
        <p:spPr>
          <a:xfrm>
            <a:off x="4236411" y="0"/>
            <a:ext cx="7955589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37442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grpSp>
        <p:nvGrpSpPr>
          <p:cNvPr id="12" name="Group 30">
            <a:extLst>
              <a:ext uri="{FF2B5EF4-FFF2-40B4-BE49-F238E27FC236}">
                <a16:creationId xmlns:a16="http://schemas.microsoft.com/office/drawing/2014/main" id="{57F97A7C-9CE4-1A48-BDEF-EE9D23E42C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815072" y="2471416"/>
            <a:ext cx="4376928" cy="4386584"/>
            <a:chOff x="4962525" y="2666999"/>
            <a:chExt cx="4181475" cy="419100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2E3F741-7E48-234D-878D-DC94DA0BD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666" y="2666999"/>
              <a:ext cx="1473334" cy="2710972"/>
            </a:xfrm>
            <a:custGeom>
              <a:avLst/>
              <a:gdLst/>
              <a:ahLst/>
              <a:cxnLst>
                <a:cxn ang="0">
                  <a:pos x="928" y="0"/>
                </a:cxn>
                <a:cxn ang="0">
                  <a:pos x="928" y="1525"/>
                </a:cxn>
                <a:cxn ang="0">
                  <a:pos x="856" y="1526"/>
                </a:cxn>
                <a:cxn ang="0">
                  <a:pos x="787" y="1530"/>
                </a:cxn>
                <a:cxn ang="0">
                  <a:pos x="718" y="1535"/>
                </a:cxn>
                <a:cxn ang="0">
                  <a:pos x="652" y="1543"/>
                </a:cxn>
                <a:cxn ang="0">
                  <a:pos x="587" y="1551"/>
                </a:cxn>
                <a:cxn ang="0">
                  <a:pos x="524" y="1562"/>
                </a:cxn>
                <a:cxn ang="0">
                  <a:pos x="464" y="1573"/>
                </a:cxn>
                <a:cxn ang="0">
                  <a:pos x="407" y="1585"/>
                </a:cxn>
                <a:cxn ang="0">
                  <a:pos x="353" y="1598"/>
                </a:cxn>
                <a:cxn ang="0">
                  <a:pos x="301" y="1610"/>
                </a:cxn>
                <a:cxn ang="0">
                  <a:pos x="252" y="1624"/>
                </a:cxn>
                <a:cxn ang="0">
                  <a:pos x="208" y="1636"/>
                </a:cxn>
                <a:cxn ang="0">
                  <a:pos x="167" y="1649"/>
                </a:cxn>
                <a:cxn ang="0">
                  <a:pos x="129" y="1661"/>
                </a:cxn>
                <a:cxn ang="0">
                  <a:pos x="97" y="1672"/>
                </a:cxn>
                <a:cxn ang="0">
                  <a:pos x="68" y="1682"/>
                </a:cxn>
                <a:cxn ang="0">
                  <a:pos x="45" y="1691"/>
                </a:cxn>
                <a:cxn ang="0">
                  <a:pos x="25" y="1699"/>
                </a:cxn>
                <a:cxn ang="0">
                  <a:pos x="11" y="1704"/>
                </a:cxn>
                <a:cxn ang="0">
                  <a:pos x="4" y="1707"/>
                </a:cxn>
                <a:cxn ang="0">
                  <a:pos x="0" y="1708"/>
                </a:cxn>
                <a:cxn ang="0">
                  <a:pos x="928" y="0"/>
                </a:cxn>
              </a:cxnLst>
              <a:rect l="0" t="0" r="r" b="b"/>
              <a:pathLst>
                <a:path w="928" h="1708">
                  <a:moveTo>
                    <a:pt x="928" y="0"/>
                  </a:moveTo>
                  <a:lnTo>
                    <a:pt x="928" y="1525"/>
                  </a:lnTo>
                  <a:lnTo>
                    <a:pt x="856" y="1526"/>
                  </a:lnTo>
                  <a:lnTo>
                    <a:pt x="787" y="1530"/>
                  </a:lnTo>
                  <a:lnTo>
                    <a:pt x="718" y="1535"/>
                  </a:lnTo>
                  <a:lnTo>
                    <a:pt x="652" y="1543"/>
                  </a:lnTo>
                  <a:lnTo>
                    <a:pt x="587" y="1551"/>
                  </a:lnTo>
                  <a:lnTo>
                    <a:pt x="524" y="1562"/>
                  </a:lnTo>
                  <a:lnTo>
                    <a:pt x="464" y="1573"/>
                  </a:lnTo>
                  <a:lnTo>
                    <a:pt x="407" y="1585"/>
                  </a:lnTo>
                  <a:lnTo>
                    <a:pt x="353" y="1598"/>
                  </a:lnTo>
                  <a:lnTo>
                    <a:pt x="301" y="1610"/>
                  </a:lnTo>
                  <a:lnTo>
                    <a:pt x="252" y="1624"/>
                  </a:lnTo>
                  <a:lnTo>
                    <a:pt x="208" y="1636"/>
                  </a:lnTo>
                  <a:lnTo>
                    <a:pt x="167" y="1649"/>
                  </a:lnTo>
                  <a:lnTo>
                    <a:pt x="129" y="1661"/>
                  </a:lnTo>
                  <a:lnTo>
                    <a:pt x="97" y="1672"/>
                  </a:lnTo>
                  <a:lnTo>
                    <a:pt x="68" y="1682"/>
                  </a:lnTo>
                  <a:lnTo>
                    <a:pt x="45" y="1691"/>
                  </a:lnTo>
                  <a:lnTo>
                    <a:pt x="25" y="1699"/>
                  </a:lnTo>
                  <a:lnTo>
                    <a:pt x="11" y="1704"/>
                  </a:lnTo>
                  <a:lnTo>
                    <a:pt x="4" y="1707"/>
                  </a:lnTo>
                  <a:lnTo>
                    <a:pt x="0" y="170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21498D-C696-BF45-812E-D1CFC219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525" y="5380607"/>
              <a:ext cx="2706823" cy="1477393"/>
            </a:xfrm>
            <a:custGeom>
              <a:avLst/>
              <a:gdLst/>
              <a:ahLst/>
              <a:cxnLst>
                <a:cxn ang="0">
                  <a:pos x="1705" y="0"/>
                </a:cxn>
                <a:cxn ang="0">
                  <a:pos x="1704" y="4"/>
                </a:cxn>
                <a:cxn ang="0">
                  <a:pos x="1701" y="12"/>
                </a:cxn>
                <a:cxn ang="0">
                  <a:pos x="1696" y="27"/>
                </a:cxn>
                <a:cxn ang="0">
                  <a:pos x="1689" y="47"/>
                </a:cxn>
                <a:cxn ang="0">
                  <a:pos x="1681" y="72"/>
                </a:cxn>
                <a:cxn ang="0">
                  <a:pos x="1672" y="101"/>
                </a:cxn>
                <a:cxn ang="0">
                  <a:pos x="1662" y="135"/>
                </a:cxn>
                <a:cxn ang="0">
                  <a:pos x="1650" y="173"/>
                </a:cxn>
                <a:cxn ang="0">
                  <a:pos x="1638" y="214"/>
                </a:cxn>
                <a:cxn ang="0">
                  <a:pos x="1626" y="258"/>
                </a:cxn>
                <a:cxn ang="0">
                  <a:pos x="1613" y="306"/>
                </a:cxn>
                <a:cxn ang="0">
                  <a:pos x="1602" y="355"/>
                </a:cxn>
                <a:cxn ang="0">
                  <a:pos x="1590" y="407"/>
                </a:cxn>
                <a:cxn ang="0">
                  <a:pos x="1566" y="518"/>
                </a:cxn>
                <a:cxn ang="0">
                  <a:pos x="1556" y="575"/>
                </a:cxn>
                <a:cxn ang="0">
                  <a:pos x="1546" y="634"/>
                </a:cxn>
                <a:cxn ang="0">
                  <a:pos x="1539" y="693"/>
                </a:cxn>
                <a:cxn ang="0">
                  <a:pos x="1532" y="753"/>
                </a:cxn>
                <a:cxn ang="0">
                  <a:pos x="1527" y="811"/>
                </a:cxn>
                <a:cxn ang="0">
                  <a:pos x="1524" y="871"/>
                </a:cxn>
                <a:cxn ang="0">
                  <a:pos x="1523" y="929"/>
                </a:cxn>
                <a:cxn ang="0">
                  <a:pos x="1523" y="931"/>
                </a:cxn>
                <a:cxn ang="0">
                  <a:pos x="0" y="929"/>
                </a:cxn>
                <a:cxn ang="0">
                  <a:pos x="1705" y="0"/>
                </a:cxn>
              </a:cxnLst>
              <a:rect l="0" t="0" r="r" b="b"/>
              <a:pathLst>
                <a:path w="1705" h="931">
                  <a:moveTo>
                    <a:pt x="1705" y="0"/>
                  </a:moveTo>
                  <a:lnTo>
                    <a:pt x="1704" y="4"/>
                  </a:lnTo>
                  <a:lnTo>
                    <a:pt x="1701" y="12"/>
                  </a:lnTo>
                  <a:lnTo>
                    <a:pt x="1696" y="27"/>
                  </a:lnTo>
                  <a:lnTo>
                    <a:pt x="1689" y="47"/>
                  </a:lnTo>
                  <a:lnTo>
                    <a:pt x="1681" y="72"/>
                  </a:lnTo>
                  <a:lnTo>
                    <a:pt x="1672" y="101"/>
                  </a:lnTo>
                  <a:lnTo>
                    <a:pt x="1662" y="135"/>
                  </a:lnTo>
                  <a:lnTo>
                    <a:pt x="1650" y="173"/>
                  </a:lnTo>
                  <a:lnTo>
                    <a:pt x="1638" y="214"/>
                  </a:lnTo>
                  <a:lnTo>
                    <a:pt x="1626" y="258"/>
                  </a:lnTo>
                  <a:lnTo>
                    <a:pt x="1613" y="306"/>
                  </a:lnTo>
                  <a:lnTo>
                    <a:pt x="1602" y="355"/>
                  </a:lnTo>
                  <a:lnTo>
                    <a:pt x="1590" y="407"/>
                  </a:lnTo>
                  <a:lnTo>
                    <a:pt x="1566" y="518"/>
                  </a:lnTo>
                  <a:lnTo>
                    <a:pt x="1556" y="575"/>
                  </a:lnTo>
                  <a:lnTo>
                    <a:pt x="1546" y="634"/>
                  </a:lnTo>
                  <a:lnTo>
                    <a:pt x="1539" y="693"/>
                  </a:lnTo>
                  <a:lnTo>
                    <a:pt x="1532" y="753"/>
                  </a:lnTo>
                  <a:lnTo>
                    <a:pt x="1527" y="811"/>
                  </a:lnTo>
                  <a:lnTo>
                    <a:pt x="1524" y="871"/>
                  </a:lnTo>
                  <a:lnTo>
                    <a:pt x="1523" y="929"/>
                  </a:lnTo>
                  <a:lnTo>
                    <a:pt x="1523" y="931"/>
                  </a:lnTo>
                  <a:lnTo>
                    <a:pt x="0" y="92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3717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91447A-7607-634B-8673-116970492860}"/>
              </a:ext>
            </a:extLst>
          </p:cNvPr>
          <p:cNvSpPr/>
          <p:nvPr userDrawn="1"/>
        </p:nvSpPr>
        <p:spPr>
          <a:xfrm>
            <a:off x="4236411" y="0"/>
            <a:ext cx="7955589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70208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829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ED2C98-C5E9-7946-B3CC-4070449E4130}"/>
              </a:ext>
            </a:extLst>
          </p:cNvPr>
          <p:cNvSpPr/>
          <p:nvPr userDrawn="1"/>
        </p:nvSpPr>
        <p:spPr>
          <a:xfrm>
            <a:off x="0" y="0"/>
            <a:ext cx="7506493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43C6-2948-A143-8779-4AC3F3A3748B}"/>
              </a:ext>
            </a:extLst>
          </p:cNvPr>
          <p:cNvSpPr/>
          <p:nvPr userDrawn="1"/>
        </p:nvSpPr>
        <p:spPr>
          <a:xfrm>
            <a:off x="7500938" y="0"/>
            <a:ext cx="46910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2118509"/>
            <a:ext cx="5614987" cy="1586829"/>
          </a:xfrm>
        </p:spPr>
        <p:txBody>
          <a:bodyPr anchor="b">
            <a:noAutofit/>
          </a:bodyPr>
          <a:lstStyle>
            <a:lvl1pPr marL="0" indent="0" algn="l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Sample Text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6185" y="5290078"/>
            <a:ext cx="7503350" cy="10210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73A5D-CAA9-F748-9FE9-7A6174D1BEAE}"/>
              </a:ext>
            </a:extLst>
          </p:cNvPr>
          <p:cNvCxnSpPr>
            <a:cxnSpLocks/>
          </p:cNvCxnSpPr>
          <p:nvPr userDrawn="1"/>
        </p:nvCxnSpPr>
        <p:spPr>
          <a:xfrm>
            <a:off x="947738" y="4735576"/>
            <a:ext cx="6553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DA0EE-1F6E-4C42-B85E-74B7AC8EF7B5}"/>
              </a:ext>
            </a:extLst>
          </p:cNvPr>
          <p:cNvCxnSpPr>
            <a:cxnSpLocks/>
          </p:cNvCxnSpPr>
          <p:nvPr userDrawn="1"/>
        </p:nvCxnSpPr>
        <p:spPr>
          <a:xfrm>
            <a:off x="7500938" y="4470400"/>
            <a:ext cx="375843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E6794A6-29DF-A344-BDEC-F71D8C4194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2" y="308854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397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Only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82F6-8F66-42C4-A87D-275812D533C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52401"/>
            <a:ext cx="10972800" cy="304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382" cap="all" baseline="0">
                <a:solidFill>
                  <a:srgbClr val="CC6633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12192000" cy="1828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95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1" tIns="45206" rIns="90411" bIns="45206" anchor="ctr"/>
          <a:lstStyle/>
          <a:p>
            <a:pPr algn="ctr" defTabSz="842276">
              <a:defRPr/>
            </a:pPr>
            <a:endParaRPr lang="en-US" sz="1659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891082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46E06-36A3-A967-9C7A-A1A191E3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5DA3E-8F25-C4B8-AE40-BB54CB539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9BE10A-8A97-95B5-F666-3F3ECA3F3A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46370" y="6310976"/>
            <a:ext cx="5388889" cy="36564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8EF760-BF6D-5157-A088-B1B076B6F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7893" y="6310976"/>
            <a:ext cx="1053876" cy="365645"/>
          </a:xfrm>
          <a:prstGeom prst="rect">
            <a:avLst/>
          </a:prstGeom>
        </p:spPr>
        <p:txBody>
          <a:bodyPr/>
          <a:lstStyle/>
          <a:p>
            <a:fld id="{924C2894-8B28-47C9-8A8B-E8EFBEE915A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178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18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97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430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485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147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071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968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124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889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82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21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21E13-7E45-0949-A69E-7D97431EA0A2}"/>
              </a:ext>
            </a:extLst>
          </p:cNvPr>
          <p:cNvSpPr/>
          <p:nvPr userDrawn="1"/>
        </p:nvSpPr>
        <p:spPr>
          <a:xfrm>
            <a:off x="4691063" y="0"/>
            <a:ext cx="7500937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9407B-AEE7-DF45-98B6-EB09E201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688" y="2092549"/>
            <a:ext cx="6084887" cy="2750431"/>
          </a:xfrm>
        </p:spPr>
        <p:txBody>
          <a:bodyPr anchor="b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688" y="5217461"/>
            <a:ext cx="4468450" cy="116564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69DFB5-9698-6042-8C50-6660FF608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95DD8-9DF3-1744-9219-070A43C21F55}"/>
              </a:ext>
            </a:extLst>
          </p:cNvPr>
          <p:cNvCxnSpPr>
            <a:cxnSpLocks/>
          </p:cNvCxnSpPr>
          <p:nvPr userDrawn="1"/>
        </p:nvCxnSpPr>
        <p:spPr>
          <a:xfrm>
            <a:off x="5627688" y="4924269"/>
            <a:ext cx="608488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AA2A26C-1293-4142-9834-7D7E5E92C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91064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2274AE4-DBE6-8A4F-BCA4-30E049F5E0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87584" y="6056026"/>
            <a:ext cx="1324992" cy="327081"/>
          </a:xfrm>
          <a:ln w="9525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5298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781E02-E320-9040-9F89-B90925F09530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800" spc="-150" dirty="0">
                <a:solidFill>
                  <a:schemeClr val="tx2"/>
                </a:solidFill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3487787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73BFD-0EC1-9E40-8E76-C7926ABECD26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spc="-150" dirty="0">
                <a:solidFill>
                  <a:schemeClr val="tx2"/>
                </a:solidFill>
              </a:rPr>
              <a:t> Agenda</a:t>
            </a:r>
            <a:endParaRPr lang="ru-RU" sz="12800" spc="-15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D2A2CA-E89D-BA47-8BFA-7EC488A16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73150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0"/>
            <a:ext cx="117125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3D8012-FC47-8744-A34F-7E52B9CC20F5}"/>
              </a:ext>
            </a:extLst>
          </p:cNvPr>
          <p:cNvGrpSpPr/>
          <p:nvPr userDrawn="1"/>
        </p:nvGrpSpPr>
        <p:grpSpPr>
          <a:xfrm>
            <a:off x="4900369" y="1"/>
            <a:ext cx="6840543" cy="6866676"/>
            <a:chOff x="4900369" y="1"/>
            <a:chExt cx="6840543" cy="686667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04F0E82-1502-614A-AAC8-B3F5DEA8D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FD796C-27EA-9B4C-9062-2D7ACF3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7663" y="1093788"/>
            <a:ext cx="3276599" cy="5205412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E76B95-0B2F-6E4D-8A28-DBB809DC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8" y="2151087"/>
            <a:ext cx="6084885" cy="445767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43E4E-CB39-0B43-9425-94BD6060CB7E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F7E8-8DFE-BB4E-8ECA-76EE0F2AC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989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-1"/>
            <a:ext cx="8435975" cy="63082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1752F1-3AEF-6545-96D5-53F7049F2610}"/>
              </a:ext>
            </a:extLst>
          </p:cNvPr>
          <p:cNvGrpSpPr/>
          <p:nvPr userDrawn="1"/>
        </p:nvGrpSpPr>
        <p:grpSpPr>
          <a:xfrm>
            <a:off x="1595432" y="-8676"/>
            <a:ext cx="6840543" cy="6866676"/>
            <a:chOff x="4900369" y="1"/>
            <a:chExt cx="6840543" cy="686667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DE75CDE-E2CC-204F-8A74-1CF2290B3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78AC5E-B598-3D47-A58A-2900FDA8E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6533E7A-05CB-EC45-AD54-AB236AF537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5975" y="0"/>
            <a:ext cx="32766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BDD422-8594-8A43-BE23-C12198FA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9" y="2151087"/>
            <a:ext cx="6558442" cy="415711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78837-6B41-A64E-8885-0D3A9B5AB131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6CACC7B-993A-1C40-A6B0-57CB69925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002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06" y="1599757"/>
            <a:ext cx="10757257" cy="458368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9829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381-A7B1-C54A-B6B7-E5F1631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086F4-9543-3847-B735-3BA464E5A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70" y="1592263"/>
            <a:ext cx="5358256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4B83-7BFD-FF47-B024-8256DB65F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299" y="1592263"/>
            <a:ext cx="5362575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2625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F7-B190-F944-A809-0073EEB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1" y="365125"/>
            <a:ext cx="11214100" cy="7286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1D39-9A56-CB4D-8EFC-D6273A8F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50" y="844777"/>
            <a:ext cx="5138438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3560-B3C3-0E45-8AE9-EF4CCB96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73" y="1981200"/>
            <a:ext cx="5135816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7D86-407D-974C-8520-0492B67B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44777"/>
            <a:ext cx="5148263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40D-6F33-D34C-9D8B-F73D4A32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81200"/>
            <a:ext cx="5148263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53735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E56-7AA0-9D4D-A0CE-D5ACE08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2415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9185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or Th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26E64F-55CE-4440-918A-3DEF3C6E7770}"/>
              </a:ext>
            </a:extLst>
          </p:cNvPr>
          <p:cNvSpPr/>
          <p:nvPr userDrawn="1"/>
        </p:nvSpPr>
        <p:spPr>
          <a:xfrm>
            <a:off x="1" y="0"/>
            <a:ext cx="11712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38" y="2759103"/>
            <a:ext cx="9828212" cy="3496553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 and lower </a:t>
            </a:r>
            <a:br>
              <a:rPr lang="en-US" dirty="0"/>
            </a:br>
            <a:r>
              <a:rPr lang="en-US" dirty="0"/>
              <a:t>quote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4471D494-F440-314A-A10E-9216BA02CB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75" y="1093789"/>
            <a:ext cx="1403349" cy="13448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A6A39D-1D86-6F46-ADB1-C944AB67B88F}"/>
              </a:ext>
            </a:extLst>
          </p:cNvPr>
          <p:cNvCxnSpPr/>
          <p:nvPr userDrawn="1"/>
        </p:nvCxnSpPr>
        <p:spPr>
          <a:xfrm flipH="1">
            <a:off x="5159375" y="6265628"/>
            <a:ext cx="14033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9100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224436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69122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7473118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2332393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93707" y="1599758"/>
            <a:ext cx="2333981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571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432981-6499-8440-879F-083798A992F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3567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1470648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FBFB4F4-21E0-4042-B642-6C57839D3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E21290B-E456-D846-AAB9-03155747DD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01091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E7F1902-25F4-8F45-AAE4-3D2A960D7A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0998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DA44385-2DBC-704F-A011-24DF0AB68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994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70793-77F6-3A40-8DBB-14E2F645261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FB3064-8A44-7F4F-BB66-218CF8C8CB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01090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FC8F2C-F8AA-3247-A063-E91A468AFC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0099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8432FE-B5E1-FA4C-8405-63BD4DCAC5F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907992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585390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3578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Second level and lower (</a:t>
            </a:r>
            <a:r>
              <a:rPr lang="en-US" dirty="0" err="1"/>
              <a:t>subheader</a:t>
            </a:r>
            <a:r>
              <a:rPr lang="en-US" dirty="0"/>
              <a:t> if you have five blocks)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7450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7665" y="1599758"/>
            <a:ext cx="3048359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07665" y="4132501"/>
            <a:ext cx="3048360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A9F76-19E2-7848-9F8A-DF4239818793}"/>
              </a:ext>
            </a:extLst>
          </p:cNvPr>
          <p:cNvGrpSpPr/>
          <p:nvPr userDrawn="1"/>
        </p:nvGrpSpPr>
        <p:grpSpPr>
          <a:xfrm>
            <a:off x="479056" y="1592262"/>
            <a:ext cx="10766065" cy="2181451"/>
            <a:chOff x="479056" y="1592263"/>
            <a:chExt cx="10766065" cy="11608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6E6000-9670-804A-9C5F-D217EDAE4F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EEC813-5B4D-554F-BA4A-1F0752955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11A2-4304-644B-8C8B-5912DC2432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CF34F8-9CFE-E94F-BC62-E6B131DABB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7FFD1B-3B57-F244-8179-0958677B90FE}"/>
              </a:ext>
            </a:extLst>
          </p:cNvPr>
          <p:cNvGrpSpPr/>
          <p:nvPr userDrawn="1"/>
        </p:nvGrpSpPr>
        <p:grpSpPr>
          <a:xfrm>
            <a:off x="479056" y="4120777"/>
            <a:ext cx="10766065" cy="2181451"/>
            <a:chOff x="479056" y="1592263"/>
            <a:chExt cx="10766065" cy="116089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119063-B300-054C-91C3-05B8109928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2116F5-CBC9-ED4C-943F-3C234BEE13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C06347-B86F-974E-A69B-BEEBF15354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F1F16-C9B6-1B4F-874E-3F127C173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3639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31693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969121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7428833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150290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B267D3F-FE69-7B48-8836-0A2C698CA9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009A61-2BE6-0E45-AB6B-D359576DD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951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09E7B413-ABF2-844B-B062-036AC90AB8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951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D7297-41E1-A144-9A85-14C86D5BB0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7855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8BA5CAF-B784-9244-B1AA-98A534B2B8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7855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3408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6" y="4056744"/>
            <a:ext cx="5140681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0" y="4056744"/>
            <a:ext cx="5142139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0796536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33890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1FB8ABB-D011-AC4A-A34C-702667C620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7889" y="3621315"/>
            <a:ext cx="3744686" cy="26561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1199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49E491D-B703-7441-BED2-E95DBE03E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051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7702319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7967887" y="0"/>
            <a:ext cx="374595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8092770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6562725" y="0"/>
            <a:ext cx="51511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032625" y="1599521"/>
            <a:ext cx="4211639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014207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A7925-B4C4-1046-A39A-0674E0746DD2}"/>
              </a:ext>
            </a:extLst>
          </p:cNvPr>
          <p:cNvSpPr/>
          <p:nvPr userDrawn="1"/>
        </p:nvSpPr>
        <p:spPr>
          <a:xfrm>
            <a:off x="1" y="0"/>
            <a:ext cx="79663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469628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FC6438-3C24-A14F-9BFC-CD46841D9F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5976" y="2598873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120A445-097D-1846-B120-CCE57BF9564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35976" y="4728119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A7AFC-E83B-9548-951B-7B22739ED3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3271" y="1599521"/>
            <a:ext cx="7007442" cy="4944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0871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509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70" y="1582060"/>
            <a:ext cx="232613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92263"/>
            <a:ext cx="5616575" cy="31387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7714" y="1582060"/>
            <a:ext cx="233966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C78A69-FF95-9548-B4E7-A349FCE666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032625" y="5136543"/>
            <a:ext cx="0" cy="1136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8972AC-7DD0-0247-B721-5C90D3BC7D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51405" y="5122072"/>
            <a:ext cx="3992858" cy="1151169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521637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69" y="1582060"/>
            <a:ext cx="2794443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439" y="1582060"/>
            <a:ext cx="2808286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6816232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4"/>
            <a:ext cx="6083301" cy="465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285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5"/>
            <a:ext cx="6083301" cy="23912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4283242"/>
            <a:ext cx="6083301" cy="232552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4647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55129" y="1530617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341438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2626" y="1341439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E25E9-7986-DB41-A595-036FDF28378B}"/>
              </a:ext>
            </a:extLst>
          </p:cNvPr>
          <p:cNvCxnSpPr>
            <a:cxnSpLocks/>
          </p:cNvCxnSpPr>
          <p:nvPr userDrawn="1"/>
        </p:nvCxnSpPr>
        <p:spPr>
          <a:xfrm>
            <a:off x="479424" y="1341438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102-8429-194E-9822-4DF4A51A6DB9}"/>
              </a:ext>
            </a:extLst>
          </p:cNvPr>
          <p:cNvCxnSpPr>
            <a:cxnSpLocks/>
          </p:cNvCxnSpPr>
          <p:nvPr userDrawn="1"/>
        </p:nvCxnSpPr>
        <p:spPr>
          <a:xfrm>
            <a:off x="479424" y="2577024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93EB7-C698-8044-906A-19D6820D467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812610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6D829-2DE9-CC49-95A2-2E775D19C61A}"/>
              </a:ext>
            </a:extLst>
          </p:cNvPr>
          <p:cNvCxnSpPr>
            <a:cxnSpLocks/>
          </p:cNvCxnSpPr>
          <p:nvPr userDrawn="1"/>
        </p:nvCxnSpPr>
        <p:spPr>
          <a:xfrm>
            <a:off x="479424" y="5048196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3235D-B3B7-844B-AE5F-8BE5E1BE300F}"/>
              </a:ext>
            </a:extLst>
          </p:cNvPr>
          <p:cNvCxnSpPr>
            <a:cxnSpLocks/>
          </p:cNvCxnSpPr>
          <p:nvPr userDrawn="1"/>
        </p:nvCxnSpPr>
        <p:spPr>
          <a:xfrm>
            <a:off x="479424" y="6283783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4A53347A-C7BF-8C41-B75E-05C0A6C779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55129" y="2778171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4B71A2-1AAC-2445-A98E-B3D54EB08E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88992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29188D7-E1F7-814C-9F2B-77B4F81440C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2626" y="2588993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180E5B8-AF09-9C49-9996-0172B8518DD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55129" y="4004459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A796471-FED7-7F4F-9D92-44FD153D130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9425" y="3815280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3AEC7A9-EF90-D945-9FD4-852E0790423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032626" y="3815281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DE1E0F0E-286C-C447-8682-329EB4170A1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5129" y="5244924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47939DC-034E-FC45-8049-B9DC258BB9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055745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B7BDEA2-8758-914D-9AC2-B74F93D8816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626" y="5055746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4268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13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27689" y="1247502"/>
            <a:ext cx="5148262" cy="50030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95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EF962E-C564-6E44-B32C-F71ADD5019D5}"/>
              </a:ext>
            </a:extLst>
          </p:cNvPr>
          <p:cNvSpPr/>
          <p:nvPr userDrawn="1"/>
        </p:nvSpPr>
        <p:spPr>
          <a:xfrm>
            <a:off x="4229893" y="0"/>
            <a:ext cx="7962108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37442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grpSp>
        <p:nvGrpSpPr>
          <p:cNvPr id="12" name="Group 30">
            <a:extLst>
              <a:ext uri="{FF2B5EF4-FFF2-40B4-BE49-F238E27FC236}">
                <a16:creationId xmlns:a16="http://schemas.microsoft.com/office/drawing/2014/main" id="{57F97A7C-9CE4-1A48-BDEF-EE9D23E42C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815072" y="2471416"/>
            <a:ext cx="4376928" cy="4386584"/>
            <a:chOff x="4962525" y="2666999"/>
            <a:chExt cx="4181475" cy="419100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2E3F741-7E48-234D-878D-DC94DA0BD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666" y="2666999"/>
              <a:ext cx="1473334" cy="2710972"/>
            </a:xfrm>
            <a:custGeom>
              <a:avLst/>
              <a:gdLst/>
              <a:ahLst/>
              <a:cxnLst>
                <a:cxn ang="0">
                  <a:pos x="928" y="0"/>
                </a:cxn>
                <a:cxn ang="0">
                  <a:pos x="928" y="1525"/>
                </a:cxn>
                <a:cxn ang="0">
                  <a:pos x="856" y="1526"/>
                </a:cxn>
                <a:cxn ang="0">
                  <a:pos x="787" y="1530"/>
                </a:cxn>
                <a:cxn ang="0">
                  <a:pos x="718" y="1535"/>
                </a:cxn>
                <a:cxn ang="0">
                  <a:pos x="652" y="1543"/>
                </a:cxn>
                <a:cxn ang="0">
                  <a:pos x="587" y="1551"/>
                </a:cxn>
                <a:cxn ang="0">
                  <a:pos x="524" y="1562"/>
                </a:cxn>
                <a:cxn ang="0">
                  <a:pos x="464" y="1573"/>
                </a:cxn>
                <a:cxn ang="0">
                  <a:pos x="407" y="1585"/>
                </a:cxn>
                <a:cxn ang="0">
                  <a:pos x="353" y="1598"/>
                </a:cxn>
                <a:cxn ang="0">
                  <a:pos x="301" y="1610"/>
                </a:cxn>
                <a:cxn ang="0">
                  <a:pos x="252" y="1624"/>
                </a:cxn>
                <a:cxn ang="0">
                  <a:pos x="208" y="1636"/>
                </a:cxn>
                <a:cxn ang="0">
                  <a:pos x="167" y="1649"/>
                </a:cxn>
                <a:cxn ang="0">
                  <a:pos x="129" y="1661"/>
                </a:cxn>
                <a:cxn ang="0">
                  <a:pos x="97" y="1672"/>
                </a:cxn>
                <a:cxn ang="0">
                  <a:pos x="68" y="1682"/>
                </a:cxn>
                <a:cxn ang="0">
                  <a:pos x="45" y="1691"/>
                </a:cxn>
                <a:cxn ang="0">
                  <a:pos x="25" y="1699"/>
                </a:cxn>
                <a:cxn ang="0">
                  <a:pos x="11" y="1704"/>
                </a:cxn>
                <a:cxn ang="0">
                  <a:pos x="4" y="1707"/>
                </a:cxn>
                <a:cxn ang="0">
                  <a:pos x="0" y="1708"/>
                </a:cxn>
                <a:cxn ang="0">
                  <a:pos x="928" y="0"/>
                </a:cxn>
              </a:cxnLst>
              <a:rect l="0" t="0" r="r" b="b"/>
              <a:pathLst>
                <a:path w="928" h="1708">
                  <a:moveTo>
                    <a:pt x="928" y="0"/>
                  </a:moveTo>
                  <a:lnTo>
                    <a:pt x="928" y="1525"/>
                  </a:lnTo>
                  <a:lnTo>
                    <a:pt x="856" y="1526"/>
                  </a:lnTo>
                  <a:lnTo>
                    <a:pt x="787" y="1530"/>
                  </a:lnTo>
                  <a:lnTo>
                    <a:pt x="718" y="1535"/>
                  </a:lnTo>
                  <a:lnTo>
                    <a:pt x="652" y="1543"/>
                  </a:lnTo>
                  <a:lnTo>
                    <a:pt x="587" y="1551"/>
                  </a:lnTo>
                  <a:lnTo>
                    <a:pt x="524" y="1562"/>
                  </a:lnTo>
                  <a:lnTo>
                    <a:pt x="464" y="1573"/>
                  </a:lnTo>
                  <a:lnTo>
                    <a:pt x="407" y="1585"/>
                  </a:lnTo>
                  <a:lnTo>
                    <a:pt x="353" y="1598"/>
                  </a:lnTo>
                  <a:lnTo>
                    <a:pt x="301" y="1610"/>
                  </a:lnTo>
                  <a:lnTo>
                    <a:pt x="252" y="1624"/>
                  </a:lnTo>
                  <a:lnTo>
                    <a:pt x="208" y="1636"/>
                  </a:lnTo>
                  <a:lnTo>
                    <a:pt x="167" y="1649"/>
                  </a:lnTo>
                  <a:lnTo>
                    <a:pt x="129" y="1661"/>
                  </a:lnTo>
                  <a:lnTo>
                    <a:pt x="97" y="1672"/>
                  </a:lnTo>
                  <a:lnTo>
                    <a:pt x="68" y="1682"/>
                  </a:lnTo>
                  <a:lnTo>
                    <a:pt x="45" y="1691"/>
                  </a:lnTo>
                  <a:lnTo>
                    <a:pt x="25" y="1699"/>
                  </a:lnTo>
                  <a:lnTo>
                    <a:pt x="11" y="1704"/>
                  </a:lnTo>
                  <a:lnTo>
                    <a:pt x="4" y="1707"/>
                  </a:lnTo>
                  <a:lnTo>
                    <a:pt x="0" y="170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21498D-C696-BF45-812E-D1CFC219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525" y="5380607"/>
              <a:ext cx="2706823" cy="1477393"/>
            </a:xfrm>
            <a:custGeom>
              <a:avLst/>
              <a:gdLst/>
              <a:ahLst/>
              <a:cxnLst>
                <a:cxn ang="0">
                  <a:pos x="1705" y="0"/>
                </a:cxn>
                <a:cxn ang="0">
                  <a:pos x="1704" y="4"/>
                </a:cxn>
                <a:cxn ang="0">
                  <a:pos x="1701" y="12"/>
                </a:cxn>
                <a:cxn ang="0">
                  <a:pos x="1696" y="27"/>
                </a:cxn>
                <a:cxn ang="0">
                  <a:pos x="1689" y="47"/>
                </a:cxn>
                <a:cxn ang="0">
                  <a:pos x="1681" y="72"/>
                </a:cxn>
                <a:cxn ang="0">
                  <a:pos x="1672" y="101"/>
                </a:cxn>
                <a:cxn ang="0">
                  <a:pos x="1662" y="135"/>
                </a:cxn>
                <a:cxn ang="0">
                  <a:pos x="1650" y="173"/>
                </a:cxn>
                <a:cxn ang="0">
                  <a:pos x="1638" y="214"/>
                </a:cxn>
                <a:cxn ang="0">
                  <a:pos x="1626" y="258"/>
                </a:cxn>
                <a:cxn ang="0">
                  <a:pos x="1613" y="306"/>
                </a:cxn>
                <a:cxn ang="0">
                  <a:pos x="1602" y="355"/>
                </a:cxn>
                <a:cxn ang="0">
                  <a:pos x="1590" y="407"/>
                </a:cxn>
                <a:cxn ang="0">
                  <a:pos x="1566" y="518"/>
                </a:cxn>
                <a:cxn ang="0">
                  <a:pos x="1556" y="575"/>
                </a:cxn>
                <a:cxn ang="0">
                  <a:pos x="1546" y="634"/>
                </a:cxn>
                <a:cxn ang="0">
                  <a:pos x="1539" y="693"/>
                </a:cxn>
                <a:cxn ang="0">
                  <a:pos x="1532" y="753"/>
                </a:cxn>
                <a:cxn ang="0">
                  <a:pos x="1527" y="811"/>
                </a:cxn>
                <a:cxn ang="0">
                  <a:pos x="1524" y="871"/>
                </a:cxn>
                <a:cxn ang="0">
                  <a:pos x="1523" y="929"/>
                </a:cxn>
                <a:cxn ang="0">
                  <a:pos x="1523" y="931"/>
                </a:cxn>
                <a:cxn ang="0">
                  <a:pos x="0" y="929"/>
                </a:cxn>
                <a:cxn ang="0">
                  <a:pos x="1705" y="0"/>
                </a:cxn>
              </a:cxnLst>
              <a:rect l="0" t="0" r="r" b="b"/>
              <a:pathLst>
                <a:path w="1705" h="931">
                  <a:moveTo>
                    <a:pt x="1705" y="0"/>
                  </a:moveTo>
                  <a:lnTo>
                    <a:pt x="1704" y="4"/>
                  </a:lnTo>
                  <a:lnTo>
                    <a:pt x="1701" y="12"/>
                  </a:lnTo>
                  <a:lnTo>
                    <a:pt x="1696" y="27"/>
                  </a:lnTo>
                  <a:lnTo>
                    <a:pt x="1689" y="47"/>
                  </a:lnTo>
                  <a:lnTo>
                    <a:pt x="1681" y="72"/>
                  </a:lnTo>
                  <a:lnTo>
                    <a:pt x="1672" y="101"/>
                  </a:lnTo>
                  <a:lnTo>
                    <a:pt x="1662" y="135"/>
                  </a:lnTo>
                  <a:lnTo>
                    <a:pt x="1650" y="173"/>
                  </a:lnTo>
                  <a:lnTo>
                    <a:pt x="1638" y="214"/>
                  </a:lnTo>
                  <a:lnTo>
                    <a:pt x="1626" y="258"/>
                  </a:lnTo>
                  <a:lnTo>
                    <a:pt x="1613" y="306"/>
                  </a:lnTo>
                  <a:lnTo>
                    <a:pt x="1602" y="355"/>
                  </a:lnTo>
                  <a:lnTo>
                    <a:pt x="1590" y="407"/>
                  </a:lnTo>
                  <a:lnTo>
                    <a:pt x="1566" y="518"/>
                  </a:lnTo>
                  <a:lnTo>
                    <a:pt x="1556" y="575"/>
                  </a:lnTo>
                  <a:lnTo>
                    <a:pt x="1546" y="634"/>
                  </a:lnTo>
                  <a:lnTo>
                    <a:pt x="1539" y="693"/>
                  </a:lnTo>
                  <a:lnTo>
                    <a:pt x="1532" y="753"/>
                  </a:lnTo>
                  <a:lnTo>
                    <a:pt x="1527" y="811"/>
                  </a:lnTo>
                  <a:lnTo>
                    <a:pt x="1524" y="871"/>
                  </a:lnTo>
                  <a:lnTo>
                    <a:pt x="1523" y="929"/>
                  </a:lnTo>
                  <a:lnTo>
                    <a:pt x="1523" y="931"/>
                  </a:lnTo>
                  <a:lnTo>
                    <a:pt x="0" y="92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19629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9EE130-76A2-AC4F-90BF-A04B6EE054B8}"/>
              </a:ext>
            </a:extLst>
          </p:cNvPr>
          <p:cNvSpPr/>
          <p:nvPr userDrawn="1"/>
        </p:nvSpPr>
        <p:spPr>
          <a:xfrm>
            <a:off x="4229893" y="0"/>
            <a:ext cx="7962108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70208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0931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A42E29-8CDA-8D48-947C-4BD47471FE24}"/>
              </a:ext>
            </a:extLst>
          </p:cNvPr>
          <p:cNvSpPr/>
          <p:nvPr userDrawn="1"/>
        </p:nvSpPr>
        <p:spPr>
          <a:xfrm>
            <a:off x="5555" y="0"/>
            <a:ext cx="7495383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43C6-2948-A143-8779-4AC3F3A3748B}"/>
              </a:ext>
            </a:extLst>
          </p:cNvPr>
          <p:cNvSpPr/>
          <p:nvPr userDrawn="1"/>
        </p:nvSpPr>
        <p:spPr>
          <a:xfrm>
            <a:off x="7500938" y="0"/>
            <a:ext cx="46910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2118509"/>
            <a:ext cx="5614987" cy="1586829"/>
          </a:xfrm>
        </p:spPr>
        <p:txBody>
          <a:bodyPr anchor="b">
            <a:noAutofit/>
          </a:bodyPr>
          <a:lstStyle>
            <a:lvl1pPr marL="0" indent="0" algn="l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Sample Text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6185" y="5290078"/>
            <a:ext cx="7503350" cy="10210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73A5D-CAA9-F748-9FE9-7A6174D1BEAE}"/>
              </a:ext>
            </a:extLst>
          </p:cNvPr>
          <p:cNvCxnSpPr>
            <a:cxnSpLocks/>
          </p:cNvCxnSpPr>
          <p:nvPr userDrawn="1"/>
        </p:nvCxnSpPr>
        <p:spPr>
          <a:xfrm>
            <a:off x="947738" y="4735576"/>
            <a:ext cx="6553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DA0EE-1F6E-4C42-B85E-74B7AC8EF7B5}"/>
              </a:ext>
            </a:extLst>
          </p:cNvPr>
          <p:cNvCxnSpPr>
            <a:cxnSpLocks/>
          </p:cNvCxnSpPr>
          <p:nvPr userDrawn="1"/>
        </p:nvCxnSpPr>
        <p:spPr>
          <a:xfrm>
            <a:off x="7500938" y="4470400"/>
            <a:ext cx="375843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E6794A6-29DF-A344-BDEC-F71D8C419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2" y="308854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528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812" y="1441"/>
          <a:ext cx="1810" cy="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51" imgH="351" progId="TCLayout.ActiveDocument.1">
                  <p:embed/>
                </p:oleObj>
              </mc:Choice>
              <mc:Fallback>
                <p:oleObj name="Слайд think-cell" r:id="rId3" imgW="351" imgH="35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2" y="1441"/>
                        <a:ext cx="1810" cy="1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446371" y="6311029"/>
            <a:ext cx="5388889" cy="3656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E3891-530A-4E05-9D29-9927852741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9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Relationship Id="rId39" Type="http://schemas.openxmlformats.org/officeDocument/2006/relationships/tags" Target="../tags/tag2.xml"/><Relationship Id="rId40" Type="http://schemas.openxmlformats.org/officeDocument/2006/relationships/oleObject" Target="../embeddings/oleObject1.bin"/><Relationship Id="rId41" Type="http://schemas.openxmlformats.org/officeDocument/2006/relationships/image" Target="../media/image1.emf"/><Relationship Id="rId42" Type="http://schemas.openxmlformats.org/officeDocument/2006/relationships/image" Target="../media/image2.png"/><Relationship Id="rId43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theme" Target="../theme/theme2.xml"/><Relationship Id="rId13" Type="http://schemas.openxmlformats.org/officeDocument/2006/relationships/tags" Target="../tags/tag3.xml"/><Relationship Id="rId14" Type="http://schemas.openxmlformats.org/officeDocument/2006/relationships/oleObject" Target="../embeddings/oleObject2.bin"/><Relationship Id="rId15" Type="http://schemas.openxmlformats.org/officeDocument/2006/relationships/image" Target="../media/image9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1.xml"/><Relationship Id="rId34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84.xml"/><Relationship Id="rId37" Type="http://schemas.openxmlformats.org/officeDocument/2006/relationships/theme" Target="../theme/theme3.xml"/><Relationship Id="rId38" Type="http://schemas.openxmlformats.org/officeDocument/2006/relationships/tags" Target="../tags/tag4.xml"/><Relationship Id="rId39" Type="http://schemas.openxmlformats.org/officeDocument/2006/relationships/oleObject" Target="../embeddings/oleObject3.bin"/><Relationship Id="rId40" Type="http://schemas.openxmlformats.org/officeDocument/2006/relationships/image" Target="../media/image10.emf"/><Relationship Id="rId41" Type="http://schemas.openxmlformats.org/officeDocument/2006/relationships/image" Target="../media/image2.png"/><Relationship Id="rId4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0" imgW="409" imgH="409" progId="TCLayout.ActiveDocument.1">
                  <p:embed/>
                </p:oleObj>
              </mc:Choice>
              <mc:Fallback>
                <p:oleObj name="Слайд think-cell" r:id="rId40" imgW="409" imgH="409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79ED9-D0AE-C043-897E-CA274670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06" y="359029"/>
            <a:ext cx="10757257" cy="7347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21320-5E52-8248-87E6-21A8370F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06" y="1599757"/>
            <a:ext cx="10757257" cy="46852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5760-0C07-EB4D-8F6F-ABBEBFC2CAA8}"/>
              </a:ext>
            </a:extLst>
          </p:cNvPr>
          <p:cNvCxnSpPr>
            <a:cxnSpLocks/>
          </p:cNvCxnSpPr>
          <p:nvPr userDrawn="1"/>
        </p:nvCxnSpPr>
        <p:spPr>
          <a:xfrm>
            <a:off x="1171257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F505D64-C6AC-3C46-AED8-4083F8C5B994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783435" y="152499"/>
            <a:ext cx="337705" cy="331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670CD-6C36-044B-AD48-B5D1BEA34D2A}"/>
              </a:ext>
            </a:extLst>
          </p:cNvPr>
          <p:cNvCxnSpPr/>
          <p:nvPr userDrawn="1"/>
        </p:nvCxnSpPr>
        <p:spPr>
          <a:xfrm flipH="1">
            <a:off x="11712576" y="6285042"/>
            <a:ext cx="4794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CF9707-A134-064C-A39D-3180C2F379F0}"/>
              </a:ext>
            </a:extLst>
          </p:cNvPr>
          <p:cNvSpPr txBox="1"/>
          <p:nvPr userDrawn="1"/>
        </p:nvSpPr>
        <p:spPr>
          <a:xfrm>
            <a:off x="11712576" y="6370320"/>
            <a:ext cx="468312" cy="406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fld id="{32113663-2E12-0741-8394-26D5769A76F5}" type="slidenum">
              <a:rPr lang="ru-RU" sz="9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ru-RU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D8948CD-9A60-7043-A60C-27F7A1CCC2E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417371" y="3097848"/>
            <a:ext cx="5069840" cy="479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spc="2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5951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56565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471403F-4136-62BF-D9FE-349657EA8E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726972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484" imgH="486" progId="TCLayout.ActiveDocument.1">
                  <p:embed/>
                </p:oleObj>
              </mc:Choice>
              <mc:Fallback>
                <p:oleObj name="Слайд think-cell" r:id="rId14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71403F-4136-62BF-D9FE-349657EA8E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5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9" imgW="395" imgH="394" progId="TCLayout.ActiveDocument.1">
                  <p:embed/>
                </p:oleObj>
              </mc:Choice>
              <mc:Fallback>
                <p:oleObj name="Слайд think-cell" r:id="rId39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79ED9-D0AE-C043-897E-CA274670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06" y="359029"/>
            <a:ext cx="10757257" cy="7347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21320-5E52-8248-87E6-21A8370F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06" y="1599757"/>
            <a:ext cx="10757257" cy="46852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5760-0C07-EB4D-8F6F-ABBEBFC2CAA8}"/>
              </a:ext>
            </a:extLst>
          </p:cNvPr>
          <p:cNvCxnSpPr>
            <a:cxnSpLocks/>
          </p:cNvCxnSpPr>
          <p:nvPr userDrawn="1"/>
        </p:nvCxnSpPr>
        <p:spPr>
          <a:xfrm>
            <a:off x="1171257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F505D64-C6AC-3C46-AED8-4083F8C5B994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783435" y="152499"/>
            <a:ext cx="337705" cy="331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670CD-6C36-044B-AD48-B5D1BEA34D2A}"/>
              </a:ext>
            </a:extLst>
          </p:cNvPr>
          <p:cNvCxnSpPr/>
          <p:nvPr userDrawn="1"/>
        </p:nvCxnSpPr>
        <p:spPr>
          <a:xfrm flipH="1">
            <a:off x="11712576" y="6285042"/>
            <a:ext cx="4794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CF9707-A134-064C-A39D-3180C2F379F0}"/>
              </a:ext>
            </a:extLst>
          </p:cNvPr>
          <p:cNvSpPr txBox="1"/>
          <p:nvPr userDrawn="1"/>
        </p:nvSpPr>
        <p:spPr>
          <a:xfrm>
            <a:off x="11712576" y="6370320"/>
            <a:ext cx="468312" cy="406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fld id="{32113663-2E12-0741-8394-26D5769A76F5}" type="slidenum">
              <a:rPr lang="ru-RU" sz="9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ru-RU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D8948CD-9A60-7043-A60C-27F7A1CCC2E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417371" y="3097848"/>
            <a:ext cx="5069840" cy="479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spc="2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Mobile</a:t>
            </a:r>
            <a:r>
              <a:rPr lang="en-US" sz="900" baseline="0" dirty="0"/>
              <a:t> Maintenance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0133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  <p:sldLayoutId id="2147483754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56565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597">
          <p15:clr>
            <a:srgbClr val="F26B43"/>
          </p15:clr>
        </p15:guide>
        <p15:guide id="3" pos="892">
          <p15:clr>
            <a:srgbClr val="F26B43"/>
          </p15:clr>
        </p15:guide>
        <p15:guide id="4" pos="1186">
          <p15:clr>
            <a:srgbClr val="F26B43"/>
          </p15:clr>
        </p15:guide>
        <p15:guide id="5" pos="1481">
          <p15:clr>
            <a:srgbClr val="F26B43"/>
          </p15:clr>
        </p15:guide>
        <p15:guide id="6" pos="1776">
          <p15:clr>
            <a:srgbClr val="F26B43"/>
          </p15:clr>
        </p15:guide>
        <p15:guide id="7" pos="2071">
          <p15:clr>
            <a:srgbClr val="F26B43"/>
          </p15:clr>
        </p15:guide>
        <p15:guide id="8" pos="2661">
          <p15:clr>
            <a:srgbClr val="F26B43"/>
          </p15:clr>
        </p15:guide>
        <p15:guide id="9" pos="3250">
          <p15:clr>
            <a:srgbClr val="F26B43"/>
          </p15:clr>
        </p15:guide>
        <p15:guide id="10" pos="3840">
          <p15:clr>
            <a:srgbClr val="F26B43"/>
          </p15:clr>
        </p15:guide>
        <p15:guide id="11" pos="4430">
          <p15:clr>
            <a:srgbClr val="F26B43"/>
          </p15:clr>
        </p15:guide>
        <p15:guide id="12" pos="4725">
          <p15:clr>
            <a:srgbClr val="F26B43"/>
          </p15:clr>
        </p15:guide>
        <p15:guide id="13" pos="5019">
          <p15:clr>
            <a:srgbClr val="F26B43"/>
          </p15:clr>
        </p15:guide>
        <p15:guide id="14" pos="5314">
          <p15:clr>
            <a:srgbClr val="F26B43"/>
          </p15:clr>
        </p15:guide>
        <p15:guide id="15" pos="5609">
          <p15:clr>
            <a:srgbClr val="F26B43"/>
          </p15:clr>
        </p15:guide>
        <p15:guide id="16" pos="5904">
          <p15:clr>
            <a:srgbClr val="F26B43"/>
          </p15:clr>
        </p15:guide>
        <p15:guide id="17" pos="6199">
          <p15:clr>
            <a:srgbClr val="F26B43"/>
          </p15:clr>
        </p15:guide>
        <p15:guide id="18" pos="6494">
          <p15:clr>
            <a:srgbClr val="F26B43"/>
          </p15:clr>
        </p15:guide>
        <p15:guide id="19" pos="6788">
          <p15:clr>
            <a:srgbClr val="F26B43"/>
          </p15:clr>
        </p15:guide>
        <p15:guide id="20" pos="7083">
          <p15:clr>
            <a:srgbClr val="F26B43"/>
          </p15:clr>
        </p15:guide>
        <p15:guide id="21" pos="2366">
          <p15:clr>
            <a:srgbClr val="F26B43"/>
          </p15:clr>
        </p15:guide>
        <p15:guide id="22" pos="2955">
          <p15:clr>
            <a:srgbClr val="F26B43"/>
          </p15:clr>
        </p15:guide>
        <p15:guide id="24" pos="3545">
          <p15:clr>
            <a:srgbClr val="F26B43"/>
          </p15:clr>
        </p15:guide>
        <p15:guide id="25" pos="4134">
          <p15:clr>
            <a:srgbClr val="F26B43"/>
          </p15:clr>
        </p15:guide>
        <p15:guide id="26" orient="horz" pos="689">
          <p15:clr>
            <a:srgbClr val="F26B43"/>
          </p15:clr>
        </p15:guide>
        <p15:guide id="27" orient="horz" pos="845">
          <p15:clr>
            <a:srgbClr val="F26B43"/>
          </p15:clr>
        </p15:guide>
        <p15:guide id="28" orient="horz" pos="1003">
          <p15:clr>
            <a:srgbClr val="F26B43"/>
          </p15:clr>
        </p15:guide>
        <p15:guide id="29" pos="7378">
          <p15:clr>
            <a:srgbClr val="F26B43"/>
          </p15:clr>
        </p15:guide>
        <p15:guide id="30" orient="horz" pos="4163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Сходимость оперативного учёта и маркзамера · итог январь–сентябрь 2026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Карьер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62807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Гросс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92 485,7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94 427,8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+1 942,2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+485,5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601370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+2,1%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378440" y="158996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433852" y="163605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726277" y="163605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1018702" y="1636053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314432" y="1949151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2227478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2308958"/>
            <a:ext cx="54864" cy="516037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2227478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Карты выщелачивания Гросс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222747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23 665,0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222747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25 343,1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222747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+1 678,1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222747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−332,8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2227478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2347521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A8650F"/>
                </a:solidFill>
                <a:latin typeface="Arial"/>
              </a:rPr>
              <a:t>+7,1%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378440" y="233611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433852" y="238220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726277" y="2382203"/>
            <a:ext cx="237012" cy="237012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1018702" y="238220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314432" y="2695301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973628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3055108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973628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Таборный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9736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35 830,6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9736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35 598,5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9736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−232,2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9736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−198,9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973628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3093671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−0,6%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378440" y="308226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433852" y="31283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726277" y="31283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1018702" y="3128354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314432" y="3441452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3719779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3801258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3719779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Токко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371977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15 303,8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371977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14 940,2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371977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−363,5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371977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+145,4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3719779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3839822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378440" y="382841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433852" y="387450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726277" y="387450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1018702" y="3874504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314432" y="4187602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4465929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4547409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4533829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9AA5AD"/>
                </a:solidFill>
                <a:latin typeface="Arial"/>
              </a:rPr>
              <a:t>ТРИ КАРЬЕРА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786384" y="466962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Всего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4023360" y="446592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rial"/>
              </a:rPr>
              <a:t>143 620,1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5120640" y="446592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rial"/>
              </a:rPr>
              <a:t>144 966,5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6217920" y="446592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rial"/>
              </a:rPr>
              <a:t>+1 346,4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7178040" y="446592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6B7785"/>
                </a:solidFill>
                <a:latin typeface="Arial"/>
              </a:rPr>
              <a:t>+432,1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8183879" y="4465929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9098280" y="4585972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+0,9%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10378440" y="4574569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433852" y="46206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6277" y="46206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11018702" y="4620654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TextBox 999"/>
          <p:cNvSpPr txBox="1"/>
          <p:nvPr/>
        </p:nvSpPr>
        <p:spPr>
          <a:xfrm>
            <a:off x="10314432" y="4933753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1" name="Rounded Rectangle 1000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Итог за 9 месяцев по трём карьерам в допуске. Вне допуска только карты выщелачивания Гросс по тоннам: учёт выше замера на 7,1%. «Всего» — Гросс + Таборный + Токко, без КВ. Помесячно разброс заметно больше — см. следующие слайды. Тонны замера за январь–июль по Гроссу и Таборному пересчитаны из м³ по плотности ОУ (в справках МЗ тонны есть только с августа).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Сходимость оперативного учёта и маркзамера · итог январь–сентябрь 2026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Карьер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62807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Гросс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36 531,2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37 016,8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+485,5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+1 942,2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601370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+1,3%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378440" y="158996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433852" y="163605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726277" y="163605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1018702" y="1636053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314432" y="1949151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2227478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2308958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2227478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Карты выщелачивания Гросс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222747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15 642,8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222747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15 310,0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222747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−332,8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222747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+1 678,1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2227478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2347521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378440" y="233611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433852" y="238220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726277" y="2382203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1018702" y="2382203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314432" y="2695301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973628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3055108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973628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Таборный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9736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14 466,3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973628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14 267,3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9736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−198,9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973628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−232,2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973628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3093671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−1,4%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378440" y="308226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433852" y="31283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726277" y="31283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1018702" y="3128354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314432" y="3441452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3719779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3801258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3719779"/>
            <a:ext cx="310896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Токко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371977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6 075,1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371977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6 220,5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371977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3"/>
                </a:solidFill>
                <a:latin typeface="Arial"/>
              </a:rPr>
              <a:t>+145,4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371977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−363,5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3719779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3839822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+2,4%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378440" y="382841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433852" y="387450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726277" y="387450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1018702" y="3874504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314432" y="4187602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4465929"/>
            <a:ext cx="10972800" cy="67899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4547409"/>
            <a:ext cx="54864" cy="51603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4533829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9AA5AD"/>
                </a:solidFill>
                <a:latin typeface="Arial"/>
              </a:rPr>
              <a:t>ТРИ КАРЬЕРА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786384" y="466962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3"/>
                </a:solidFill>
                <a:latin typeface="Arial"/>
              </a:rPr>
              <a:t>Всего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4023360" y="446592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rial"/>
              </a:rPr>
              <a:t>57 072,6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5120640" y="4465929"/>
            <a:ext cx="10972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rial"/>
              </a:rPr>
              <a:t>57 504,7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6217920" y="446592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rial"/>
              </a:rPr>
              <a:t>+432,1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7178040" y="4465929"/>
            <a:ext cx="96012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6B7785"/>
                </a:solidFill>
                <a:latin typeface="Arial"/>
              </a:rPr>
              <a:t>+1 346,4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8183879" y="4465929"/>
            <a:ext cx="868680" cy="678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9098280" y="4585972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2E7D6B"/>
                </a:solidFill>
                <a:latin typeface="Arial"/>
              </a:rPr>
              <a:t>+0,8%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10378440" y="4574569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433852" y="46206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6277" y="4620654"/>
            <a:ext cx="237012" cy="237012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11018702" y="4620654"/>
            <a:ext cx="237012" cy="237012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TextBox 999"/>
          <p:cNvSpPr txBox="1"/>
          <p:nvPr/>
        </p:nvSpPr>
        <p:spPr>
          <a:xfrm>
            <a:off x="10314432" y="4933753"/>
            <a:ext cx="1060704" cy="13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1" name="Rounded Rectangle 1000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Итог за 9 месяцев по трём карьерам в допуске. Вне допуска только карты выщелачивания Гросс по тоннам: учёт выше замера на 7,1%. «Всего» — Гросс + Таборный + Токко, без КВ. Помесячно разброс заметно больше — см. следующие слайды.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Гросс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10 545,8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11 308,2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+762,4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+307,9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+7,2%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8 456,4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8 680,2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+223,7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+88,9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+2,6%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10 148,2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9 813,4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−334,7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−130,0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−3,3%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10 027,4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10 203,9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+176,5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+68,5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10 428,5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10 389,0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−39,5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−15,3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−0,4%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10 375,8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10 547,9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+172,1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+67,5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+1,7%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10 913,4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11 322,6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+409,2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+158,6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10 737,0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11 121,2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+384,2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+48,6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+3,6%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10 853,2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11 041,4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+188,2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−109,1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+1,7%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92 485,7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94 427,8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+1 942,2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+485,5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+2,1%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В допуске 8 месяцев из 9; наибольшее отклонение — январь (+7,2%). Учёт выше замера в 7 месяцах из 9 — ОУ систематически завышает выемку. Тонны замера за январь–июль по Гроссу и Таборному пересчитаны из м³ по плотности ОУ (в справках МЗ тонны есть только с августа).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Гросс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4 258,8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4 566,7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+307,9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+762,4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+7,2%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3 360,7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3 449,6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+88,9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+223,7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+2,6%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3 941,6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3 811,6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−130,0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−334,7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−3,3%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3 891,1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3 959,6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+68,5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+176,5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4 039,6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4 024,3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−15,3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−39,5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−0,4%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4 069,7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4 137,2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+67,5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+172,1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+1,7%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4 228,8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4 387,4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+158,6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+409,2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4 347,0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4 395,5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+48,6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+384,2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+1,1%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4 394,0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4 284,9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−109,1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+188,2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−2,5%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36 531,2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37 016,8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+485,5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+1 942,2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+1,3%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В допуске 8 месяцев из 9; наибольшее отклонение — январь (+7,2%). Учёт выше замера в 6 месяцах из 9 — ОУ систематически завышает выемку.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Карты выщелачивания Гросс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2 310,3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928,1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−1 382,2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−986,5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−59,8%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2 424,4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3 196,7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+772,3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+314,8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+31,9%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2 571,5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3 063,0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+491,5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+106,7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+19,1%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2 622,8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3 600,8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+978,0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+409,4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+37,3%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2 584,1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3 874,7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+1 290,6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+572,9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+49,9%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2 607,3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3 038,2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+430,9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+159,0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+16,5%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2 865,7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2 472,7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−393,0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−356,5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−13,7%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3 139,2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2 605,7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−533,5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−459,1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−17,0%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2 539,6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2 563,1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+23,5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−93,6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+0,9%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23 665,0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25 343,1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+1 678,1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−332,8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+7,1%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Помесячное расхождение до ±60%%: ОУ и маркзамер по укладке относят объёмы к разным месяцам (январь в ОУ — 0,9 млн т против 2,3 млн т по замеру). Объём замера — сумма замеренных панелей. Плотность в ОУ 1,66 т/м³ против 1,51 т/м³ по замеру: в м³ итог в допуске, в тоннах — нет.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Карты выщелачивания Гросс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1 564,5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578,0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−986,5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−1 382,2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−63,1%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1 646,8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1 961,6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+314,8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+772,3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+19,1%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1 731,1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1 837,8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+106,7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+491,5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+6,2%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1 751,0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2 160,4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+409,4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+978,0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+23,4%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1 744,6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2 317,5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+572,9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+1 290,6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+32,8%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1 678,6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1 837,6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+159,0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+430,9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+9,5%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1 840,1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1 483,6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−356,5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−393,0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−19,4%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2 054,6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1 595,4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−459,1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−533,5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−22,3%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1 631,4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1 537,8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−93,6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+23,5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−5,7%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15 642,8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15 310,0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−332,8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+1 678,1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Помесячное расхождение до ±60%%: ОУ и маркзамер по укладке относят объёмы к разным месяцам (январь в ОУ — 0,9 млн т против 2,3 млн т по замеру). Объём замера — сумма замеренных панелей.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Таборный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3 419,2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3 765,4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+346,2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+144,1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+10,1%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3 288,2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3 302,2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+14,0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+5,7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+0,4%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4 063,5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3 694,9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−368,6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−147,4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−9,1%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4 576,0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4 508,2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−67,8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−27,1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−1,5%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3 846,3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3 815,1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−31,3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−12,5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−0,8%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4 048,5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4 010,5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−38,0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−15,3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−0,9%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4 189,6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4 099,9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−89,7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−35,3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4 448,7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4 380,9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−67,8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−69,9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−1,5%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3 950,7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4 021,4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+70,7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−41,2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35 830,6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35 598,5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−232,2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−198,9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−0,6%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Таборный с Врезанным. Вне допуска январь и март (сдвиг объёмов между месяцами), с апреля — в допуске. Тонны замера за январь–июль по Гроссу и Таборному пересчитаны из м³ по плотности ОУ (в справках МЗ тонны есть только с августа).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Таборный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1 422,9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1 567,0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+144,1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+346,2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+10,1%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1 347,5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1 353,2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+5,7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+14,0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+0,4%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1 625,4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1 478,0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−147,4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−368,6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−9,1%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1 830,4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1 803,3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−27,1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−67,8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−1,5%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1 538,5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1 526,0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−12,5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−31,3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−0,8%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1 627,8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1 612,5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−15,3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−38,0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−0,9%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1 649,7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1 614,4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−35,3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−89,7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1 816,6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1 746,8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−69,9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−67,8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−3,8%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1 607,5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1 566,2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−41,2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+70,7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−2,6%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14 466,3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14 267,3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−198,9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−232,2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−1,4%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Таборный с Врезанным. Вне допуска январь и март (сдвиг объёмов между месяцами), с апреля — в допуске.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1 451,6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1 434,7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−16,9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+19,2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−1,2%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1 436,2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1 250,2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−186,0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−48,4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−13,0%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1 698,3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1 366,3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−331,9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−102,5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−19,5%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1 658,2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1 666,5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+8,3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+33,5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+0,5%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1 854,4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1 820,2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−34,2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+23,6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−1,8%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1 702,9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1 839,9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+137,0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+90,9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+8,0%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1 669,8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1 814,7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+144,9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+94,6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+8,7%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1 897,3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1 896,2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−1,1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+36,3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−0,1%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1 935,0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1 851,4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−83,6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−1,7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−4,3%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15 303,8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14 940,2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−363,5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+145,4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(горная масса в целике). Вне допуска 4–5 месяцев: февраль–март замер выше учёта, июнь–июль ниже.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578,6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597,8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+19,2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−16,9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+3,3%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569,3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520,9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−48,4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−186,0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−8,5%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671,9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569,3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−102,5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−331,9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−15,3%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660,9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694,4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+33,5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+8,3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+5,1%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734,8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758,4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+23,6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−34,2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+3,2%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675,7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766,6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+90,9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+137,0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+13,5%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661,6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756,1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+94,6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+144,9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+14,3%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753,5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789,8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+36,3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−1,1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+4,8%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768,9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767,1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−1,7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−83,6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−0,2%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6 075,1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6 220,5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+145,4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−363,5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+2,4%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(горная масса в целике). Вне допуска 4–5 месяцев: февраль–март замер выше учёта, июнь–июль ниже.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Гросс · сходимость по стадиям · июль–август 2026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 · стадия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ST3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3 471,2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3 778,9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+307,7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+121,4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+8,9%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ST4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5 344,3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5 497,3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+153,0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+58,8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+2,9%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ST5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1 226,0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1 196,9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−29,1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−11,1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ST6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876,7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849,6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−27,1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−10,4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−3,1%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итого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10 918,2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11 322,6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+404,4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+158,6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+3,7%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ST3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3 585,0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3 594,5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+9,5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+3,8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+0,3%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ST4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5 639,5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5 432,0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−207,5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−81,2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ST5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1 408,5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1 715,8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+307,2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+120,0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+21,8%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ST6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364,0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379,0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+14,9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+6,0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+4,1%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итого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10 997,1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11 121,2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+124,2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+48,6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+1,1%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Разбивка замера по стадиям есть только в справках за июль и август (в сентябрьском файле лист стадий — копия августа). Тонны по стадиям — объём замера × плотность ОУ стадии. Июль ST3 и август ST5: учёт выше замера на 9–22%.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Гросс · сходимость по стадиям · июль–август 2026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 · стадия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ST3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1 369,3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1 490,6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+121,4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+307,7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+8,9%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ST4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2 053,0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2 111,8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+58,8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+153,0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+2,9%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ST5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469,9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458,8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−11,1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−29,1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ST6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336,6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326,1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−10,4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−27,1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−3,1%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итого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4 228,8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4 387,4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+158,6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+404,4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+3,7%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ST3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1 443,2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1 447,0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+3,8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+9,5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+0,3%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ST4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2 208,0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2 126,8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−81,2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−207,5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ST5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550,1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670,1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+120,0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+307,2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+21,8%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ST6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145,6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151,6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+6,0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+14,9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+4,1%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итого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4 347,0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4 395,5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+48,6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+124,2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+1,1%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Разбивка замера по стадиям есть только в справках за июль и август (в сентябрьском файле лист стадий — копия августа). Тонны по стадиям — объём замера × плотность ОУ стадии. Июль ST3 и август ST5: учёт выше замера на 9–22%.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Таборный · сходимость по стадиям · июль–август 2026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 · стадия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W4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164,7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155,5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−9,2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−3,7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−5,6%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E3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383,1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413,7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+30,6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+12,3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+8,0%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E4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2 691,5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2 690,5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−1,0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−0,4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−0,0%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Врезанный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957,8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840,2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−117,7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−43,5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−12,3%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итого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4 197,2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4 099,9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−97,3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−35,3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−2,3%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W4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234,9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241,3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+6,4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+2,6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+2,7%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E3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314,7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360,8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+46,1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+18,9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+14,6%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E4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2 630,3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2 527,0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−103,2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−42,0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−3,9%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Врезанный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1 342,7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1 251,8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−90,9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−49,3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−6,8%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итого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4 522,5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4 380,9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−141,7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−69,9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−3,1%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Стадии W4, E3, E4 по замеру — только июль и август. Врезанный: замер выше учёта на 9–12%, E3 — учёт выше замера на 8–15%. Тонны W4/E3/E4 и июль Врезанного — объём замера × плотность ОУ.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Таборный · сходимость по стадиям · июль–август 2026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 · стадия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W4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65,9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62,2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−3,7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−9,2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−5,6%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E3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153,2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165,5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+12,3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+30,6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+8,0%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E4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1 076,6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1 076,2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−0,4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−1,0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−0,0%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Врезанный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354,0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310,5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−43,5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−117,7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−12,3%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 · итого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1 649,7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1 614,4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−35,3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−97,3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W4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95,1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97,7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+2,6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+6,4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+2,7%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E3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129,0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147,9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+18,9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+46,1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+14,6%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E4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1 070,0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1 028,1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−42,0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−103,2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−3,9%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Врезанный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522,4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473,1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−49,3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−90,9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−9,4%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 · итого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1 816,6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1 746,8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−69,9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−141,7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−3,8%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Стадии W4, E3, E4 по замеру — только июль и август. Врезанный: замер выше учёта на 9–12%, E3 — учёт выше замера на 8–15%. Тонны W4/E3/E4 и июль Врезанного — объём замера × плотность ОУ.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стадия 1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396,2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446,2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+50,0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+30,9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+12,6%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554,1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431,5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−122,6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−38,3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−22,1%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634,3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522,7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−111,7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−30,6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−17,6%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392,6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344,5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−48,0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−13,8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−12,2%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468,5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458,7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−9,8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+3,4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186,8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193,0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+6,1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+5,7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+3,3%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75,9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75,2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−0,7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+1,9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−1,0%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406,0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399,4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−6,5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+5,6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−1,6%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326,7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318,9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−7,8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+3,0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3 441,1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3 190,1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−251,1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−32,3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−7,3%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стадии 1; учёт — место погрузки ST-1. По стадиям отклонения больше, чем по карьеру в целом: часть объёма отнесена в ОУ к другой стадии.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стадия 1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155,0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185,9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+30,9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+50,0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+20,0%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218,1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179,8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−38,3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−122,6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−17,6%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248,4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217,8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−30,6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−111,7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−12,3%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157,4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143,5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−13,8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−48,0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−8,8%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187,7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191,1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+3,4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−9,8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74,7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80,4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+5,7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+6,1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+7,6%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29,4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31,3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+1,9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−0,7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+6,4%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160,8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166,4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+5,6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−6,5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+3,5%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129,9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132,9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+3,0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−7,8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+2,3%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1 361,5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1 329,2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−32,3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−251,1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стадии 1; учёт — место погрузки ST-1. По стадиям отклонения больше, чем по карьеру в целом: часть объёма отнесена в ОУ к другой стадии.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стадия 2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814,6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806,1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−8,5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+5,9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−1,0%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474,0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314,0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−160,0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−61,5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−33,8%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625,3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507,3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−117,9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−41,3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−18,9%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803,8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825,6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+21,8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+20,0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+2,7%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515,9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490,0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−25,8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−2,4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−5,0%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589,3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608,8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+19,4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+16,1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+3,3%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579,7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659,3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+79,6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+40,4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+13,7%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714,3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636,5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−77,8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−22,2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−10,9%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535,8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502,7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−33,2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−7,1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−6,2%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5 652,8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5 350,3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−302,5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−52,1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−5,4%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стадии 2; учёт — место погрузки ST-2. По стадиям отклонения больше, чем по карьеру в целом: часть объёма отнесена в ОУ к другой стадии.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стадия 2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329,9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335,9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+5,9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−8,5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192,4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130,8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−61,5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−160,0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−32,0%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252,7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211,4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−41,3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−117,9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−16,4%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324,0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344,0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+20,0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+21,8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+6,2%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206,6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204,2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−2,4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−25,8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−1,2%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237,5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253,6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+16,1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+19,4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+6,8%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234,3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274,7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+40,4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+79,6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+17,2%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287,5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265,2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−22,2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−77,8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−7,7%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216,5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209,4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−7,1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−33,2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−3,3%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2 281,4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2 229,3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−52,1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−302,5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−2,3%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стадии 2; учёт — место погрузки ST-2. По стадиям отклонения больше, чем по карьеру в целом: часть объёма отнесена в ОУ к другой стадии.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стадия 3 · сходимость ОУ и маркзамера по месяцам · тыс. т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т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240,8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182,4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−58,5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−17,7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−24,3%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408,1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504,8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+96,7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+51,5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+23,7%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438,6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334,0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−104,7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−31,6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−23,9%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461,9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496,4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+34,6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+27,3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+7,5%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870,0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871,5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+1,5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+22,6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+0,2%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926,7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1 038,1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+111,4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+69,1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+12,0%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1 014,1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1 080,2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+66,1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+52,3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+6,5%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777,0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859,6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+82,5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+52,9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+10,6%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1 072,5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1 019,6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−52,9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+2,4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−4,9%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6 209,9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6 386,5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+176,6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+228,9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+2,8%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стадии 3; учёт — место погрузки ST-3. По стадиям отклонения больше, чем по карьеру в целом: часть объёма отнесена в ОУ к другой стадии.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стадия 3 · сходимость ОУ и маркзамера по месяцам · тыс. м³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м³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м³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Отклонение, м³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603504" y="1520724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813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402336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93,7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120640" y="14813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76,0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1792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−17,7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178040" y="14813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−58,5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183879" y="14813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9098280" y="1517441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−18,9%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10284432" y="1533856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10323897" y="1565111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0524102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0724307" y="1565111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10974512" y="14813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603504" y="185440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603504" y="1893799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786384" y="185440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402336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158,9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5120640" y="185440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210,3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21792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+51,5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178040" y="185440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+96,7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183879" y="185440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9098280" y="1890516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+32,4%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10284432" y="19069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10323897" y="1938186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10524102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10724307" y="1938186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10974512" y="185440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58" name="Rounded Rectangle 957"/>
          <p:cNvSpPr/>
          <p:nvPr/>
        </p:nvSpPr>
        <p:spPr>
          <a:xfrm>
            <a:off x="603504" y="222747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03504" y="22668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786384" y="222747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02336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170,7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120640" y="222747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139,1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21792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−31,6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178040" y="222747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−104,7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183879" y="222747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9098280" y="22635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−18,5%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10284432" y="228000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10323897" y="23112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10524102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724307" y="23112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0974512" y="222747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603504" y="2600553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03504" y="263995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86384" y="2600553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402336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179,5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120640" y="2600553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206,8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21792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+27,3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178040" y="2600553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+34,6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183879" y="2600553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9098280" y="263666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+15,2%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10284432" y="265308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323897" y="268433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10524102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10724307" y="268433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0974512" y="2600553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603504" y="2973628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03504" y="3013025"/>
            <a:ext cx="54864" cy="24951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786384" y="2973628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402336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340,5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5120640" y="2973628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363,1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21792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+22,6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7178040" y="2973628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+1,5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8183879" y="2973628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9098280" y="300974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A8650F"/>
                </a:solidFill>
                <a:latin typeface="Arial"/>
              </a:rPr>
              <a:t>+6,6%</a:t>
            </a:r>
          </a:p>
        </p:txBody>
      </p:sp>
      <p:sp>
        <p:nvSpPr>
          <p:cNvPr id="995" name="Rounded Rectangle 994"/>
          <p:cNvSpPr/>
          <p:nvPr/>
        </p:nvSpPr>
        <p:spPr>
          <a:xfrm>
            <a:off x="10284432" y="3026157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1032389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10524102" y="3057412"/>
            <a:ext cx="160738" cy="1607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10724307" y="305741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0974512" y="2973628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A8650F"/>
                </a:solidFill>
                <a:latin typeface="Arial"/>
              </a:rPr>
              <a:t>Внимание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603504" y="33467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03504" y="3386100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786384" y="33467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2336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363,4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120640" y="33467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432,6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1792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+69,1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178040" y="33467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+111,4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8183879" y="33467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098280" y="3382817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+19,0%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0284432" y="3399232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0323897" y="3430487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0524102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724307" y="3430487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10974512" y="33467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603504" y="371977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03504" y="3759175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786384" y="371977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2336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397,8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5120640" y="371977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450,1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21792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+52,3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178040" y="371977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+66,1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183879" y="371977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098280" y="3755892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+13,1%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0284432" y="377230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10323897" y="3803562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10524102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10724307" y="3803562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10974512" y="371977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03504" y="409285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603504" y="413225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786384" y="409285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402336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305,2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120640" y="409285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358,1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21792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+52,9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178040" y="409285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+82,5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8183879" y="409285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098280" y="412896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+17,3%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10284432" y="414538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10323897" y="417663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10524102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0724307" y="417663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10974512" y="409285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603504" y="4465929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603504" y="4505326"/>
            <a:ext cx="54864" cy="24951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6384" y="4465929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02336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422,5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120640" y="4465929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424,8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Arial"/>
              </a:rPr>
              <a:t>+2,4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178040" y="4465929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−52,9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183879" y="4465929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98280" y="4502043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7D6B"/>
                </a:solidFill>
                <a:latin typeface="Arial"/>
              </a:rPr>
              <a:t>+0,6%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10284432" y="4518458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10323897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10524102" y="4549713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724307" y="4549713"/>
            <a:ext cx="160738" cy="1607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974512" y="4465929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Arial"/>
              </a:rPr>
              <a:t>Норма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603504" y="4839004"/>
            <a:ext cx="10972800" cy="328306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603504" y="4878401"/>
            <a:ext cx="54864" cy="24951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839004"/>
            <a:ext cx="310896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402336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2 432,2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5120640" y="4839004"/>
            <a:ext cx="10972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2 661,0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21792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2933"/>
                </a:solidFill>
                <a:latin typeface="Arial"/>
              </a:rPr>
              <a:t>+228,9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7178040" y="4839004"/>
            <a:ext cx="96012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6B7785"/>
                </a:solidFill>
                <a:latin typeface="Arial"/>
              </a:rPr>
              <a:t>+176,6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8183879" y="4839004"/>
            <a:ext cx="86868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rial"/>
              </a:rPr>
              <a:t>± 5,0%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9098280" y="4875118"/>
            <a:ext cx="1005840" cy="256078"/>
          </a:xfrm>
          <a:prstGeom prst="roundRect">
            <a:avLst>
              <a:gd name="adj" fmla="val 20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53F2F"/>
                </a:solidFill>
                <a:latin typeface="Arial"/>
              </a:rPr>
              <a:t>+9,4%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10284432" y="4891533"/>
            <a:ext cx="640080" cy="223248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10323897" y="4922788"/>
            <a:ext cx="160738" cy="1607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10524102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10724307" y="4922788"/>
            <a:ext cx="160738" cy="1607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0974512" y="4839004"/>
            <a:ext cx="600000" cy="328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53F2F"/>
                </a:solidFill>
                <a:latin typeface="Arial"/>
              </a:rPr>
              <a:t>Критично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603504" y="5285232"/>
            <a:ext cx="9198864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стадии 3; учёт — место погрузки ST-3. По стадиям отклонения больше, чем по карьеру в целом: часть объёма отнесена в ОУ к другой стадии.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64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5371</TotalTime>
  <Words>132</Words>
  <Application>Microsoft Office PowerPoint</Application>
  <PresentationFormat>Широкоэкранный</PresentationFormat>
  <Paragraphs>47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Arial Regular</vt:lpstr>
      <vt:lpstr>Calibri</vt:lpstr>
      <vt:lpstr>3_Custom Design</vt:lpstr>
      <vt:lpstr>4_Custom Design</vt:lpstr>
      <vt:lpstr>1_Custom Design</vt:lpstr>
      <vt:lpstr>Слайд think-cell</vt:lpstr>
      <vt:lpstr>Презентация PowerPoint</vt:lpstr>
    </vt:vector>
  </TitlesOfParts>
  <Company>Severstal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FMS Gross Status — August 2026</dc:title>
  <dc:creator>Gushchin Stanislav</dc:creator>
  <cp:lastModifiedBy>Kinash Iakov</cp:lastModifiedBy>
  <cp:revision>126</cp:revision>
  <dcterms:created xsi:type="dcterms:W3CDTF">2025-05-26T09:10:38Z</dcterms:created>
  <dcterms:modified xsi:type="dcterms:W3CDTF">2026-10-26T07:28:51Z</dcterms:modified>
  <dc:language>ru-RU</dc:language>
</cp:coreProperties>
</file>