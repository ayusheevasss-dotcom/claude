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media/image11.svg" ContentType="image/svg+xml"/>
  <Override PartName="/ppt/media/image12.svg" ContentType="image/svg+xml"/>
  <Override PartName="/ppt/media/image3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  <p:sldMasterId id="2147483706" r:id="rId2"/>
    <p:sldMasterId id="2147483718" r:id="rId3"/>
  </p:sldMasterIdLst>
  <p:notesMasterIdLst>
    <p:notesMasterId r:id="rId5"/>
  </p:notesMasterIdLst>
  <p:sldIdLst>
    <p:sldId id="270" r:id="rId12"/>
    <p:sldId id="271" r:id="rId13"/>
    <p:sldId id="272" r:id="rId14"/>
    <p:sldId id="273" r:id="rId15"/>
  </p:sldIdLst>
  <p:sldSz cx="12192000" cy="6858000"/>
  <p:notesSz cx="6858000" cy="9144000"/>
  <p:custDataLst>
    <p:tags r:id="rId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raham Trevor Ivan" initials="GTI" lastIdx="8" clrIdx="0">
    <p:extLst>
      <p:ext uri="{19B8F6BF-5375-455C-9EA6-DF929625EA0E}">
        <p15:presenceInfo xmlns:p15="http://schemas.microsoft.com/office/powerpoint/2012/main" userId="S-1-5-21-1457237435-869827030-340508006-64904" providerId="AD"/>
      </p:ext>
    </p:extLst>
  </p:cmAuthor>
  <p:cmAuthor id="2" name="Gushchin Stanislav" initials="GS" lastIdx="1" clrIdx="1">
    <p:extLst>
      <p:ext uri="{19B8F6BF-5375-455C-9EA6-DF929625EA0E}">
        <p15:presenceInfo xmlns:p15="http://schemas.microsoft.com/office/powerpoint/2012/main" userId="S-1-5-21-1457237435-869827030-340508006-678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8C1F"/>
    <a:srgbClr val="4A6C8C"/>
    <a:srgbClr val="F2A900"/>
    <a:srgbClr val="A8A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85" autoAdjust="0"/>
  </p:normalViewPr>
  <p:slideViewPr>
    <p:cSldViewPr snapToGrid="0">
      <p:cViewPr varScale="1">
        <p:scale>
          <a:sx n="87" d="100"/>
          <a:sy n="87" d="100"/>
        </p:scale>
        <p:origin x="4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tags" Target="tags/tag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B7CE6-0BAB-4E7A-B67C-DF9B1C696D1B}" type="datetimeFigureOut">
              <a:rPr lang="ru-RU" smtClean="0"/>
              <a:t>26.10.2026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2073D-A461-4973-BE2B-65211B90AC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302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emf"/><Relationship Id="rId3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emf"/><Relationship Id="rId3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emf"/><Relationship Id="rId3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4691063" y="0"/>
            <a:ext cx="7500937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9407B-AEE7-DF45-98B6-EB09E2017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7688" y="2092549"/>
            <a:ext cx="6084887" cy="2750431"/>
          </a:xfrm>
        </p:spPr>
        <p:txBody>
          <a:bodyPr anchor="b"/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7688" y="5217461"/>
            <a:ext cx="4468450" cy="116564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69DFB5-9698-6042-8C50-6660FF6087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B95DD8-9DF3-1744-9219-070A43C21F55}"/>
              </a:ext>
            </a:extLst>
          </p:cNvPr>
          <p:cNvCxnSpPr>
            <a:cxnSpLocks/>
          </p:cNvCxnSpPr>
          <p:nvPr userDrawn="1"/>
        </p:nvCxnSpPr>
        <p:spPr>
          <a:xfrm>
            <a:off x="5627688" y="4924269"/>
            <a:ext cx="608488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AA2A26C-1293-4142-9834-7D7E5E92C7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91064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2274AE4-DBE6-8A4F-BCA4-30E049F5E0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87584" y="6056026"/>
            <a:ext cx="1324992" cy="327081"/>
          </a:xfrm>
          <a:ln w="9525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343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781E02-E320-9040-9F89-B90925F09530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800" spc="-150" dirty="0">
                <a:solidFill>
                  <a:schemeClr val="accent5"/>
                </a:solidFill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6302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E73BFD-0EC1-9E40-8E76-C7926ABECD26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800" spc="-150" dirty="0">
                <a:solidFill>
                  <a:schemeClr val="accent5"/>
                </a:solidFill>
              </a:rPr>
              <a:t>Agenda</a:t>
            </a:r>
            <a:endParaRPr lang="ru-RU" sz="12800" spc="-150" dirty="0">
              <a:solidFill>
                <a:schemeClr val="accent5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7D2A2CA-E89D-BA47-8BFA-7EC488A16C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39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0"/>
            <a:ext cx="1171257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3D8012-FC47-8744-A34F-7E52B9CC20F5}"/>
              </a:ext>
            </a:extLst>
          </p:cNvPr>
          <p:cNvGrpSpPr/>
          <p:nvPr userDrawn="1"/>
        </p:nvGrpSpPr>
        <p:grpSpPr>
          <a:xfrm>
            <a:off x="4900369" y="1"/>
            <a:ext cx="6840543" cy="6866676"/>
            <a:chOff x="4900369" y="1"/>
            <a:chExt cx="6840543" cy="6866676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04F0E82-1502-614A-AAC8-B3F5DEA8D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FD796C-27EA-9B4C-9062-2D7ACF3D7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67663" y="1093788"/>
            <a:ext cx="3276599" cy="5187742"/>
          </a:xfrm>
        </p:spPr>
        <p:txBody>
          <a:bodyPr anchor="t">
            <a:normAutofit/>
          </a:bodyPr>
          <a:lstStyle>
            <a:lvl1pPr marL="342900" indent="-342900" algn="l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DE76B95-0B2F-6E4D-8A28-DBB809DC1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8" y="2151087"/>
            <a:ext cx="6084885" cy="445767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C43E4E-CB39-0B43-9425-94BD6060CB7E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BF7E8-8DFE-BB4E-8ECA-76EE0F2ACE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954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-1"/>
            <a:ext cx="8435975" cy="63082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1752F1-3AEF-6545-96D5-53F7049F2610}"/>
              </a:ext>
            </a:extLst>
          </p:cNvPr>
          <p:cNvGrpSpPr/>
          <p:nvPr userDrawn="1"/>
        </p:nvGrpSpPr>
        <p:grpSpPr>
          <a:xfrm>
            <a:off x="1595432" y="-8676"/>
            <a:ext cx="6840543" cy="6866676"/>
            <a:chOff x="4900369" y="1"/>
            <a:chExt cx="6840543" cy="6866676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DE75CDE-E2CC-204F-8A74-1CF2290B3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378AC5E-B598-3D47-A58A-2900FDA8E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36533E7A-05CB-EC45-AD54-AB236AF537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35975" y="0"/>
            <a:ext cx="32766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BDD422-8594-8A43-BE23-C12198FA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9" y="2151087"/>
            <a:ext cx="6558442" cy="415711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978837-6B41-A64E-8885-0D3A9B5AB131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6CACC7B-993A-1C40-A6B0-57CB69925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9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8500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006" y="1599757"/>
            <a:ext cx="10757257" cy="458368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14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8381-A7B1-C54A-B6B7-E5F16314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086F4-9543-3847-B735-3BA464E5A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70" y="1592263"/>
            <a:ext cx="5358256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D4B83-7BFD-FF47-B024-8256DB65F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7299" y="1592263"/>
            <a:ext cx="5362575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0137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58F7-B190-F944-A809-0073EEBB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71" y="365125"/>
            <a:ext cx="11214100" cy="7286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51D39-9A56-CB4D-8EFC-D6273A8F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250" y="844777"/>
            <a:ext cx="5138438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C3560-B3C3-0E45-8AE9-EF4CCB96B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73" y="1981200"/>
            <a:ext cx="5135816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C7D86-407D-974C-8520-0492B67B0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44777"/>
            <a:ext cx="5148263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340D-6F33-D34C-9D8B-F73D4A323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981200"/>
            <a:ext cx="5148263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064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2E56-7AA0-9D4D-A0CE-D5ACE086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921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660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or Th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362D50-E4D6-5441-8951-7D71689522CF}"/>
              </a:ext>
            </a:extLst>
          </p:cNvPr>
          <p:cNvSpPr/>
          <p:nvPr userDrawn="1"/>
        </p:nvSpPr>
        <p:spPr>
          <a:xfrm>
            <a:off x="0" y="0"/>
            <a:ext cx="1171257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 Regular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7738" y="2759103"/>
            <a:ext cx="9828212" cy="3496553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 and lower </a:t>
            </a:r>
            <a:br>
              <a:rPr lang="en-US" dirty="0"/>
            </a:br>
            <a:r>
              <a:rPr lang="en-US" dirty="0"/>
              <a:t>quote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4471D494-F440-314A-A10E-9216BA02CB0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9375" y="1093789"/>
            <a:ext cx="1403349" cy="13448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A6A39D-1D86-6F46-ADB1-C944AB67B88F}"/>
              </a:ext>
            </a:extLst>
          </p:cNvPr>
          <p:cNvCxnSpPr/>
          <p:nvPr userDrawn="1"/>
        </p:nvCxnSpPr>
        <p:spPr>
          <a:xfrm flipH="1">
            <a:off x="5159375" y="6265628"/>
            <a:ext cx="14033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5016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224436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69122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604971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2332393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293707" y="1599758"/>
            <a:ext cx="2333981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571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432981-6499-8440-879F-083798A992F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903567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718797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FBFB4F4-21E0-4042-B642-6C57839D3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E21290B-E456-D846-AAB9-03155747DD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01091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E7F1902-25F4-8F45-AAE4-3D2A960D7A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0998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EDA44385-2DBC-704F-A011-24DF0AB681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7994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470793-77F6-3A40-8DBB-14E2F645261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FB3064-8A44-7F4F-BB66-218CF8C8CB1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301090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7FC8F2C-F8AA-3247-A063-E91A468AFC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0099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8432FE-B5E1-FA4C-8405-63BD4DCAC5F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907992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545896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5582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Second level and lower (</a:t>
            </a:r>
            <a:r>
              <a:rPr lang="en-US" dirty="0" err="1"/>
              <a:t>subheader</a:t>
            </a:r>
            <a:r>
              <a:rPr lang="en-US" dirty="0"/>
              <a:t> if you have five blocks)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7070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7665" y="1599758"/>
            <a:ext cx="3048359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07665" y="4132501"/>
            <a:ext cx="3048360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DA9F76-19E2-7848-9F8A-DF4239818793}"/>
              </a:ext>
            </a:extLst>
          </p:cNvPr>
          <p:cNvGrpSpPr/>
          <p:nvPr userDrawn="1"/>
        </p:nvGrpSpPr>
        <p:grpSpPr>
          <a:xfrm>
            <a:off x="479056" y="1592262"/>
            <a:ext cx="10766065" cy="2181451"/>
            <a:chOff x="479056" y="1592263"/>
            <a:chExt cx="10766065" cy="116089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16E6000-9670-804A-9C5F-D217EDAE4F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EEC813-5B4D-554F-BA4A-1F07529550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0A11A2-4304-644B-8C8B-5912DC2432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CF34F8-9CFE-E94F-BC62-E6B131DABB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7FFD1B-3B57-F244-8179-0958677B90FE}"/>
              </a:ext>
            </a:extLst>
          </p:cNvPr>
          <p:cNvGrpSpPr/>
          <p:nvPr userDrawn="1"/>
        </p:nvGrpSpPr>
        <p:grpSpPr>
          <a:xfrm>
            <a:off x="479056" y="4120777"/>
            <a:ext cx="10766065" cy="2181451"/>
            <a:chOff x="479056" y="1592263"/>
            <a:chExt cx="10766065" cy="116089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119063-B300-054C-91C3-05B8109928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12116F5-CBC9-ED4C-943F-3C234BEE13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1C06347-B86F-974E-A69B-BEEBF15354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8F1F16-C9B6-1B4F-874E-3F127C173B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7938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31693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969121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7766329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150290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B267D3F-FE69-7B48-8836-0A2C698CA9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009A61-2BE6-0E45-AB6B-D359576DDC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951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09E7B413-ABF2-844B-B062-036AC90AB8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951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0D7297-41E1-A144-9A85-14C86D5BB04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7855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28BA5CAF-B784-9244-B1AA-98A534B2B8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7855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05072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6" y="4056744"/>
            <a:ext cx="5140681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96000" y="4056744"/>
            <a:ext cx="5142139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366515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33890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41FB8ABB-D011-AC4A-A34C-702667C620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7889" y="3621315"/>
            <a:ext cx="3744686" cy="26561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9703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49E491D-B703-7441-BED2-E95DBE03E3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55748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3613979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7967887" y="0"/>
            <a:ext cx="374595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2917950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6562725" y="0"/>
            <a:ext cx="515111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032625" y="1599521"/>
            <a:ext cx="4211639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1719392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BA7925-B4C4-1046-A39A-0674E0746DD2}"/>
              </a:ext>
            </a:extLst>
          </p:cNvPr>
          <p:cNvSpPr/>
          <p:nvPr userDrawn="1"/>
        </p:nvSpPr>
        <p:spPr>
          <a:xfrm>
            <a:off x="1" y="0"/>
            <a:ext cx="79663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469628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FC6438-3C24-A14F-9BFC-CD46841D9F9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435976" y="2598873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120A445-097D-1846-B120-CCE57BF9564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35976" y="4728119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A7AFC-E83B-9548-951B-7B22739ED3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3271" y="1599521"/>
            <a:ext cx="7007442" cy="49449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9250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509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70" y="1582060"/>
            <a:ext cx="232613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92263"/>
            <a:ext cx="5616575" cy="31387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7714" y="1582060"/>
            <a:ext cx="233966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C78A69-FF95-9548-B4E7-A349FCE666E8}"/>
              </a:ext>
            </a:extLst>
          </p:cNvPr>
          <p:cNvCxnSpPr>
            <a:cxnSpLocks/>
          </p:cNvCxnSpPr>
          <p:nvPr userDrawn="1"/>
        </p:nvCxnSpPr>
        <p:spPr>
          <a:xfrm flipV="1">
            <a:off x="7032625" y="5136543"/>
            <a:ext cx="0" cy="11366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A8972AC-7DD0-0247-B721-5C90D3BC7D0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251405" y="5122072"/>
            <a:ext cx="3992858" cy="1151169"/>
          </a:xfrm>
        </p:spPr>
        <p:txBody>
          <a:bodyPr>
            <a:norm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1871805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69" y="1582060"/>
            <a:ext cx="2794443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54439" y="1582060"/>
            <a:ext cx="2808286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2780026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4"/>
            <a:ext cx="6083301" cy="46583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03751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5"/>
            <a:ext cx="6083301" cy="239122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4" y="4283242"/>
            <a:ext cx="6083301" cy="232552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62354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55129" y="1530617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341438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32626" y="1341439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2E25E9-7986-DB41-A595-036FDF28378B}"/>
              </a:ext>
            </a:extLst>
          </p:cNvPr>
          <p:cNvCxnSpPr>
            <a:cxnSpLocks/>
          </p:cNvCxnSpPr>
          <p:nvPr userDrawn="1"/>
        </p:nvCxnSpPr>
        <p:spPr>
          <a:xfrm>
            <a:off x="479424" y="1341438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FA8102-8429-194E-9822-4DF4A51A6DB9}"/>
              </a:ext>
            </a:extLst>
          </p:cNvPr>
          <p:cNvCxnSpPr>
            <a:cxnSpLocks/>
          </p:cNvCxnSpPr>
          <p:nvPr userDrawn="1"/>
        </p:nvCxnSpPr>
        <p:spPr>
          <a:xfrm>
            <a:off x="479424" y="2577024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993EB7-C698-8044-906A-19D6820D467E}"/>
              </a:ext>
            </a:extLst>
          </p:cNvPr>
          <p:cNvCxnSpPr>
            <a:cxnSpLocks/>
          </p:cNvCxnSpPr>
          <p:nvPr userDrawn="1"/>
        </p:nvCxnSpPr>
        <p:spPr>
          <a:xfrm>
            <a:off x="479424" y="3812610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36D829-2DE9-CC49-95A2-2E775D19C61A}"/>
              </a:ext>
            </a:extLst>
          </p:cNvPr>
          <p:cNvCxnSpPr>
            <a:cxnSpLocks/>
          </p:cNvCxnSpPr>
          <p:nvPr userDrawn="1"/>
        </p:nvCxnSpPr>
        <p:spPr>
          <a:xfrm>
            <a:off x="479424" y="5048196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83235D-B3B7-844B-AE5F-8BE5E1BE300F}"/>
              </a:ext>
            </a:extLst>
          </p:cNvPr>
          <p:cNvCxnSpPr>
            <a:cxnSpLocks/>
          </p:cNvCxnSpPr>
          <p:nvPr userDrawn="1"/>
        </p:nvCxnSpPr>
        <p:spPr>
          <a:xfrm>
            <a:off x="479424" y="6283783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4A53347A-C7BF-8C41-B75E-05C0A6C7799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55129" y="2778171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64B71A2-1AAC-2445-A98E-B3D54EB08E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588992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29188D7-E1F7-814C-9F2B-77B4F81440C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2626" y="2588993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180E5B8-AF09-9C49-9996-0172B8518DD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55129" y="4004459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A796471-FED7-7F4F-9D92-44FD153D130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9425" y="3815280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3AEC7A9-EF90-D945-9FD4-852E0790423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032626" y="3815281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DE1E0F0E-286C-C447-8682-329EB4170A1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655129" y="5244924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47939DC-034E-FC45-8049-B9DC258BB97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055745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7B7BDEA2-8758-914D-9AC2-B74F93D8816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626" y="5055746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0985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13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27689" y="1247502"/>
            <a:ext cx="5148262" cy="50030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72553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91447A-7607-634B-8673-116970492860}"/>
              </a:ext>
            </a:extLst>
          </p:cNvPr>
          <p:cNvSpPr/>
          <p:nvPr userDrawn="1"/>
        </p:nvSpPr>
        <p:spPr>
          <a:xfrm>
            <a:off x="4236411" y="0"/>
            <a:ext cx="7955589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37442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grpSp>
        <p:nvGrpSpPr>
          <p:cNvPr id="12" name="Group 30">
            <a:extLst>
              <a:ext uri="{FF2B5EF4-FFF2-40B4-BE49-F238E27FC236}">
                <a16:creationId xmlns:a16="http://schemas.microsoft.com/office/drawing/2014/main" id="{57F97A7C-9CE4-1A48-BDEF-EE9D23E42C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815072" y="2471416"/>
            <a:ext cx="4376928" cy="4386584"/>
            <a:chOff x="4962525" y="2666999"/>
            <a:chExt cx="4181475" cy="4191001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2E3F741-7E48-234D-878D-DC94DA0BD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0666" y="2666999"/>
              <a:ext cx="1473334" cy="2710972"/>
            </a:xfrm>
            <a:custGeom>
              <a:avLst/>
              <a:gdLst/>
              <a:ahLst/>
              <a:cxnLst>
                <a:cxn ang="0">
                  <a:pos x="928" y="0"/>
                </a:cxn>
                <a:cxn ang="0">
                  <a:pos x="928" y="1525"/>
                </a:cxn>
                <a:cxn ang="0">
                  <a:pos x="856" y="1526"/>
                </a:cxn>
                <a:cxn ang="0">
                  <a:pos x="787" y="1530"/>
                </a:cxn>
                <a:cxn ang="0">
                  <a:pos x="718" y="1535"/>
                </a:cxn>
                <a:cxn ang="0">
                  <a:pos x="652" y="1543"/>
                </a:cxn>
                <a:cxn ang="0">
                  <a:pos x="587" y="1551"/>
                </a:cxn>
                <a:cxn ang="0">
                  <a:pos x="524" y="1562"/>
                </a:cxn>
                <a:cxn ang="0">
                  <a:pos x="464" y="1573"/>
                </a:cxn>
                <a:cxn ang="0">
                  <a:pos x="407" y="1585"/>
                </a:cxn>
                <a:cxn ang="0">
                  <a:pos x="353" y="1598"/>
                </a:cxn>
                <a:cxn ang="0">
                  <a:pos x="301" y="1610"/>
                </a:cxn>
                <a:cxn ang="0">
                  <a:pos x="252" y="1624"/>
                </a:cxn>
                <a:cxn ang="0">
                  <a:pos x="208" y="1636"/>
                </a:cxn>
                <a:cxn ang="0">
                  <a:pos x="167" y="1649"/>
                </a:cxn>
                <a:cxn ang="0">
                  <a:pos x="129" y="1661"/>
                </a:cxn>
                <a:cxn ang="0">
                  <a:pos x="97" y="1672"/>
                </a:cxn>
                <a:cxn ang="0">
                  <a:pos x="68" y="1682"/>
                </a:cxn>
                <a:cxn ang="0">
                  <a:pos x="45" y="1691"/>
                </a:cxn>
                <a:cxn ang="0">
                  <a:pos x="25" y="1699"/>
                </a:cxn>
                <a:cxn ang="0">
                  <a:pos x="11" y="1704"/>
                </a:cxn>
                <a:cxn ang="0">
                  <a:pos x="4" y="1707"/>
                </a:cxn>
                <a:cxn ang="0">
                  <a:pos x="0" y="1708"/>
                </a:cxn>
                <a:cxn ang="0">
                  <a:pos x="928" y="0"/>
                </a:cxn>
              </a:cxnLst>
              <a:rect l="0" t="0" r="r" b="b"/>
              <a:pathLst>
                <a:path w="928" h="1708">
                  <a:moveTo>
                    <a:pt x="928" y="0"/>
                  </a:moveTo>
                  <a:lnTo>
                    <a:pt x="928" y="1525"/>
                  </a:lnTo>
                  <a:lnTo>
                    <a:pt x="856" y="1526"/>
                  </a:lnTo>
                  <a:lnTo>
                    <a:pt x="787" y="1530"/>
                  </a:lnTo>
                  <a:lnTo>
                    <a:pt x="718" y="1535"/>
                  </a:lnTo>
                  <a:lnTo>
                    <a:pt x="652" y="1543"/>
                  </a:lnTo>
                  <a:lnTo>
                    <a:pt x="587" y="1551"/>
                  </a:lnTo>
                  <a:lnTo>
                    <a:pt x="524" y="1562"/>
                  </a:lnTo>
                  <a:lnTo>
                    <a:pt x="464" y="1573"/>
                  </a:lnTo>
                  <a:lnTo>
                    <a:pt x="407" y="1585"/>
                  </a:lnTo>
                  <a:lnTo>
                    <a:pt x="353" y="1598"/>
                  </a:lnTo>
                  <a:lnTo>
                    <a:pt x="301" y="1610"/>
                  </a:lnTo>
                  <a:lnTo>
                    <a:pt x="252" y="1624"/>
                  </a:lnTo>
                  <a:lnTo>
                    <a:pt x="208" y="1636"/>
                  </a:lnTo>
                  <a:lnTo>
                    <a:pt x="167" y="1649"/>
                  </a:lnTo>
                  <a:lnTo>
                    <a:pt x="129" y="1661"/>
                  </a:lnTo>
                  <a:lnTo>
                    <a:pt x="97" y="1672"/>
                  </a:lnTo>
                  <a:lnTo>
                    <a:pt x="68" y="1682"/>
                  </a:lnTo>
                  <a:lnTo>
                    <a:pt x="45" y="1691"/>
                  </a:lnTo>
                  <a:lnTo>
                    <a:pt x="25" y="1699"/>
                  </a:lnTo>
                  <a:lnTo>
                    <a:pt x="11" y="1704"/>
                  </a:lnTo>
                  <a:lnTo>
                    <a:pt x="4" y="1707"/>
                  </a:lnTo>
                  <a:lnTo>
                    <a:pt x="0" y="1708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021498D-C696-BF45-812E-D1CFC2198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525" y="5380607"/>
              <a:ext cx="2706823" cy="1477393"/>
            </a:xfrm>
            <a:custGeom>
              <a:avLst/>
              <a:gdLst/>
              <a:ahLst/>
              <a:cxnLst>
                <a:cxn ang="0">
                  <a:pos x="1705" y="0"/>
                </a:cxn>
                <a:cxn ang="0">
                  <a:pos x="1704" y="4"/>
                </a:cxn>
                <a:cxn ang="0">
                  <a:pos x="1701" y="12"/>
                </a:cxn>
                <a:cxn ang="0">
                  <a:pos x="1696" y="27"/>
                </a:cxn>
                <a:cxn ang="0">
                  <a:pos x="1689" y="47"/>
                </a:cxn>
                <a:cxn ang="0">
                  <a:pos x="1681" y="72"/>
                </a:cxn>
                <a:cxn ang="0">
                  <a:pos x="1672" y="101"/>
                </a:cxn>
                <a:cxn ang="0">
                  <a:pos x="1662" y="135"/>
                </a:cxn>
                <a:cxn ang="0">
                  <a:pos x="1650" y="173"/>
                </a:cxn>
                <a:cxn ang="0">
                  <a:pos x="1638" y="214"/>
                </a:cxn>
                <a:cxn ang="0">
                  <a:pos x="1626" y="258"/>
                </a:cxn>
                <a:cxn ang="0">
                  <a:pos x="1613" y="306"/>
                </a:cxn>
                <a:cxn ang="0">
                  <a:pos x="1602" y="355"/>
                </a:cxn>
                <a:cxn ang="0">
                  <a:pos x="1590" y="407"/>
                </a:cxn>
                <a:cxn ang="0">
                  <a:pos x="1566" y="518"/>
                </a:cxn>
                <a:cxn ang="0">
                  <a:pos x="1556" y="575"/>
                </a:cxn>
                <a:cxn ang="0">
                  <a:pos x="1546" y="634"/>
                </a:cxn>
                <a:cxn ang="0">
                  <a:pos x="1539" y="693"/>
                </a:cxn>
                <a:cxn ang="0">
                  <a:pos x="1532" y="753"/>
                </a:cxn>
                <a:cxn ang="0">
                  <a:pos x="1527" y="811"/>
                </a:cxn>
                <a:cxn ang="0">
                  <a:pos x="1524" y="871"/>
                </a:cxn>
                <a:cxn ang="0">
                  <a:pos x="1523" y="929"/>
                </a:cxn>
                <a:cxn ang="0">
                  <a:pos x="1523" y="931"/>
                </a:cxn>
                <a:cxn ang="0">
                  <a:pos x="0" y="929"/>
                </a:cxn>
                <a:cxn ang="0">
                  <a:pos x="1705" y="0"/>
                </a:cxn>
              </a:cxnLst>
              <a:rect l="0" t="0" r="r" b="b"/>
              <a:pathLst>
                <a:path w="1705" h="931">
                  <a:moveTo>
                    <a:pt x="1705" y="0"/>
                  </a:moveTo>
                  <a:lnTo>
                    <a:pt x="1704" y="4"/>
                  </a:lnTo>
                  <a:lnTo>
                    <a:pt x="1701" y="12"/>
                  </a:lnTo>
                  <a:lnTo>
                    <a:pt x="1696" y="27"/>
                  </a:lnTo>
                  <a:lnTo>
                    <a:pt x="1689" y="47"/>
                  </a:lnTo>
                  <a:lnTo>
                    <a:pt x="1681" y="72"/>
                  </a:lnTo>
                  <a:lnTo>
                    <a:pt x="1672" y="101"/>
                  </a:lnTo>
                  <a:lnTo>
                    <a:pt x="1662" y="135"/>
                  </a:lnTo>
                  <a:lnTo>
                    <a:pt x="1650" y="173"/>
                  </a:lnTo>
                  <a:lnTo>
                    <a:pt x="1638" y="214"/>
                  </a:lnTo>
                  <a:lnTo>
                    <a:pt x="1626" y="258"/>
                  </a:lnTo>
                  <a:lnTo>
                    <a:pt x="1613" y="306"/>
                  </a:lnTo>
                  <a:lnTo>
                    <a:pt x="1602" y="355"/>
                  </a:lnTo>
                  <a:lnTo>
                    <a:pt x="1590" y="407"/>
                  </a:lnTo>
                  <a:lnTo>
                    <a:pt x="1566" y="518"/>
                  </a:lnTo>
                  <a:lnTo>
                    <a:pt x="1556" y="575"/>
                  </a:lnTo>
                  <a:lnTo>
                    <a:pt x="1546" y="634"/>
                  </a:lnTo>
                  <a:lnTo>
                    <a:pt x="1539" y="693"/>
                  </a:lnTo>
                  <a:lnTo>
                    <a:pt x="1532" y="753"/>
                  </a:lnTo>
                  <a:lnTo>
                    <a:pt x="1527" y="811"/>
                  </a:lnTo>
                  <a:lnTo>
                    <a:pt x="1524" y="871"/>
                  </a:lnTo>
                  <a:lnTo>
                    <a:pt x="1523" y="929"/>
                  </a:lnTo>
                  <a:lnTo>
                    <a:pt x="1523" y="931"/>
                  </a:lnTo>
                  <a:lnTo>
                    <a:pt x="0" y="929"/>
                  </a:lnTo>
                  <a:lnTo>
                    <a:pt x="170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43717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F91447A-7607-634B-8673-116970492860}"/>
              </a:ext>
            </a:extLst>
          </p:cNvPr>
          <p:cNvSpPr/>
          <p:nvPr userDrawn="1"/>
        </p:nvSpPr>
        <p:spPr>
          <a:xfrm>
            <a:off x="4236411" y="0"/>
            <a:ext cx="7955589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70208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8297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ED2C98-C5E9-7946-B3CC-4070449E4130}"/>
              </a:ext>
            </a:extLst>
          </p:cNvPr>
          <p:cNvSpPr/>
          <p:nvPr userDrawn="1"/>
        </p:nvSpPr>
        <p:spPr>
          <a:xfrm>
            <a:off x="0" y="0"/>
            <a:ext cx="7506493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90000"/>
                  <a:lumOff val="10000"/>
                </a:schemeClr>
              </a:gs>
              <a:gs pos="59000">
                <a:schemeClr val="accent5"/>
              </a:gs>
              <a:gs pos="83000">
                <a:schemeClr val="accent5"/>
              </a:gs>
              <a:gs pos="100000">
                <a:schemeClr val="accent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D943C6-2948-A143-8779-4AC3F3A3748B}"/>
              </a:ext>
            </a:extLst>
          </p:cNvPr>
          <p:cNvSpPr/>
          <p:nvPr userDrawn="1"/>
        </p:nvSpPr>
        <p:spPr>
          <a:xfrm>
            <a:off x="7500938" y="0"/>
            <a:ext cx="46910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2118509"/>
            <a:ext cx="5614987" cy="1586829"/>
          </a:xfrm>
        </p:spPr>
        <p:txBody>
          <a:bodyPr anchor="b">
            <a:noAutofit/>
          </a:bodyPr>
          <a:lstStyle>
            <a:lvl1pPr marL="0" indent="0" algn="l">
              <a:buFont typeface="+mj-lt"/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Sample Text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6185" y="5290078"/>
            <a:ext cx="7503350" cy="102102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C73A5D-CAA9-F748-9FE9-7A6174D1BEAE}"/>
              </a:ext>
            </a:extLst>
          </p:cNvPr>
          <p:cNvCxnSpPr>
            <a:cxnSpLocks/>
          </p:cNvCxnSpPr>
          <p:nvPr userDrawn="1"/>
        </p:nvCxnSpPr>
        <p:spPr>
          <a:xfrm>
            <a:off x="947738" y="4735576"/>
            <a:ext cx="6553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DA0EE-1F6E-4C42-B85E-74B7AC8EF7B5}"/>
              </a:ext>
            </a:extLst>
          </p:cNvPr>
          <p:cNvCxnSpPr>
            <a:cxnSpLocks/>
          </p:cNvCxnSpPr>
          <p:nvPr userDrawn="1"/>
        </p:nvCxnSpPr>
        <p:spPr>
          <a:xfrm>
            <a:off x="7500938" y="4470400"/>
            <a:ext cx="375843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E6794A6-29DF-A344-BDEC-F71D8C4194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2" y="308854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9397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Only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82F6-8F66-42C4-A87D-275812D533C5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52401"/>
            <a:ext cx="10972800" cy="3048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382" cap="all" baseline="0">
                <a:solidFill>
                  <a:srgbClr val="CC6633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Subtitle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14400"/>
            <a:ext cx="12192000" cy="1828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</a:schemeClr>
              </a:gs>
              <a:gs pos="95000">
                <a:schemeClr val="bg1">
                  <a:lumMod val="8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411" tIns="45206" rIns="90411" bIns="45206" anchor="ctr"/>
          <a:lstStyle/>
          <a:p>
            <a:pPr algn="ctr" defTabSz="842276">
              <a:defRPr/>
            </a:pPr>
            <a:endParaRPr lang="en-US" sz="1659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891082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46E06-36A3-A967-9C7A-A1A191E3C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5DA3E-8F25-C4B8-AE40-BB54CB539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79BE10A-8A97-95B5-F666-3F3ECA3F3A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446370" y="6310976"/>
            <a:ext cx="5388889" cy="365645"/>
          </a:xfrm>
          <a:prstGeom prst="rect">
            <a:avLst/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A8EF760-BF6D-5157-A088-B1B076B6F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527893" y="6310976"/>
            <a:ext cx="1053876" cy="365645"/>
          </a:xfrm>
          <a:prstGeom prst="rect">
            <a:avLst/>
          </a:prstGeom>
        </p:spPr>
        <p:txBody>
          <a:bodyPr/>
          <a:lstStyle/>
          <a:p>
            <a:fld id="{924C2894-8B28-47C9-8A8B-E8EFBEE915A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91782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318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3972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74301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9485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147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071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968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124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8896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482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8213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21E13-7E45-0949-A69E-7D97431EA0A2}"/>
              </a:ext>
            </a:extLst>
          </p:cNvPr>
          <p:cNvSpPr/>
          <p:nvPr userDrawn="1"/>
        </p:nvSpPr>
        <p:spPr>
          <a:xfrm>
            <a:off x="4691063" y="0"/>
            <a:ext cx="7500937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9407B-AEE7-DF45-98B6-EB09E2017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7688" y="2092549"/>
            <a:ext cx="6084887" cy="2750431"/>
          </a:xfrm>
        </p:spPr>
        <p:txBody>
          <a:bodyPr anchor="b"/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7688" y="5217461"/>
            <a:ext cx="4468450" cy="1165646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ru-RU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D69DFB5-9698-6042-8C50-6660FF6087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BB95DD8-9DF3-1744-9219-070A43C21F55}"/>
              </a:ext>
            </a:extLst>
          </p:cNvPr>
          <p:cNvCxnSpPr>
            <a:cxnSpLocks/>
          </p:cNvCxnSpPr>
          <p:nvPr userDrawn="1"/>
        </p:nvCxnSpPr>
        <p:spPr>
          <a:xfrm>
            <a:off x="5627688" y="4924269"/>
            <a:ext cx="608488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CAA2A26C-1293-4142-9834-7D7E5E92C7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691064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72274AE4-DBE6-8A4F-BCA4-30E049F5E0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387584" y="6056026"/>
            <a:ext cx="1324992" cy="327081"/>
          </a:xfrm>
          <a:ln w="9525">
            <a:solidFill>
              <a:schemeClr val="accent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Month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05298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78979A-A09E-2F4A-93F1-8E8B4219D3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781E02-E320-9040-9F89-B90925F09530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2800" spc="-150" dirty="0">
                <a:solidFill>
                  <a:schemeClr val="tx2"/>
                </a:solidFill>
              </a:rPr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33487787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3287714" y="0"/>
            <a:ext cx="8424862" cy="6858000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59000">
                <a:schemeClr val="bg2">
                  <a:lumMod val="90000"/>
                </a:schemeClr>
              </a:gs>
              <a:gs pos="83000">
                <a:schemeClr val="bg2">
                  <a:lumMod val="90000"/>
                </a:schemeClr>
              </a:gs>
              <a:gs pos="100000">
                <a:schemeClr val="bg2">
                  <a:lumMod val="9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6E73BFD-0EC1-9E40-8E76-C7926ABECD26}"/>
              </a:ext>
            </a:extLst>
          </p:cNvPr>
          <p:cNvSpPr txBox="1">
            <a:spLocks/>
          </p:cNvSpPr>
          <p:nvPr userDrawn="1"/>
        </p:nvSpPr>
        <p:spPr>
          <a:xfrm>
            <a:off x="-136457" y="105122"/>
            <a:ext cx="10680994" cy="2750431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800" spc="-150" dirty="0">
                <a:solidFill>
                  <a:schemeClr val="tx2"/>
                </a:solidFill>
              </a:rPr>
              <a:t> Agenda</a:t>
            </a:r>
            <a:endParaRPr lang="ru-RU" sz="12800" spc="-150" dirty="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7D2A2CA-E89D-BA47-8BFA-7EC488A16C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24338" y="2960674"/>
            <a:ext cx="6551612" cy="3422433"/>
          </a:xfrm>
        </p:spPr>
        <p:txBody>
          <a:bodyPr anchor="ctr">
            <a:normAutofit/>
          </a:bodyPr>
          <a:lstStyle>
            <a:lvl1pPr marL="342900" indent="-342900" algn="l">
              <a:lnSpc>
                <a:spcPct val="100000"/>
              </a:lnSpc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731509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0"/>
            <a:ext cx="1171257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E3D8012-FC47-8744-A34F-7E52B9CC20F5}"/>
              </a:ext>
            </a:extLst>
          </p:cNvPr>
          <p:cNvGrpSpPr/>
          <p:nvPr userDrawn="1"/>
        </p:nvGrpSpPr>
        <p:grpSpPr>
          <a:xfrm>
            <a:off x="4900369" y="1"/>
            <a:ext cx="6840543" cy="6866676"/>
            <a:chOff x="4900369" y="1"/>
            <a:chExt cx="6840543" cy="6866676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04F0E82-1502-614A-AAC8-B3F5DEA8DE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FD796C-27EA-9B4C-9062-2D7ACF3D7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67663" y="1093788"/>
            <a:ext cx="3276599" cy="5205412"/>
          </a:xfrm>
        </p:spPr>
        <p:txBody>
          <a:bodyPr anchor="t">
            <a:normAutofit/>
          </a:bodyPr>
          <a:lstStyle>
            <a:lvl1pPr marL="342900" indent="-342900" algn="l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  <a:defRPr sz="10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Agenda style</a:t>
            </a:r>
            <a:endParaRPr lang="ru-RU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DE76B95-0B2F-6E4D-8A28-DBB809DC1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8" y="2151087"/>
            <a:ext cx="6084885" cy="445767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C43E4E-CB39-0B43-9425-94BD6060CB7E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EBF7E8-8DFE-BB4E-8ECA-76EE0F2ACE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47738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309894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40FBC6-085B-0845-A518-CC0A32A973EA}"/>
              </a:ext>
            </a:extLst>
          </p:cNvPr>
          <p:cNvSpPr/>
          <p:nvPr userDrawn="1"/>
        </p:nvSpPr>
        <p:spPr>
          <a:xfrm>
            <a:off x="0" y="-1"/>
            <a:ext cx="8435975" cy="63082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1752F1-3AEF-6545-96D5-53F7049F2610}"/>
              </a:ext>
            </a:extLst>
          </p:cNvPr>
          <p:cNvGrpSpPr/>
          <p:nvPr userDrawn="1"/>
        </p:nvGrpSpPr>
        <p:grpSpPr>
          <a:xfrm>
            <a:off x="1595432" y="-8676"/>
            <a:ext cx="6840543" cy="6866676"/>
            <a:chOff x="4900369" y="1"/>
            <a:chExt cx="6840543" cy="6866676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6DE75CDE-E2CC-204F-8A74-1CF2290B3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53" y="1"/>
              <a:ext cx="4229959" cy="5567905"/>
            </a:xfrm>
            <a:custGeom>
              <a:avLst/>
              <a:gdLst>
                <a:gd name="connsiteX0" fmla="*/ 3328832 w 4229959"/>
                <a:gd name="connsiteY0" fmla="*/ 0 h 5567905"/>
                <a:gd name="connsiteX1" fmla="*/ 4229959 w 4229959"/>
                <a:gd name="connsiteY1" fmla="*/ 0 h 5567905"/>
                <a:gd name="connsiteX2" fmla="*/ 4229959 w 4229959"/>
                <a:gd name="connsiteY2" fmla="*/ 4657228 h 5567905"/>
                <a:gd name="connsiteX3" fmla="*/ 4128394 w 4229959"/>
                <a:gd name="connsiteY3" fmla="*/ 4663917 h 5567905"/>
                <a:gd name="connsiteX4" fmla="*/ 3748904 w 4229959"/>
                <a:gd name="connsiteY4" fmla="*/ 4705720 h 5567905"/>
                <a:gd name="connsiteX5" fmla="*/ 3375163 w 4229959"/>
                <a:gd name="connsiteY5" fmla="*/ 4747523 h 5567905"/>
                <a:gd name="connsiteX6" fmla="*/ 3012923 w 4229959"/>
                <a:gd name="connsiteY6" fmla="*/ 4805002 h 5567905"/>
                <a:gd name="connsiteX7" fmla="*/ 2667931 w 4229959"/>
                <a:gd name="connsiteY7" fmla="*/ 4862481 h 5567905"/>
                <a:gd name="connsiteX8" fmla="*/ 2340190 w 4229959"/>
                <a:gd name="connsiteY8" fmla="*/ 4925185 h 5567905"/>
                <a:gd name="connsiteX9" fmla="*/ 2029698 w 4229959"/>
                <a:gd name="connsiteY9" fmla="*/ 4993115 h 5567905"/>
                <a:gd name="connsiteX10" fmla="*/ 1730706 w 4229959"/>
                <a:gd name="connsiteY10" fmla="*/ 5055819 h 5567905"/>
                <a:gd name="connsiteX11" fmla="*/ 1448963 w 4229959"/>
                <a:gd name="connsiteY11" fmla="*/ 5128974 h 5567905"/>
                <a:gd name="connsiteX12" fmla="*/ 1195969 w 4229959"/>
                <a:gd name="connsiteY12" fmla="*/ 5191679 h 5567905"/>
                <a:gd name="connsiteX13" fmla="*/ 960225 w 4229959"/>
                <a:gd name="connsiteY13" fmla="*/ 5259608 h 5567905"/>
                <a:gd name="connsiteX14" fmla="*/ 741731 w 4229959"/>
                <a:gd name="connsiteY14" fmla="*/ 5322313 h 5567905"/>
                <a:gd name="connsiteX15" fmla="*/ 557736 w 4229959"/>
                <a:gd name="connsiteY15" fmla="*/ 5379792 h 5567905"/>
                <a:gd name="connsiteX16" fmla="*/ 390990 w 4229959"/>
                <a:gd name="connsiteY16" fmla="*/ 5432045 h 5567905"/>
                <a:gd name="connsiteX17" fmla="*/ 258744 w 4229959"/>
                <a:gd name="connsiteY17" fmla="*/ 5479074 h 5567905"/>
                <a:gd name="connsiteX18" fmla="*/ 143747 w 4229959"/>
                <a:gd name="connsiteY18" fmla="*/ 5520877 h 5567905"/>
                <a:gd name="connsiteX19" fmla="*/ 63249 w 4229959"/>
                <a:gd name="connsiteY19" fmla="*/ 5547004 h 5567905"/>
                <a:gd name="connsiteX20" fmla="*/ 23000 w 4229959"/>
                <a:gd name="connsiteY20" fmla="*/ 5562680 h 5567905"/>
                <a:gd name="connsiteX21" fmla="*/ 0 w 4229959"/>
                <a:gd name="connsiteY21" fmla="*/ 5567905 h 5567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9959" h="5567905">
                  <a:moveTo>
                    <a:pt x="3328832" y="0"/>
                  </a:moveTo>
                  <a:lnTo>
                    <a:pt x="4229959" y="0"/>
                  </a:lnTo>
                  <a:lnTo>
                    <a:pt x="4229959" y="4657228"/>
                  </a:lnTo>
                  <a:lnTo>
                    <a:pt x="4128394" y="4663917"/>
                  </a:lnTo>
                  <a:lnTo>
                    <a:pt x="3748904" y="4705720"/>
                  </a:lnTo>
                  <a:lnTo>
                    <a:pt x="3375163" y="4747523"/>
                  </a:lnTo>
                  <a:lnTo>
                    <a:pt x="3012923" y="4805002"/>
                  </a:lnTo>
                  <a:lnTo>
                    <a:pt x="2667931" y="4862481"/>
                  </a:lnTo>
                  <a:lnTo>
                    <a:pt x="2340190" y="4925185"/>
                  </a:lnTo>
                  <a:lnTo>
                    <a:pt x="2029698" y="4993115"/>
                  </a:lnTo>
                  <a:lnTo>
                    <a:pt x="1730706" y="5055819"/>
                  </a:lnTo>
                  <a:lnTo>
                    <a:pt x="1448963" y="5128974"/>
                  </a:lnTo>
                  <a:lnTo>
                    <a:pt x="1195969" y="5191679"/>
                  </a:lnTo>
                  <a:lnTo>
                    <a:pt x="960225" y="5259608"/>
                  </a:lnTo>
                  <a:lnTo>
                    <a:pt x="741731" y="5322313"/>
                  </a:lnTo>
                  <a:lnTo>
                    <a:pt x="557736" y="5379792"/>
                  </a:lnTo>
                  <a:lnTo>
                    <a:pt x="390990" y="5432045"/>
                  </a:lnTo>
                  <a:lnTo>
                    <a:pt x="258744" y="5479074"/>
                  </a:lnTo>
                  <a:lnTo>
                    <a:pt x="143747" y="5520877"/>
                  </a:lnTo>
                  <a:lnTo>
                    <a:pt x="63249" y="5547004"/>
                  </a:lnTo>
                  <a:lnTo>
                    <a:pt x="23000" y="5562680"/>
                  </a:lnTo>
                  <a:lnTo>
                    <a:pt x="0" y="5567905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378AC5E-B598-3D47-A58A-2900FDA8E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0369" y="5576583"/>
              <a:ext cx="2605811" cy="1290094"/>
            </a:xfrm>
            <a:custGeom>
              <a:avLst/>
              <a:gdLst>
                <a:gd name="connsiteX0" fmla="*/ 2605811 w 2605811"/>
                <a:gd name="connsiteY0" fmla="*/ 0 h 1290094"/>
                <a:gd name="connsiteX1" fmla="*/ 2600061 w 2605811"/>
                <a:gd name="connsiteY1" fmla="*/ 20897 h 1290094"/>
                <a:gd name="connsiteX2" fmla="*/ 2582813 w 2605811"/>
                <a:gd name="connsiteY2" fmla="*/ 62692 h 1290094"/>
                <a:gd name="connsiteX3" fmla="*/ 2554064 w 2605811"/>
                <a:gd name="connsiteY3" fmla="*/ 141056 h 1290094"/>
                <a:gd name="connsiteX4" fmla="*/ 2513817 w 2605811"/>
                <a:gd name="connsiteY4" fmla="*/ 245541 h 1290094"/>
                <a:gd name="connsiteX5" fmla="*/ 2467820 w 2605811"/>
                <a:gd name="connsiteY5" fmla="*/ 376148 h 1290094"/>
                <a:gd name="connsiteX6" fmla="*/ 2416074 w 2605811"/>
                <a:gd name="connsiteY6" fmla="*/ 527652 h 1290094"/>
                <a:gd name="connsiteX7" fmla="*/ 2358577 w 2605811"/>
                <a:gd name="connsiteY7" fmla="*/ 705277 h 1290094"/>
                <a:gd name="connsiteX8" fmla="*/ 2289582 w 2605811"/>
                <a:gd name="connsiteY8" fmla="*/ 903800 h 1290094"/>
                <a:gd name="connsiteX9" fmla="*/ 2220587 w 2605811"/>
                <a:gd name="connsiteY9" fmla="*/ 1117995 h 1290094"/>
                <a:gd name="connsiteX10" fmla="*/ 2168931 w 2605811"/>
                <a:gd name="connsiteY10" fmla="*/ 1290094 h 1290094"/>
                <a:gd name="connsiteX11" fmla="*/ 0 w 2605811"/>
                <a:gd name="connsiteY11" fmla="*/ 1290094 h 129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605811" h="1290094">
                  <a:moveTo>
                    <a:pt x="2605811" y="0"/>
                  </a:moveTo>
                  <a:lnTo>
                    <a:pt x="2600061" y="20897"/>
                  </a:lnTo>
                  <a:lnTo>
                    <a:pt x="2582813" y="62692"/>
                  </a:lnTo>
                  <a:lnTo>
                    <a:pt x="2554064" y="141056"/>
                  </a:lnTo>
                  <a:lnTo>
                    <a:pt x="2513817" y="245541"/>
                  </a:lnTo>
                  <a:lnTo>
                    <a:pt x="2467820" y="376148"/>
                  </a:lnTo>
                  <a:lnTo>
                    <a:pt x="2416074" y="527652"/>
                  </a:lnTo>
                  <a:lnTo>
                    <a:pt x="2358577" y="705277"/>
                  </a:lnTo>
                  <a:lnTo>
                    <a:pt x="2289582" y="903800"/>
                  </a:lnTo>
                  <a:lnTo>
                    <a:pt x="2220587" y="1117995"/>
                  </a:lnTo>
                  <a:lnTo>
                    <a:pt x="2168931" y="1290094"/>
                  </a:lnTo>
                  <a:lnTo>
                    <a:pt x="0" y="1290094"/>
                  </a:lnTo>
                  <a:close/>
                </a:path>
              </a:pathLst>
            </a:custGeom>
            <a:solidFill>
              <a:schemeClr val="bg1">
                <a:alpha val="1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>
              <a:noAutofit/>
            </a:bodyPr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36533E7A-05CB-EC45-AD54-AB236AF5377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35975" y="0"/>
            <a:ext cx="3276600" cy="68580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EBDD422-8594-8A43-BE23-C12198FA2E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7739" y="2151087"/>
            <a:ext cx="6558442" cy="4157115"/>
          </a:xfrm>
        </p:spPr>
        <p:txBody>
          <a:bodyPr anchor="ctr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2978837-6B41-A64E-8885-0D3A9B5AB131}"/>
              </a:ext>
            </a:extLst>
          </p:cNvPr>
          <p:cNvCxnSpPr>
            <a:cxnSpLocks/>
          </p:cNvCxnSpPr>
          <p:nvPr userDrawn="1"/>
        </p:nvCxnSpPr>
        <p:spPr>
          <a:xfrm>
            <a:off x="0" y="2143270"/>
            <a:ext cx="750618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6CACC7B-993A-1C40-A6B0-57CB69925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47739" y="878335"/>
            <a:ext cx="2032000" cy="1999776"/>
          </a:xfrm>
        </p:spPr>
        <p:txBody>
          <a:bodyPr>
            <a:normAutofit/>
          </a:bodyPr>
          <a:lstStyle>
            <a:lvl1pPr marL="0" indent="0">
              <a:buNone/>
              <a:defRPr sz="112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#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400241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006" y="1599757"/>
            <a:ext cx="10757257" cy="458368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398299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38381-A7B1-C54A-B6B7-E5F16314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086F4-9543-3847-B735-3BA464E5A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70" y="1592263"/>
            <a:ext cx="5358256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D4B83-7BFD-FF47-B024-8256DB65F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7299" y="1592263"/>
            <a:ext cx="5362575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26258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558F7-B190-F944-A809-0073EEBB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71" y="365125"/>
            <a:ext cx="11214100" cy="7286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51D39-9A56-CB4D-8EFC-D6273A8F0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250" y="844777"/>
            <a:ext cx="5138438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C3560-B3C3-0E45-8AE9-EF4CCB96B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73" y="1981200"/>
            <a:ext cx="5135816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7C7D86-407D-974C-8520-0492B67B0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44777"/>
            <a:ext cx="5148263" cy="823912"/>
          </a:xfrm>
        </p:spPr>
        <p:txBody>
          <a:bodyPr anchor="b">
            <a:normAutofit/>
          </a:bodyPr>
          <a:lstStyle>
            <a:lvl1pPr marL="0" indent="0">
              <a:buNone/>
              <a:defRPr sz="1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340D-6F33-D34C-9D8B-F73D4A3235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981200"/>
            <a:ext cx="5148263" cy="430348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53735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F2E56-7AA0-9D4D-A0CE-D5ACE086C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24154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9185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_or Th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F26E64F-55CE-4440-918A-3DEF3C6E7770}"/>
              </a:ext>
            </a:extLst>
          </p:cNvPr>
          <p:cNvSpPr/>
          <p:nvPr userDrawn="1"/>
        </p:nvSpPr>
        <p:spPr>
          <a:xfrm>
            <a:off x="1" y="0"/>
            <a:ext cx="11712574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47738" y="2759103"/>
            <a:ext cx="9828212" cy="3496553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level and lower </a:t>
            </a:r>
            <a:br>
              <a:rPr lang="en-US" dirty="0"/>
            </a:br>
            <a:r>
              <a:rPr lang="en-US" dirty="0"/>
              <a:t>quote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4471D494-F440-314A-A10E-9216BA02CB0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159375" y="1093789"/>
            <a:ext cx="1403349" cy="13448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2A6A39D-1D86-6F46-ADB1-C944AB67B88F}"/>
              </a:ext>
            </a:extLst>
          </p:cNvPr>
          <p:cNvCxnSpPr/>
          <p:nvPr userDrawn="1"/>
        </p:nvCxnSpPr>
        <p:spPr>
          <a:xfrm flipH="1">
            <a:off x="5159375" y="6265628"/>
            <a:ext cx="14033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91009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224436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69122" y="1599758"/>
            <a:ext cx="3269018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7473118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2332393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293707" y="1599758"/>
            <a:ext cx="2333981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6571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C432981-6499-8440-879F-083798A992F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903567" y="1599758"/>
            <a:ext cx="2339404" cy="4713956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1470648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FBFB4F4-21E0-4042-B642-6C57839D3A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Picture Placeholder 19">
            <a:extLst>
              <a:ext uri="{FF2B5EF4-FFF2-40B4-BE49-F238E27FC236}">
                <a16:creationId xmlns:a16="http://schemas.microsoft.com/office/drawing/2014/main" id="{3E21290B-E456-D846-AAB9-03155747DD2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301091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E7F1902-25F4-8F45-AAE4-3D2A960D7A0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0998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EDA44385-2DBC-704F-A011-24DF0AB681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7994" y="1606439"/>
            <a:ext cx="2332393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7470793-77F6-3A40-8DBB-14E2F645261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FB3064-8A44-7F4F-BB66-218CF8C8CB1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301090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7FC8F2C-F8AA-3247-A063-E91A468AFC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100997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8432FE-B5E1-FA4C-8405-63BD4DCAC5F5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907992" y="3516845"/>
            <a:ext cx="2332393" cy="298319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585390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3578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Second level and lower (</a:t>
            </a:r>
            <a:r>
              <a:rPr lang="en-US" dirty="0" err="1"/>
              <a:t>subheader</a:t>
            </a:r>
            <a:r>
              <a:rPr lang="en-US" dirty="0"/>
              <a:t> if you have five blocks)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87007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27450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07665" y="1599758"/>
            <a:ext cx="3048359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FDE9A89-4ECD-E54D-BE85-C4DD6048D5E3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24435" y="1599758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6EEA4C-C80C-D04D-901F-9FDF13CB5F0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69121" y="1599758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CFBDCEC-89F2-124D-B3CB-DD960ADE0321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07665" y="4132501"/>
            <a:ext cx="3048360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752D35-A6A1-834D-9A4F-1AA88B65E78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24435" y="4132501"/>
            <a:ext cx="3269018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E2DD01-A5A2-994D-8CD3-ED055C258C52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69121" y="4132501"/>
            <a:ext cx="3033507" cy="217395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4pPr marL="1371600" indent="0">
              <a:buNone/>
              <a:defRPr/>
            </a:lvl4pPr>
            <a:lvl5pPr>
              <a:defRPr sz="1400"/>
            </a:lvl5pPr>
          </a:lstStyle>
          <a:p>
            <a:pPr lvl="0"/>
            <a:r>
              <a:rPr lang="en-US" dirty="0"/>
              <a:t>Fourth level and lower</a:t>
            </a:r>
            <a:endParaRPr lang="ru-RU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DA9F76-19E2-7848-9F8A-DF4239818793}"/>
              </a:ext>
            </a:extLst>
          </p:cNvPr>
          <p:cNvGrpSpPr/>
          <p:nvPr userDrawn="1"/>
        </p:nvGrpSpPr>
        <p:grpSpPr>
          <a:xfrm>
            <a:off x="479056" y="1592262"/>
            <a:ext cx="10766065" cy="2181451"/>
            <a:chOff x="479056" y="1592263"/>
            <a:chExt cx="10766065" cy="116089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16E6000-9670-804A-9C5F-D217EDAE4F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7EEC813-5B4D-554F-BA4A-1F075295504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20A11A2-4304-644B-8C8B-5912DC24323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4CF34F8-9CFE-E94F-BC62-E6B131DABB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D7FFD1B-3B57-F244-8179-0958677B90FE}"/>
              </a:ext>
            </a:extLst>
          </p:cNvPr>
          <p:cNvGrpSpPr/>
          <p:nvPr userDrawn="1"/>
        </p:nvGrpSpPr>
        <p:grpSpPr>
          <a:xfrm>
            <a:off x="479056" y="4120777"/>
            <a:ext cx="10766065" cy="2181451"/>
            <a:chOff x="479056" y="1592263"/>
            <a:chExt cx="10766065" cy="116089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D119063-B300-054C-91C3-05B8109928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056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12116F5-CBC9-ED4C-943F-3C234BEE13A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88230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1C06347-B86F-974E-A69B-BEEBF15354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735945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28F1F16-C9B6-1B4F-874E-3F127C173B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245121" y="1592263"/>
              <a:ext cx="0" cy="116089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736394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26300CD-EB58-C848-B669-2B0829E8B23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231693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969121" y="4056744"/>
            <a:ext cx="3269018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74288336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44869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1502908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7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Picture Placeholder 19">
            <a:extLst>
              <a:ext uri="{FF2B5EF4-FFF2-40B4-BE49-F238E27FC236}">
                <a16:creationId xmlns:a16="http://schemas.microsoft.com/office/drawing/2014/main" id="{7B267D3F-FE69-7B48-8836-0A2C698CA9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7007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009A61-2BE6-0E45-AB6B-D359576DDC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2951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09E7B413-ABF2-844B-B062-036AC90AB87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2951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30D7297-41E1-A144-9A85-14C86D5BB04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978555" y="5029200"/>
            <a:ext cx="3269018" cy="138362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5" name="Picture Placeholder 19">
            <a:extLst>
              <a:ext uri="{FF2B5EF4-FFF2-40B4-BE49-F238E27FC236}">
                <a16:creationId xmlns:a16="http://schemas.microsoft.com/office/drawing/2014/main" id="{28BA5CAF-B784-9244-B1AA-98A534B2B8E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78555" y="3294653"/>
            <a:ext cx="3269018" cy="16197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34087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0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1206605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10757256" cy="2021794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87006" y="4056744"/>
            <a:ext cx="5140681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6C403B-660E-AF4E-84CF-91CB93E2F37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096000" y="4056744"/>
            <a:ext cx="5142139" cy="225697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30796536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33890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13" name="Picture Placeholder 19">
            <a:extLst>
              <a:ext uri="{FF2B5EF4-FFF2-40B4-BE49-F238E27FC236}">
                <a16:creationId xmlns:a16="http://schemas.microsoft.com/office/drawing/2014/main" id="{41FB8ABB-D011-AC4A-A34C-702667C620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67889" y="3621315"/>
            <a:ext cx="3744686" cy="26561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1199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7" name="Picture Placeholder 19">
            <a:extLst>
              <a:ext uri="{FF2B5EF4-FFF2-40B4-BE49-F238E27FC236}">
                <a16:creationId xmlns:a16="http://schemas.microsoft.com/office/drawing/2014/main" id="{249E491D-B703-7441-BED2-E95DBE03E36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67889" y="0"/>
            <a:ext cx="3744686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20515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2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5159646" y="0"/>
            <a:ext cx="280801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41977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7702319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3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7967887" y="0"/>
            <a:ext cx="374595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35270" y="1582060"/>
            <a:ext cx="1865441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1599521"/>
            <a:ext cx="2808288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28092770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4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0126FAA-9FB7-BC48-BE4A-15FCED5623F4}"/>
              </a:ext>
            </a:extLst>
          </p:cNvPr>
          <p:cNvSpPr/>
          <p:nvPr userDrawn="1"/>
        </p:nvSpPr>
        <p:spPr>
          <a:xfrm>
            <a:off x="6562725" y="0"/>
            <a:ext cx="515111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DD0A-7DE0-484D-8C11-AAEB3C4584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7007" y="1599521"/>
            <a:ext cx="4672368" cy="4656136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First level and lower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D8AB34B-A56D-7E45-B254-C398FE084ED2}"/>
              </a:ext>
            </a:extLst>
          </p:cNvPr>
          <p:cNvCxnSpPr/>
          <p:nvPr userDrawn="1"/>
        </p:nvCxnSpPr>
        <p:spPr>
          <a:xfrm>
            <a:off x="5159375" y="1592263"/>
            <a:ext cx="0" cy="526573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032625" y="1599521"/>
            <a:ext cx="4211639" cy="4709130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0142071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5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BA7925-B4C4-1046-A39A-0674E0746DD2}"/>
              </a:ext>
            </a:extLst>
          </p:cNvPr>
          <p:cNvSpPr/>
          <p:nvPr userDrawn="1"/>
        </p:nvSpPr>
        <p:spPr>
          <a:xfrm>
            <a:off x="1" y="0"/>
            <a:ext cx="79663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7007442" cy="728662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5B9A91F-68CD-3645-90CA-96FB8933CEF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435976" y="469628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8FC6438-3C24-A14F-9BFC-CD46841D9F9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435976" y="2598873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120A445-097D-1846-B120-CCE57BF9564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435976" y="4728119"/>
            <a:ext cx="2808288" cy="1816371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Third level and lower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A7AFC-E83B-9548-951B-7B22739ED37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3271" y="1599521"/>
            <a:ext cx="7007442" cy="49449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0871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6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69" y="365126"/>
            <a:ext cx="10750993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70" y="1582060"/>
            <a:ext cx="232613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92263"/>
            <a:ext cx="5616575" cy="31387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7714" y="1582060"/>
            <a:ext cx="2339660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C78A69-FF95-9548-B4E7-A349FCE666E8}"/>
              </a:ext>
            </a:extLst>
          </p:cNvPr>
          <p:cNvCxnSpPr>
            <a:cxnSpLocks/>
          </p:cNvCxnSpPr>
          <p:nvPr userDrawn="1"/>
        </p:nvCxnSpPr>
        <p:spPr>
          <a:xfrm flipV="1">
            <a:off x="7032625" y="5136543"/>
            <a:ext cx="0" cy="113669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A8972AC-7DD0-0247-B721-5C90D3BC7D0E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251405" y="5122072"/>
            <a:ext cx="3992858" cy="1151169"/>
          </a:xfrm>
        </p:spPr>
        <p:txBody>
          <a:bodyPr>
            <a:normAutofit/>
          </a:bodyPr>
          <a:lstStyle>
            <a:lvl1pPr marL="0" indent="0">
              <a:buNone/>
              <a:defRPr sz="1400" b="1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45216377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7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6978A5-77BC-7243-8AD7-DB30F8F4BB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3269" y="1582060"/>
            <a:ext cx="2794443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94F630-2A1B-F44F-8559-58DBA042016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754439" y="1582060"/>
            <a:ext cx="2808286" cy="4673597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Fourth level and lower</a:t>
            </a:r>
          </a:p>
        </p:txBody>
      </p:sp>
    </p:spTree>
    <p:extLst>
      <p:ext uri="{BB962C8B-B14F-4D97-AF65-F5344CB8AC3E}">
        <p14:creationId xmlns:p14="http://schemas.microsoft.com/office/powerpoint/2010/main" val="168162324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8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4"/>
            <a:ext cx="6083301" cy="46583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2285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9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32625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4" y="1592265"/>
            <a:ext cx="6083301" cy="239122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9424" y="4283242"/>
            <a:ext cx="6083301" cy="2325521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546474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0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E5105-7345-5849-979D-0434C999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70" y="365126"/>
            <a:ext cx="6069456" cy="72866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55129" y="1530617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9425" y="1341438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B10CF98-F5D8-9241-BD2A-A6F869BAB6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32626" y="1341439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02E25E9-7986-DB41-A595-036FDF28378B}"/>
              </a:ext>
            </a:extLst>
          </p:cNvPr>
          <p:cNvCxnSpPr>
            <a:cxnSpLocks/>
          </p:cNvCxnSpPr>
          <p:nvPr userDrawn="1"/>
        </p:nvCxnSpPr>
        <p:spPr>
          <a:xfrm>
            <a:off x="479424" y="1341438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FA8102-8429-194E-9822-4DF4A51A6DB9}"/>
              </a:ext>
            </a:extLst>
          </p:cNvPr>
          <p:cNvCxnSpPr>
            <a:cxnSpLocks/>
          </p:cNvCxnSpPr>
          <p:nvPr userDrawn="1"/>
        </p:nvCxnSpPr>
        <p:spPr>
          <a:xfrm>
            <a:off x="479424" y="2577024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993EB7-C698-8044-906A-19D6820D467E}"/>
              </a:ext>
            </a:extLst>
          </p:cNvPr>
          <p:cNvCxnSpPr>
            <a:cxnSpLocks/>
          </p:cNvCxnSpPr>
          <p:nvPr userDrawn="1"/>
        </p:nvCxnSpPr>
        <p:spPr>
          <a:xfrm>
            <a:off x="479424" y="3812610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636D829-2DE9-CC49-95A2-2E775D19C61A}"/>
              </a:ext>
            </a:extLst>
          </p:cNvPr>
          <p:cNvCxnSpPr>
            <a:cxnSpLocks/>
          </p:cNvCxnSpPr>
          <p:nvPr userDrawn="1"/>
        </p:nvCxnSpPr>
        <p:spPr>
          <a:xfrm>
            <a:off x="479424" y="5048196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C83235D-B3B7-844B-AE5F-8BE5E1BE300F}"/>
              </a:ext>
            </a:extLst>
          </p:cNvPr>
          <p:cNvCxnSpPr>
            <a:cxnSpLocks/>
          </p:cNvCxnSpPr>
          <p:nvPr userDrawn="1"/>
        </p:nvCxnSpPr>
        <p:spPr>
          <a:xfrm>
            <a:off x="479424" y="6283783"/>
            <a:ext cx="107648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4A53347A-C7BF-8C41-B75E-05C0A6C7799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55129" y="2778171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64B71A2-1AAC-2445-A98E-B3D54EB08E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79425" y="2588992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C29188D7-E1F7-814C-9F2B-77B4F81440C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032626" y="2588993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E180E5B8-AF09-9C49-9996-0172B8518DD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655129" y="4004459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A796471-FED7-7F4F-9D92-44FD153D130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9425" y="3815280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53AEC7A9-EF90-D945-9FD4-852E0790423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032626" y="3815281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DE1E0F0E-286C-C447-8682-329EB4170A1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655129" y="5244924"/>
            <a:ext cx="881743" cy="85722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Icon</a:t>
            </a:r>
            <a:endParaRPr lang="ru-RU" dirty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147939DC-034E-FC45-8049-B9DC258BB970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79425" y="5055745"/>
            <a:ext cx="4679950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7B7BDEA2-8758-914D-9AC2-B74F93D8816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032626" y="5055746"/>
            <a:ext cx="4211638" cy="1235586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342681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1_Compo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9">
            <a:extLst>
              <a:ext uri="{FF2B5EF4-FFF2-40B4-BE49-F238E27FC236}">
                <a16:creationId xmlns:a16="http://schemas.microsoft.com/office/drawing/2014/main" id="{D9ED59B1-722D-CC45-9B84-E8D268CE70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113" y="1"/>
            <a:ext cx="4679950" cy="68580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9AB43C-1EB7-0D4D-86D2-369B1934727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27689" y="1247502"/>
            <a:ext cx="5148262" cy="500307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9957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2EF962E-C564-6E44-B32C-F71ADD5019D5}"/>
              </a:ext>
            </a:extLst>
          </p:cNvPr>
          <p:cNvSpPr/>
          <p:nvPr userDrawn="1"/>
        </p:nvSpPr>
        <p:spPr>
          <a:xfrm>
            <a:off x="4229893" y="0"/>
            <a:ext cx="7962108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37442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  <p:grpSp>
        <p:nvGrpSpPr>
          <p:cNvPr id="12" name="Group 30">
            <a:extLst>
              <a:ext uri="{FF2B5EF4-FFF2-40B4-BE49-F238E27FC236}">
                <a16:creationId xmlns:a16="http://schemas.microsoft.com/office/drawing/2014/main" id="{57F97A7C-9CE4-1A48-BDEF-EE9D23E42C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815072" y="2471416"/>
            <a:ext cx="4376928" cy="4386584"/>
            <a:chOff x="4962525" y="2666999"/>
            <a:chExt cx="4181475" cy="4191001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32E3F741-7E48-234D-878D-DC94DA0BD3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0666" y="2666999"/>
              <a:ext cx="1473334" cy="2710972"/>
            </a:xfrm>
            <a:custGeom>
              <a:avLst/>
              <a:gdLst/>
              <a:ahLst/>
              <a:cxnLst>
                <a:cxn ang="0">
                  <a:pos x="928" y="0"/>
                </a:cxn>
                <a:cxn ang="0">
                  <a:pos x="928" y="1525"/>
                </a:cxn>
                <a:cxn ang="0">
                  <a:pos x="856" y="1526"/>
                </a:cxn>
                <a:cxn ang="0">
                  <a:pos x="787" y="1530"/>
                </a:cxn>
                <a:cxn ang="0">
                  <a:pos x="718" y="1535"/>
                </a:cxn>
                <a:cxn ang="0">
                  <a:pos x="652" y="1543"/>
                </a:cxn>
                <a:cxn ang="0">
                  <a:pos x="587" y="1551"/>
                </a:cxn>
                <a:cxn ang="0">
                  <a:pos x="524" y="1562"/>
                </a:cxn>
                <a:cxn ang="0">
                  <a:pos x="464" y="1573"/>
                </a:cxn>
                <a:cxn ang="0">
                  <a:pos x="407" y="1585"/>
                </a:cxn>
                <a:cxn ang="0">
                  <a:pos x="353" y="1598"/>
                </a:cxn>
                <a:cxn ang="0">
                  <a:pos x="301" y="1610"/>
                </a:cxn>
                <a:cxn ang="0">
                  <a:pos x="252" y="1624"/>
                </a:cxn>
                <a:cxn ang="0">
                  <a:pos x="208" y="1636"/>
                </a:cxn>
                <a:cxn ang="0">
                  <a:pos x="167" y="1649"/>
                </a:cxn>
                <a:cxn ang="0">
                  <a:pos x="129" y="1661"/>
                </a:cxn>
                <a:cxn ang="0">
                  <a:pos x="97" y="1672"/>
                </a:cxn>
                <a:cxn ang="0">
                  <a:pos x="68" y="1682"/>
                </a:cxn>
                <a:cxn ang="0">
                  <a:pos x="45" y="1691"/>
                </a:cxn>
                <a:cxn ang="0">
                  <a:pos x="25" y="1699"/>
                </a:cxn>
                <a:cxn ang="0">
                  <a:pos x="11" y="1704"/>
                </a:cxn>
                <a:cxn ang="0">
                  <a:pos x="4" y="1707"/>
                </a:cxn>
                <a:cxn ang="0">
                  <a:pos x="0" y="1708"/>
                </a:cxn>
                <a:cxn ang="0">
                  <a:pos x="928" y="0"/>
                </a:cxn>
              </a:cxnLst>
              <a:rect l="0" t="0" r="r" b="b"/>
              <a:pathLst>
                <a:path w="928" h="1708">
                  <a:moveTo>
                    <a:pt x="928" y="0"/>
                  </a:moveTo>
                  <a:lnTo>
                    <a:pt x="928" y="1525"/>
                  </a:lnTo>
                  <a:lnTo>
                    <a:pt x="856" y="1526"/>
                  </a:lnTo>
                  <a:lnTo>
                    <a:pt x="787" y="1530"/>
                  </a:lnTo>
                  <a:lnTo>
                    <a:pt x="718" y="1535"/>
                  </a:lnTo>
                  <a:lnTo>
                    <a:pt x="652" y="1543"/>
                  </a:lnTo>
                  <a:lnTo>
                    <a:pt x="587" y="1551"/>
                  </a:lnTo>
                  <a:lnTo>
                    <a:pt x="524" y="1562"/>
                  </a:lnTo>
                  <a:lnTo>
                    <a:pt x="464" y="1573"/>
                  </a:lnTo>
                  <a:lnTo>
                    <a:pt x="407" y="1585"/>
                  </a:lnTo>
                  <a:lnTo>
                    <a:pt x="353" y="1598"/>
                  </a:lnTo>
                  <a:lnTo>
                    <a:pt x="301" y="1610"/>
                  </a:lnTo>
                  <a:lnTo>
                    <a:pt x="252" y="1624"/>
                  </a:lnTo>
                  <a:lnTo>
                    <a:pt x="208" y="1636"/>
                  </a:lnTo>
                  <a:lnTo>
                    <a:pt x="167" y="1649"/>
                  </a:lnTo>
                  <a:lnTo>
                    <a:pt x="129" y="1661"/>
                  </a:lnTo>
                  <a:lnTo>
                    <a:pt x="97" y="1672"/>
                  </a:lnTo>
                  <a:lnTo>
                    <a:pt x="68" y="1682"/>
                  </a:lnTo>
                  <a:lnTo>
                    <a:pt x="45" y="1691"/>
                  </a:lnTo>
                  <a:lnTo>
                    <a:pt x="25" y="1699"/>
                  </a:lnTo>
                  <a:lnTo>
                    <a:pt x="11" y="1704"/>
                  </a:lnTo>
                  <a:lnTo>
                    <a:pt x="4" y="1707"/>
                  </a:lnTo>
                  <a:lnTo>
                    <a:pt x="0" y="1708"/>
                  </a:lnTo>
                  <a:lnTo>
                    <a:pt x="9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021498D-C696-BF45-812E-D1CFC2198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525" y="5380607"/>
              <a:ext cx="2706823" cy="1477393"/>
            </a:xfrm>
            <a:custGeom>
              <a:avLst/>
              <a:gdLst/>
              <a:ahLst/>
              <a:cxnLst>
                <a:cxn ang="0">
                  <a:pos x="1705" y="0"/>
                </a:cxn>
                <a:cxn ang="0">
                  <a:pos x="1704" y="4"/>
                </a:cxn>
                <a:cxn ang="0">
                  <a:pos x="1701" y="12"/>
                </a:cxn>
                <a:cxn ang="0">
                  <a:pos x="1696" y="27"/>
                </a:cxn>
                <a:cxn ang="0">
                  <a:pos x="1689" y="47"/>
                </a:cxn>
                <a:cxn ang="0">
                  <a:pos x="1681" y="72"/>
                </a:cxn>
                <a:cxn ang="0">
                  <a:pos x="1672" y="101"/>
                </a:cxn>
                <a:cxn ang="0">
                  <a:pos x="1662" y="135"/>
                </a:cxn>
                <a:cxn ang="0">
                  <a:pos x="1650" y="173"/>
                </a:cxn>
                <a:cxn ang="0">
                  <a:pos x="1638" y="214"/>
                </a:cxn>
                <a:cxn ang="0">
                  <a:pos x="1626" y="258"/>
                </a:cxn>
                <a:cxn ang="0">
                  <a:pos x="1613" y="306"/>
                </a:cxn>
                <a:cxn ang="0">
                  <a:pos x="1602" y="355"/>
                </a:cxn>
                <a:cxn ang="0">
                  <a:pos x="1590" y="407"/>
                </a:cxn>
                <a:cxn ang="0">
                  <a:pos x="1566" y="518"/>
                </a:cxn>
                <a:cxn ang="0">
                  <a:pos x="1556" y="575"/>
                </a:cxn>
                <a:cxn ang="0">
                  <a:pos x="1546" y="634"/>
                </a:cxn>
                <a:cxn ang="0">
                  <a:pos x="1539" y="693"/>
                </a:cxn>
                <a:cxn ang="0">
                  <a:pos x="1532" y="753"/>
                </a:cxn>
                <a:cxn ang="0">
                  <a:pos x="1527" y="811"/>
                </a:cxn>
                <a:cxn ang="0">
                  <a:pos x="1524" y="871"/>
                </a:cxn>
                <a:cxn ang="0">
                  <a:pos x="1523" y="929"/>
                </a:cxn>
                <a:cxn ang="0">
                  <a:pos x="1523" y="931"/>
                </a:cxn>
                <a:cxn ang="0">
                  <a:pos x="0" y="929"/>
                </a:cxn>
                <a:cxn ang="0">
                  <a:pos x="1705" y="0"/>
                </a:cxn>
              </a:cxnLst>
              <a:rect l="0" t="0" r="r" b="b"/>
              <a:pathLst>
                <a:path w="1705" h="931">
                  <a:moveTo>
                    <a:pt x="1705" y="0"/>
                  </a:moveTo>
                  <a:lnTo>
                    <a:pt x="1704" y="4"/>
                  </a:lnTo>
                  <a:lnTo>
                    <a:pt x="1701" y="12"/>
                  </a:lnTo>
                  <a:lnTo>
                    <a:pt x="1696" y="27"/>
                  </a:lnTo>
                  <a:lnTo>
                    <a:pt x="1689" y="47"/>
                  </a:lnTo>
                  <a:lnTo>
                    <a:pt x="1681" y="72"/>
                  </a:lnTo>
                  <a:lnTo>
                    <a:pt x="1672" y="101"/>
                  </a:lnTo>
                  <a:lnTo>
                    <a:pt x="1662" y="135"/>
                  </a:lnTo>
                  <a:lnTo>
                    <a:pt x="1650" y="173"/>
                  </a:lnTo>
                  <a:lnTo>
                    <a:pt x="1638" y="214"/>
                  </a:lnTo>
                  <a:lnTo>
                    <a:pt x="1626" y="258"/>
                  </a:lnTo>
                  <a:lnTo>
                    <a:pt x="1613" y="306"/>
                  </a:lnTo>
                  <a:lnTo>
                    <a:pt x="1602" y="355"/>
                  </a:lnTo>
                  <a:lnTo>
                    <a:pt x="1590" y="407"/>
                  </a:lnTo>
                  <a:lnTo>
                    <a:pt x="1566" y="518"/>
                  </a:lnTo>
                  <a:lnTo>
                    <a:pt x="1556" y="575"/>
                  </a:lnTo>
                  <a:lnTo>
                    <a:pt x="1546" y="634"/>
                  </a:lnTo>
                  <a:lnTo>
                    <a:pt x="1539" y="693"/>
                  </a:lnTo>
                  <a:lnTo>
                    <a:pt x="1532" y="753"/>
                  </a:lnTo>
                  <a:lnTo>
                    <a:pt x="1527" y="811"/>
                  </a:lnTo>
                  <a:lnTo>
                    <a:pt x="1524" y="871"/>
                  </a:lnTo>
                  <a:lnTo>
                    <a:pt x="1523" y="929"/>
                  </a:lnTo>
                  <a:lnTo>
                    <a:pt x="1523" y="931"/>
                  </a:lnTo>
                  <a:lnTo>
                    <a:pt x="0" y="929"/>
                  </a:lnTo>
                  <a:lnTo>
                    <a:pt x="1705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5205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196298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79EE130-76A2-AC4F-90BF-A04B6EE054B8}"/>
              </a:ext>
            </a:extLst>
          </p:cNvPr>
          <p:cNvSpPr/>
          <p:nvPr userDrawn="1"/>
        </p:nvSpPr>
        <p:spPr>
          <a:xfrm>
            <a:off x="4229893" y="0"/>
            <a:ext cx="7962108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893325"/>
            <a:ext cx="2808287" cy="2648527"/>
          </a:xfrm>
        </p:spPr>
        <p:txBody>
          <a:bodyPr anchor="t">
            <a:normAutofit/>
          </a:bodyPr>
          <a:lstStyle>
            <a:lvl1pPr marL="0" indent="0" algn="l">
              <a:buFont typeface="+mj-lt"/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Contacts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3538" y="5090443"/>
            <a:ext cx="7026822" cy="9561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0F7BCA-9A94-544E-92F6-CD72C9726E07}"/>
              </a:ext>
            </a:extLst>
          </p:cNvPr>
          <p:cNvCxnSpPr>
            <a:cxnSpLocks/>
          </p:cNvCxnSpPr>
          <p:nvPr userDrawn="1"/>
        </p:nvCxnSpPr>
        <p:spPr>
          <a:xfrm flipH="1">
            <a:off x="947739" y="4485061"/>
            <a:ext cx="3282153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9ABD17-0B33-4D4A-82A9-1791B0EED0C5}"/>
              </a:ext>
            </a:extLst>
          </p:cNvPr>
          <p:cNvCxnSpPr>
            <a:cxnSpLocks/>
          </p:cNvCxnSpPr>
          <p:nvPr userDrawn="1"/>
        </p:nvCxnSpPr>
        <p:spPr>
          <a:xfrm flipH="1">
            <a:off x="4223373" y="4759381"/>
            <a:ext cx="702089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F4C83BBE-9C0B-F642-9C58-17AF2D6F86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3" y="308853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0931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ck_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A42E29-8CDA-8D48-947C-4BD47471FE24}"/>
              </a:ext>
            </a:extLst>
          </p:cNvPr>
          <p:cNvSpPr/>
          <p:nvPr userDrawn="1"/>
        </p:nvSpPr>
        <p:spPr>
          <a:xfrm>
            <a:off x="5555" y="0"/>
            <a:ext cx="7495383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59000">
                <a:schemeClr val="accent6">
                  <a:lumMod val="75000"/>
                </a:schemeClr>
              </a:gs>
              <a:gs pos="83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D943C6-2948-A143-8779-4AC3F3A3748B}"/>
              </a:ext>
            </a:extLst>
          </p:cNvPr>
          <p:cNvSpPr/>
          <p:nvPr userDrawn="1"/>
        </p:nvSpPr>
        <p:spPr>
          <a:xfrm>
            <a:off x="7500938" y="0"/>
            <a:ext cx="469106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4FF4B42-F370-F74C-8932-7CBE2F6214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7738" y="2118509"/>
            <a:ext cx="5614987" cy="1586829"/>
          </a:xfrm>
        </p:spPr>
        <p:txBody>
          <a:bodyPr anchor="b">
            <a:noAutofit/>
          </a:bodyPr>
          <a:lstStyle>
            <a:lvl1pPr marL="0" indent="0" algn="l">
              <a:buFont typeface="+mj-lt"/>
              <a:buNone/>
              <a:defRPr sz="3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Sample Text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E4E7DE-3828-E440-B57B-25937BAABA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66185" y="5290078"/>
            <a:ext cx="7503350" cy="102102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0C73A5D-CAA9-F748-9FE9-7A6174D1BEAE}"/>
              </a:ext>
            </a:extLst>
          </p:cNvPr>
          <p:cNvCxnSpPr>
            <a:cxnSpLocks/>
          </p:cNvCxnSpPr>
          <p:nvPr userDrawn="1"/>
        </p:nvCxnSpPr>
        <p:spPr>
          <a:xfrm>
            <a:off x="947738" y="4735576"/>
            <a:ext cx="6553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20DA0EE-1F6E-4C42-B85E-74B7AC8EF7B5}"/>
              </a:ext>
            </a:extLst>
          </p:cNvPr>
          <p:cNvCxnSpPr>
            <a:cxnSpLocks/>
          </p:cNvCxnSpPr>
          <p:nvPr userDrawn="1"/>
        </p:nvCxnSpPr>
        <p:spPr>
          <a:xfrm>
            <a:off x="7500938" y="4470400"/>
            <a:ext cx="3758437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Graphic 24">
            <a:extLst>
              <a:ext uri="{FF2B5EF4-FFF2-40B4-BE49-F238E27FC236}">
                <a16:creationId xmlns:a16="http://schemas.microsoft.com/office/drawing/2014/main" id="{9E6794A6-29DF-A344-BDEC-F71D8C4194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21442" y="308854"/>
            <a:ext cx="1595737" cy="84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65280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812" y="1441"/>
          <a:ext cx="1810" cy="14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51" imgH="351" progId="TCLayout.ActiveDocument.1">
                  <p:embed/>
                </p:oleObj>
              </mc:Choice>
              <mc:Fallback>
                <p:oleObj name="Слайд think-cell" r:id="rId3" imgW="351" imgH="351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12" y="1441"/>
                        <a:ext cx="1810" cy="14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446371" y="6311029"/>
            <a:ext cx="5388889" cy="36564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E3891-530A-4E05-9D29-9927852741E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2819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Relationship Id="rId39" Type="http://schemas.openxmlformats.org/officeDocument/2006/relationships/tags" Target="../tags/tag2.xml"/><Relationship Id="rId40" Type="http://schemas.openxmlformats.org/officeDocument/2006/relationships/oleObject" Target="../embeddings/oleObject1.bin"/><Relationship Id="rId41" Type="http://schemas.openxmlformats.org/officeDocument/2006/relationships/image" Target="../media/image1.emf"/><Relationship Id="rId42" Type="http://schemas.openxmlformats.org/officeDocument/2006/relationships/image" Target="../media/image2.png"/><Relationship Id="rId43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9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8.xml"/><Relationship Id="rId12" Type="http://schemas.openxmlformats.org/officeDocument/2006/relationships/theme" Target="../theme/theme2.xml"/><Relationship Id="rId13" Type="http://schemas.openxmlformats.org/officeDocument/2006/relationships/tags" Target="../tags/tag3.xml"/><Relationship Id="rId14" Type="http://schemas.openxmlformats.org/officeDocument/2006/relationships/oleObject" Target="../embeddings/oleObject2.bin"/><Relationship Id="rId15" Type="http://schemas.openxmlformats.org/officeDocument/2006/relationships/image" Target="../media/image9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1.xml"/><Relationship Id="rId34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84.xml"/><Relationship Id="rId37" Type="http://schemas.openxmlformats.org/officeDocument/2006/relationships/theme" Target="../theme/theme3.xml"/><Relationship Id="rId38" Type="http://schemas.openxmlformats.org/officeDocument/2006/relationships/tags" Target="../tags/tag4.xml"/><Relationship Id="rId39" Type="http://schemas.openxmlformats.org/officeDocument/2006/relationships/oleObject" Target="../embeddings/oleObject3.bin"/><Relationship Id="rId40" Type="http://schemas.openxmlformats.org/officeDocument/2006/relationships/image" Target="../media/image10.emf"/><Relationship Id="rId41" Type="http://schemas.openxmlformats.org/officeDocument/2006/relationships/image" Target="../media/image2.png"/><Relationship Id="rId42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39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0" imgW="409" imgH="409" progId="TCLayout.ActiveDocument.1">
                  <p:embed/>
                </p:oleObj>
              </mc:Choice>
              <mc:Fallback>
                <p:oleObj name="Слайд think-cell" r:id="rId40" imgW="409" imgH="409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79ED9-D0AE-C043-897E-CA274670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06" y="359029"/>
            <a:ext cx="10757257" cy="7347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21320-5E52-8248-87E6-21A8370F0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006" y="1599757"/>
            <a:ext cx="10757257" cy="468528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05760-0C07-EB4D-8F6F-ABBEBFC2CAA8}"/>
              </a:ext>
            </a:extLst>
          </p:cNvPr>
          <p:cNvCxnSpPr>
            <a:cxnSpLocks/>
          </p:cNvCxnSpPr>
          <p:nvPr userDrawn="1"/>
        </p:nvCxnSpPr>
        <p:spPr>
          <a:xfrm>
            <a:off x="11712575" y="0"/>
            <a:ext cx="0" cy="685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0F505D64-C6AC-3C46-AED8-4083F8C5B994}"/>
              </a:ext>
            </a:extLst>
          </p:cNvPr>
          <p:cNvPicPr>
            <a:picLocks noChangeAspect="1"/>
          </p:cNvPicPr>
          <p:nvPr userDrawn="1"/>
        </p:nvPicPr>
        <p:blipFill>
          <a:blip r:embed="rId4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783435" y="152499"/>
            <a:ext cx="337705" cy="3317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7670CD-6C36-044B-AD48-B5D1BEA34D2A}"/>
              </a:ext>
            </a:extLst>
          </p:cNvPr>
          <p:cNvCxnSpPr/>
          <p:nvPr userDrawn="1"/>
        </p:nvCxnSpPr>
        <p:spPr>
          <a:xfrm flipH="1">
            <a:off x="11712576" y="6285042"/>
            <a:ext cx="47942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CF9707-A134-064C-A39D-3180C2F379F0}"/>
              </a:ext>
            </a:extLst>
          </p:cNvPr>
          <p:cNvSpPr txBox="1"/>
          <p:nvPr userDrawn="1"/>
        </p:nvSpPr>
        <p:spPr>
          <a:xfrm>
            <a:off x="11712576" y="6370320"/>
            <a:ext cx="468312" cy="406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/>
            <a:fld id="{32113663-2E12-0741-8394-26D5769A76F5}" type="slidenum">
              <a:rPr lang="ru-RU" sz="90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ctr"/>
              <a:t>‹#›</a:t>
            </a:fld>
            <a:endParaRPr lang="ru-RU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D8948CD-9A60-7043-A60C-27F7A1CCC2E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417371" y="3097848"/>
            <a:ext cx="5069840" cy="47942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 spc="2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959519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  <p:sldLayoutId id="2147483693" r:id="rId25"/>
    <p:sldLayoutId id="2147483694" r:id="rId26"/>
    <p:sldLayoutId id="2147483695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56565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0471403F-4136-62BF-D9FE-349657EA8E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7269721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14" imgW="484" imgH="486" progId="TCLayout.ActiveDocument.1">
                  <p:embed/>
                </p:oleObj>
              </mc:Choice>
              <mc:Fallback>
                <p:oleObj name="Слайд think-cell" r:id="rId14" imgW="484" imgH="48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71403F-4136-62BF-D9FE-349657EA8E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5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3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9" imgW="395" imgH="394" progId="TCLayout.ActiveDocument.1">
                  <p:embed/>
                </p:oleObj>
              </mc:Choice>
              <mc:Fallback>
                <p:oleObj name="Слайд think-cell" r:id="rId39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79ED9-D0AE-C043-897E-CA274670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06" y="359029"/>
            <a:ext cx="10757257" cy="73475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21320-5E52-8248-87E6-21A8370F0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006" y="1599757"/>
            <a:ext cx="10757257" cy="468528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B05760-0C07-EB4D-8F6F-ABBEBFC2CAA8}"/>
              </a:ext>
            </a:extLst>
          </p:cNvPr>
          <p:cNvCxnSpPr>
            <a:cxnSpLocks/>
          </p:cNvCxnSpPr>
          <p:nvPr userDrawn="1"/>
        </p:nvCxnSpPr>
        <p:spPr>
          <a:xfrm>
            <a:off x="11712575" y="0"/>
            <a:ext cx="0" cy="6858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0F505D64-C6AC-3C46-AED8-4083F8C5B994}"/>
              </a:ext>
            </a:extLst>
          </p:cNvPr>
          <p:cNvPicPr>
            <a:picLocks noChangeAspect="1"/>
          </p:cNvPicPr>
          <p:nvPr userDrawn="1"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1783435" y="152499"/>
            <a:ext cx="337705" cy="3317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7670CD-6C36-044B-AD48-B5D1BEA34D2A}"/>
              </a:ext>
            </a:extLst>
          </p:cNvPr>
          <p:cNvCxnSpPr/>
          <p:nvPr userDrawn="1"/>
        </p:nvCxnSpPr>
        <p:spPr>
          <a:xfrm flipH="1">
            <a:off x="11712576" y="6285042"/>
            <a:ext cx="47942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7CF9707-A134-064C-A39D-3180C2F379F0}"/>
              </a:ext>
            </a:extLst>
          </p:cNvPr>
          <p:cNvSpPr txBox="1"/>
          <p:nvPr userDrawn="1"/>
        </p:nvSpPr>
        <p:spPr>
          <a:xfrm>
            <a:off x="11712576" y="6370320"/>
            <a:ext cx="468312" cy="4064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/>
            <a:fld id="{32113663-2E12-0741-8394-26D5769A76F5}" type="slidenum">
              <a:rPr lang="ru-RU" sz="90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pPr algn="ctr"/>
              <a:t>‹#›</a:t>
            </a:fld>
            <a:endParaRPr lang="ru-RU" sz="9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D8948CD-9A60-7043-A60C-27F7A1CCC2ED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9417371" y="3097848"/>
            <a:ext cx="5069840" cy="47942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 spc="2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Mobile</a:t>
            </a:r>
            <a:r>
              <a:rPr lang="en-US" sz="900" baseline="0" dirty="0"/>
              <a:t> Maintenance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01330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  <p:sldLayoutId id="2147483744" r:id="rId26"/>
    <p:sldLayoutId id="2147483745" r:id="rId27"/>
    <p:sldLayoutId id="2147483746" r:id="rId28"/>
    <p:sldLayoutId id="2147483747" r:id="rId29"/>
    <p:sldLayoutId id="2147483748" r:id="rId30"/>
    <p:sldLayoutId id="2147483749" r:id="rId31"/>
    <p:sldLayoutId id="2147483750" r:id="rId32"/>
    <p:sldLayoutId id="2147483751" r:id="rId33"/>
    <p:sldLayoutId id="2147483752" r:id="rId34"/>
    <p:sldLayoutId id="2147483753" r:id="rId35"/>
    <p:sldLayoutId id="2147483754" r:id="rId3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56565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>
          <p15:clr>
            <a:srgbClr val="F26B43"/>
          </p15:clr>
        </p15:guide>
        <p15:guide id="2" pos="597">
          <p15:clr>
            <a:srgbClr val="F26B43"/>
          </p15:clr>
        </p15:guide>
        <p15:guide id="3" pos="892">
          <p15:clr>
            <a:srgbClr val="F26B43"/>
          </p15:clr>
        </p15:guide>
        <p15:guide id="4" pos="1186">
          <p15:clr>
            <a:srgbClr val="F26B43"/>
          </p15:clr>
        </p15:guide>
        <p15:guide id="5" pos="1481">
          <p15:clr>
            <a:srgbClr val="F26B43"/>
          </p15:clr>
        </p15:guide>
        <p15:guide id="6" pos="1776">
          <p15:clr>
            <a:srgbClr val="F26B43"/>
          </p15:clr>
        </p15:guide>
        <p15:guide id="7" pos="2071">
          <p15:clr>
            <a:srgbClr val="F26B43"/>
          </p15:clr>
        </p15:guide>
        <p15:guide id="8" pos="2661">
          <p15:clr>
            <a:srgbClr val="F26B43"/>
          </p15:clr>
        </p15:guide>
        <p15:guide id="9" pos="3250">
          <p15:clr>
            <a:srgbClr val="F26B43"/>
          </p15:clr>
        </p15:guide>
        <p15:guide id="10" pos="3840">
          <p15:clr>
            <a:srgbClr val="F26B43"/>
          </p15:clr>
        </p15:guide>
        <p15:guide id="11" pos="4430">
          <p15:clr>
            <a:srgbClr val="F26B43"/>
          </p15:clr>
        </p15:guide>
        <p15:guide id="12" pos="4725">
          <p15:clr>
            <a:srgbClr val="F26B43"/>
          </p15:clr>
        </p15:guide>
        <p15:guide id="13" pos="5019">
          <p15:clr>
            <a:srgbClr val="F26B43"/>
          </p15:clr>
        </p15:guide>
        <p15:guide id="14" pos="5314">
          <p15:clr>
            <a:srgbClr val="F26B43"/>
          </p15:clr>
        </p15:guide>
        <p15:guide id="15" pos="5609">
          <p15:clr>
            <a:srgbClr val="F26B43"/>
          </p15:clr>
        </p15:guide>
        <p15:guide id="16" pos="5904">
          <p15:clr>
            <a:srgbClr val="F26B43"/>
          </p15:clr>
        </p15:guide>
        <p15:guide id="17" pos="6199">
          <p15:clr>
            <a:srgbClr val="F26B43"/>
          </p15:clr>
        </p15:guide>
        <p15:guide id="18" pos="6494">
          <p15:clr>
            <a:srgbClr val="F26B43"/>
          </p15:clr>
        </p15:guide>
        <p15:guide id="19" pos="6788">
          <p15:clr>
            <a:srgbClr val="F26B43"/>
          </p15:clr>
        </p15:guide>
        <p15:guide id="20" pos="7083">
          <p15:clr>
            <a:srgbClr val="F26B43"/>
          </p15:clr>
        </p15:guide>
        <p15:guide id="21" pos="2366">
          <p15:clr>
            <a:srgbClr val="F26B43"/>
          </p15:clr>
        </p15:guide>
        <p15:guide id="22" pos="2955">
          <p15:clr>
            <a:srgbClr val="F26B43"/>
          </p15:clr>
        </p15:guide>
        <p15:guide id="24" pos="3545">
          <p15:clr>
            <a:srgbClr val="F26B43"/>
          </p15:clr>
        </p15:guide>
        <p15:guide id="25" pos="4134">
          <p15:clr>
            <a:srgbClr val="F26B43"/>
          </p15:clr>
        </p15:guide>
        <p15:guide id="26" orient="horz" pos="689">
          <p15:clr>
            <a:srgbClr val="F26B43"/>
          </p15:clr>
        </p15:guide>
        <p15:guide id="27" orient="horz" pos="845">
          <p15:clr>
            <a:srgbClr val="F26B43"/>
          </p15:clr>
        </p15:guide>
        <p15:guide id="28" orient="horz" pos="1003">
          <p15:clr>
            <a:srgbClr val="F26B43"/>
          </p15:clr>
        </p15:guide>
        <p15:guide id="29" pos="7378">
          <p15:clr>
            <a:srgbClr val="F26B43"/>
          </p15:clr>
        </p15:guide>
        <p15:guide id="30" orient="horz" pos="4163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Сходимость оперативного учёта и маркзамера · горная масса, тыс. м³ · январь–сентябрь 2026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1645920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Гросс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1645920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Δ %  ·  Δ  ·  замер → учёт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3617366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КВ Гросс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3617366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укладка на карты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5588812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Таборный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5588812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с Врезанным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7560259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Токко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7560259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горная масса в целике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9531705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Всего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9531705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три карьера, без КВ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603504" y="1417320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786384" y="1417320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5" name="Rounded Rectangle 934"/>
          <p:cNvSpPr/>
          <p:nvPr/>
        </p:nvSpPr>
        <p:spPr>
          <a:xfrm>
            <a:off x="1682496" y="146334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+7,2%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2359152" y="1445644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+307,9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2359152" y="1601428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4 258,8 → 4 566,7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3653942" y="146334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−63,1%</a:t>
            </a:r>
          </a:p>
        </p:txBody>
      </p:sp>
      <p:sp>
        <p:nvSpPr>
          <p:cNvPr id="939" name="TextBox 938"/>
          <p:cNvSpPr txBox="1"/>
          <p:nvPr/>
        </p:nvSpPr>
        <p:spPr>
          <a:xfrm>
            <a:off x="4330598" y="1445644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−986,5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4330598" y="1601428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1 564,5 → 578,0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5625388" y="146334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+10,1%</a:t>
            </a:r>
          </a:p>
        </p:txBody>
      </p:sp>
      <p:sp>
        <p:nvSpPr>
          <p:cNvPr id="942" name="TextBox 941"/>
          <p:cNvSpPr txBox="1"/>
          <p:nvPr/>
        </p:nvSpPr>
        <p:spPr>
          <a:xfrm>
            <a:off x="6302044" y="1445644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+144,1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6302044" y="1601428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1 422,9 → 1 567,0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7596835" y="146334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+3,3%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8273491" y="1445644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+19,2</a:t>
            </a:r>
          </a:p>
        </p:txBody>
      </p:sp>
      <p:sp>
        <p:nvSpPr>
          <p:cNvPr id="946" name="TextBox 945"/>
          <p:cNvSpPr txBox="1"/>
          <p:nvPr/>
        </p:nvSpPr>
        <p:spPr>
          <a:xfrm>
            <a:off x="8273491" y="1601428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578,6 → 597,8</a:t>
            </a:r>
          </a:p>
        </p:txBody>
      </p:sp>
      <p:sp>
        <p:nvSpPr>
          <p:cNvPr id="947" name="Rounded Rectangle 946"/>
          <p:cNvSpPr/>
          <p:nvPr/>
        </p:nvSpPr>
        <p:spPr>
          <a:xfrm>
            <a:off x="9568281" y="146334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+7,5%</a:t>
            </a:r>
          </a:p>
        </p:txBody>
      </p:sp>
      <p:sp>
        <p:nvSpPr>
          <p:cNvPr id="948" name="Rounded Rectangle 947"/>
          <p:cNvSpPr/>
          <p:nvPr/>
        </p:nvSpPr>
        <p:spPr>
          <a:xfrm>
            <a:off x="10199217" y="1521195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10211653" y="1541678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10329428" y="1541678"/>
            <a:ext cx="105338" cy="1053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10447202" y="1541678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10619841" y="1445644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+471,2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10619841" y="1601428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6 260,3 → 6 731,5</a:t>
            </a:r>
          </a:p>
        </p:txBody>
      </p:sp>
      <p:sp>
        <p:nvSpPr>
          <p:cNvPr id="954" name="Rounded Rectangle 953"/>
          <p:cNvSpPr/>
          <p:nvPr/>
        </p:nvSpPr>
        <p:spPr>
          <a:xfrm>
            <a:off x="603504" y="1819656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786384" y="1819656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56" name="Rounded Rectangle 955"/>
          <p:cNvSpPr/>
          <p:nvPr/>
        </p:nvSpPr>
        <p:spPr>
          <a:xfrm>
            <a:off x="1682496" y="186568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+2,6%</a:t>
            </a:r>
          </a:p>
        </p:txBody>
      </p:sp>
      <p:sp>
        <p:nvSpPr>
          <p:cNvPr id="957" name="TextBox 956"/>
          <p:cNvSpPr txBox="1"/>
          <p:nvPr/>
        </p:nvSpPr>
        <p:spPr>
          <a:xfrm>
            <a:off x="2359152" y="1847980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+88,9</a:t>
            </a:r>
          </a:p>
        </p:txBody>
      </p:sp>
      <p:sp>
        <p:nvSpPr>
          <p:cNvPr id="958" name="TextBox 957"/>
          <p:cNvSpPr txBox="1"/>
          <p:nvPr/>
        </p:nvSpPr>
        <p:spPr>
          <a:xfrm>
            <a:off x="2359152" y="2003764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3 360,7 → 3 449,6</a:t>
            </a:r>
          </a:p>
        </p:txBody>
      </p:sp>
      <p:sp>
        <p:nvSpPr>
          <p:cNvPr id="959" name="Rounded Rectangle 958"/>
          <p:cNvSpPr/>
          <p:nvPr/>
        </p:nvSpPr>
        <p:spPr>
          <a:xfrm>
            <a:off x="3653942" y="186568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+19,1%</a:t>
            </a:r>
          </a:p>
        </p:txBody>
      </p:sp>
      <p:sp>
        <p:nvSpPr>
          <p:cNvPr id="960" name="TextBox 959"/>
          <p:cNvSpPr txBox="1"/>
          <p:nvPr/>
        </p:nvSpPr>
        <p:spPr>
          <a:xfrm>
            <a:off x="4330598" y="1847980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+314,8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330598" y="2003764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1 646,8 → 1 961,6</a:t>
            </a:r>
          </a:p>
        </p:txBody>
      </p:sp>
      <p:sp>
        <p:nvSpPr>
          <p:cNvPr id="962" name="Rounded Rectangle 961"/>
          <p:cNvSpPr/>
          <p:nvPr/>
        </p:nvSpPr>
        <p:spPr>
          <a:xfrm>
            <a:off x="5625388" y="186568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+0,4%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302044" y="1847980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+5,7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6302044" y="2003764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1 347,5 → 1 353,2</a:t>
            </a:r>
          </a:p>
        </p:txBody>
      </p:sp>
      <p:sp>
        <p:nvSpPr>
          <p:cNvPr id="965" name="Rounded Rectangle 964"/>
          <p:cNvSpPr/>
          <p:nvPr/>
        </p:nvSpPr>
        <p:spPr>
          <a:xfrm>
            <a:off x="7596835" y="186568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−8,5%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8273491" y="1847980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−48,4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73491" y="2003764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569,3 → 520,9</a:t>
            </a:r>
          </a:p>
        </p:txBody>
      </p:sp>
      <p:sp>
        <p:nvSpPr>
          <p:cNvPr id="968" name="Rounded Rectangle 967"/>
          <p:cNvSpPr/>
          <p:nvPr/>
        </p:nvSpPr>
        <p:spPr>
          <a:xfrm>
            <a:off x="9568281" y="186568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+0,9%</a:t>
            </a:r>
          </a:p>
        </p:txBody>
      </p:sp>
      <p:sp>
        <p:nvSpPr>
          <p:cNvPr id="969" name="Rounded Rectangle 968"/>
          <p:cNvSpPr/>
          <p:nvPr/>
        </p:nvSpPr>
        <p:spPr>
          <a:xfrm>
            <a:off x="10199217" y="1923531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211653" y="1944014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10329428" y="1944014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10447202" y="1944014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10619841" y="1847980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+46,2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10619841" y="2003764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5 277,5 → 5 323,7</a:t>
            </a:r>
          </a:p>
        </p:txBody>
      </p:sp>
      <p:sp>
        <p:nvSpPr>
          <p:cNvPr id="975" name="Rounded Rectangle 974"/>
          <p:cNvSpPr/>
          <p:nvPr/>
        </p:nvSpPr>
        <p:spPr>
          <a:xfrm>
            <a:off x="603504" y="2221992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TextBox 975"/>
          <p:cNvSpPr txBox="1"/>
          <p:nvPr/>
        </p:nvSpPr>
        <p:spPr>
          <a:xfrm>
            <a:off x="786384" y="2221992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77" name="Rounded Rectangle 976"/>
          <p:cNvSpPr/>
          <p:nvPr/>
        </p:nvSpPr>
        <p:spPr>
          <a:xfrm>
            <a:off x="1682496" y="226801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−3,3%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2359152" y="2250316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−130,0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2359152" y="2406100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3 941,6 → 3 811,6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3653942" y="226801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+6,2%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4330598" y="2250316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+106,7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4330598" y="2406100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1 731,1 → 1 837,8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5625388" y="226801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−9,1%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6302044" y="2250316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−147,4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6302044" y="2406100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1 625,4 → 1 478,0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7596835" y="226801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−15,3%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8273491" y="2250316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−102,5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8273491" y="2406100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671,9 → 569,3</a:t>
            </a:r>
          </a:p>
        </p:txBody>
      </p:sp>
      <p:sp>
        <p:nvSpPr>
          <p:cNvPr id="989" name="Rounded Rectangle 988"/>
          <p:cNvSpPr/>
          <p:nvPr/>
        </p:nvSpPr>
        <p:spPr>
          <a:xfrm>
            <a:off x="9568281" y="226801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−6,1%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10199217" y="2325867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10211653" y="2346350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10329428" y="2346350"/>
            <a:ext cx="105338" cy="1053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10447202" y="2346350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TextBox 993"/>
          <p:cNvSpPr txBox="1"/>
          <p:nvPr/>
        </p:nvSpPr>
        <p:spPr>
          <a:xfrm>
            <a:off x="10619841" y="2250316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−380,0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10619841" y="2406100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6 238,9 → 5 858,9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603504" y="2624328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7" name="TextBox 996"/>
          <p:cNvSpPr txBox="1"/>
          <p:nvPr/>
        </p:nvSpPr>
        <p:spPr>
          <a:xfrm>
            <a:off x="786384" y="2624328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98" name="Rounded Rectangle 997"/>
          <p:cNvSpPr/>
          <p:nvPr/>
        </p:nvSpPr>
        <p:spPr>
          <a:xfrm>
            <a:off x="1682496" y="267035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+1,8%</a:t>
            </a:r>
          </a:p>
        </p:txBody>
      </p:sp>
      <p:sp>
        <p:nvSpPr>
          <p:cNvPr id="999" name="TextBox 998"/>
          <p:cNvSpPr txBox="1"/>
          <p:nvPr/>
        </p:nvSpPr>
        <p:spPr>
          <a:xfrm>
            <a:off x="2359152" y="2652652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+68,5</a:t>
            </a:r>
          </a:p>
        </p:txBody>
      </p:sp>
      <p:sp>
        <p:nvSpPr>
          <p:cNvPr id="1000" name="TextBox 999"/>
          <p:cNvSpPr txBox="1"/>
          <p:nvPr/>
        </p:nvSpPr>
        <p:spPr>
          <a:xfrm>
            <a:off x="2359152" y="2808436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3 891,1 → 3 959,6</a:t>
            </a:r>
          </a:p>
        </p:txBody>
      </p:sp>
      <p:sp>
        <p:nvSpPr>
          <p:cNvPr id="1001" name="Rounded Rectangle 1000"/>
          <p:cNvSpPr/>
          <p:nvPr/>
        </p:nvSpPr>
        <p:spPr>
          <a:xfrm>
            <a:off x="3653942" y="267035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+23,4%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4330598" y="2652652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+409,4</a:t>
            </a:r>
          </a:p>
        </p:txBody>
      </p:sp>
      <p:sp>
        <p:nvSpPr>
          <p:cNvPr id="1003" name="TextBox 1002"/>
          <p:cNvSpPr txBox="1"/>
          <p:nvPr/>
        </p:nvSpPr>
        <p:spPr>
          <a:xfrm>
            <a:off x="4330598" y="2808436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1 751,0 → 2 160,4</a:t>
            </a:r>
          </a:p>
        </p:txBody>
      </p:sp>
      <p:sp>
        <p:nvSpPr>
          <p:cNvPr id="1004" name="Rounded Rectangle 1003"/>
          <p:cNvSpPr/>
          <p:nvPr/>
        </p:nvSpPr>
        <p:spPr>
          <a:xfrm>
            <a:off x="5625388" y="267035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−1,5%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6302044" y="2652652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−27,1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6302044" y="2808436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1 830,4 → 1 803,3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7596835" y="267035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+5,1%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8273491" y="2652652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+33,5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8273491" y="2808436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660,9 → 694,4</a:t>
            </a:r>
          </a:p>
        </p:txBody>
      </p:sp>
      <p:sp>
        <p:nvSpPr>
          <p:cNvPr id="1010" name="Rounded Rectangle 1009"/>
          <p:cNvSpPr/>
          <p:nvPr/>
        </p:nvSpPr>
        <p:spPr>
          <a:xfrm>
            <a:off x="9568281" y="267035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+1,2%</a:t>
            </a:r>
          </a:p>
        </p:txBody>
      </p:sp>
      <p:sp>
        <p:nvSpPr>
          <p:cNvPr id="1011" name="Rounded Rectangle 1010"/>
          <p:cNvSpPr/>
          <p:nvPr/>
        </p:nvSpPr>
        <p:spPr>
          <a:xfrm>
            <a:off x="10199217" y="2728203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2" name="Oval 1011"/>
          <p:cNvSpPr/>
          <p:nvPr/>
        </p:nvSpPr>
        <p:spPr>
          <a:xfrm>
            <a:off x="10211653" y="2748686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10329428" y="2748686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Oval 1013"/>
          <p:cNvSpPr/>
          <p:nvPr/>
        </p:nvSpPr>
        <p:spPr>
          <a:xfrm>
            <a:off x="10447202" y="2748686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5" name="TextBox 1014"/>
          <p:cNvSpPr txBox="1"/>
          <p:nvPr/>
        </p:nvSpPr>
        <p:spPr>
          <a:xfrm>
            <a:off x="10619841" y="2652652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+74,9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10619841" y="2808436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6 382,4 → 6 457,2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603504" y="3026664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TextBox 1017"/>
          <p:cNvSpPr txBox="1"/>
          <p:nvPr/>
        </p:nvSpPr>
        <p:spPr>
          <a:xfrm>
            <a:off x="786384" y="3026664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1682496" y="307269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−0,4%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2359152" y="3054988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−15,3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2359152" y="3210772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4 039,6 → 4 024,3</a:t>
            </a:r>
          </a:p>
        </p:txBody>
      </p:sp>
      <p:sp>
        <p:nvSpPr>
          <p:cNvPr id="1022" name="Rounded Rectangle 1021"/>
          <p:cNvSpPr/>
          <p:nvPr/>
        </p:nvSpPr>
        <p:spPr>
          <a:xfrm>
            <a:off x="3653942" y="307269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+32,8%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4330598" y="3054988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+572,9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4330598" y="3210772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1 744,6 → 2 317,5</a:t>
            </a:r>
          </a:p>
        </p:txBody>
      </p:sp>
      <p:sp>
        <p:nvSpPr>
          <p:cNvPr id="1025" name="Rounded Rectangle 1024"/>
          <p:cNvSpPr/>
          <p:nvPr/>
        </p:nvSpPr>
        <p:spPr>
          <a:xfrm>
            <a:off x="5625388" y="307269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−0,8%</a:t>
            </a:r>
          </a:p>
        </p:txBody>
      </p:sp>
      <p:sp>
        <p:nvSpPr>
          <p:cNvPr id="1026" name="TextBox 1025"/>
          <p:cNvSpPr txBox="1"/>
          <p:nvPr/>
        </p:nvSpPr>
        <p:spPr>
          <a:xfrm>
            <a:off x="6302044" y="3054988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−12,5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6302044" y="3210772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1 538,5 → 1 526,0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7596835" y="307269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+3,2%</a:t>
            </a:r>
          </a:p>
        </p:txBody>
      </p:sp>
      <p:sp>
        <p:nvSpPr>
          <p:cNvPr id="1029" name="TextBox 1028"/>
          <p:cNvSpPr txBox="1"/>
          <p:nvPr/>
        </p:nvSpPr>
        <p:spPr>
          <a:xfrm>
            <a:off x="8273491" y="3054988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+23,6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8273491" y="3210772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734,8 → 758,4</a:t>
            </a:r>
          </a:p>
        </p:txBody>
      </p:sp>
      <p:sp>
        <p:nvSpPr>
          <p:cNvPr id="1031" name="Rounded Rectangle 1030"/>
          <p:cNvSpPr/>
          <p:nvPr/>
        </p:nvSpPr>
        <p:spPr>
          <a:xfrm>
            <a:off x="9568281" y="307269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−0,1%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10199217" y="313053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10211653" y="315102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10329428" y="315102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10447202" y="315102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10619841" y="3054988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−4,2</a:t>
            </a:r>
          </a:p>
        </p:txBody>
      </p:sp>
      <p:sp>
        <p:nvSpPr>
          <p:cNvPr id="1037" name="TextBox 1036"/>
          <p:cNvSpPr txBox="1"/>
          <p:nvPr/>
        </p:nvSpPr>
        <p:spPr>
          <a:xfrm>
            <a:off x="10619841" y="3210772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6 312,9 → 6 308,7</a:t>
            </a:r>
          </a:p>
        </p:txBody>
      </p:sp>
      <p:sp>
        <p:nvSpPr>
          <p:cNvPr id="1038" name="Rounded Rectangle 1037"/>
          <p:cNvSpPr/>
          <p:nvPr/>
        </p:nvSpPr>
        <p:spPr>
          <a:xfrm>
            <a:off x="603504" y="3429000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786384" y="3429000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40" name="Rounded Rectangle 1039"/>
          <p:cNvSpPr/>
          <p:nvPr/>
        </p:nvSpPr>
        <p:spPr>
          <a:xfrm>
            <a:off x="1682496" y="347502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+1,7%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2359152" y="3457324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+67,5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2359152" y="3613108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4 069,7 → 4 137,2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3653942" y="347502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+9,5%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4330598" y="3457324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+159,0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330598" y="3613108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1 678,6 → 1 837,6</a:t>
            </a:r>
          </a:p>
        </p:txBody>
      </p:sp>
      <p:sp>
        <p:nvSpPr>
          <p:cNvPr id="1046" name="Rounded Rectangle 1045"/>
          <p:cNvSpPr/>
          <p:nvPr/>
        </p:nvSpPr>
        <p:spPr>
          <a:xfrm>
            <a:off x="5625388" y="347502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−0,9%</a:t>
            </a:r>
          </a:p>
        </p:txBody>
      </p:sp>
      <p:sp>
        <p:nvSpPr>
          <p:cNvPr id="1047" name="TextBox 1046"/>
          <p:cNvSpPr txBox="1"/>
          <p:nvPr/>
        </p:nvSpPr>
        <p:spPr>
          <a:xfrm>
            <a:off x="6302044" y="3457324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−15,3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6302044" y="3613108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1 627,8 → 1 612,5</a:t>
            </a:r>
          </a:p>
        </p:txBody>
      </p:sp>
      <p:sp>
        <p:nvSpPr>
          <p:cNvPr id="1049" name="Rounded Rectangle 1048"/>
          <p:cNvSpPr/>
          <p:nvPr/>
        </p:nvSpPr>
        <p:spPr>
          <a:xfrm>
            <a:off x="7596835" y="347502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+13,5%</a:t>
            </a:r>
          </a:p>
        </p:txBody>
      </p:sp>
      <p:sp>
        <p:nvSpPr>
          <p:cNvPr id="1050" name="TextBox 1049"/>
          <p:cNvSpPr txBox="1"/>
          <p:nvPr/>
        </p:nvSpPr>
        <p:spPr>
          <a:xfrm>
            <a:off x="8273491" y="3457324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+90,9</a:t>
            </a:r>
          </a:p>
        </p:txBody>
      </p:sp>
      <p:sp>
        <p:nvSpPr>
          <p:cNvPr id="1051" name="TextBox 1050"/>
          <p:cNvSpPr txBox="1"/>
          <p:nvPr/>
        </p:nvSpPr>
        <p:spPr>
          <a:xfrm>
            <a:off x="8273491" y="3613108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675,7 → 766,6</a:t>
            </a:r>
          </a:p>
        </p:txBody>
      </p:sp>
      <p:sp>
        <p:nvSpPr>
          <p:cNvPr id="1052" name="Rounded Rectangle 1051"/>
          <p:cNvSpPr/>
          <p:nvPr/>
        </p:nvSpPr>
        <p:spPr>
          <a:xfrm>
            <a:off x="9568281" y="3475027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+2,2%</a:t>
            </a:r>
          </a:p>
        </p:txBody>
      </p:sp>
      <p:sp>
        <p:nvSpPr>
          <p:cNvPr id="1053" name="Rounded Rectangle 1052"/>
          <p:cNvSpPr/>
          <p:nvPr/>
        </p:nvSpPr>
        <p:spPr>
          <a:xfrm>
            <a:off x="10199217" y="3532875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211653" y="3553358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Oval 1054"/>
          <p:cNvSpPr/>
          <p:nvPr/>
        </p:nvSpPr>
        <p:spPr>
          <a:xfrm>
            <a:off x="10329428" y="3553358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val 1055"/>
          <p:cNvSpPr/>
          <p:nvPr/>
        </p:nvSpPr>
        <p:spPr>
          <a:xfrm>
            <a:off x="10447202" y="3553358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10619841" y="3457324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+143,1</a:t>
            </a:r>
          </a:p>
        </p:txBody>
      </p:sp>
      <p:sp>
        <p:nvSpPr>
          <p:cNvPr id="1058" name="TextBox 1057"/>
          <p:cNvSpPr txBox="1"/>
          <p:nvPr/>
        </p:nvSpPr>
        <p:spPr>
          <a:xfrm>
            <a:off x="10619841" y="3613108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6 373,2 → 6 516,3</a:t>
            </a:r>
          </a:p>
        </p:txBody>
      </p:sp>
      <p:sp>
        <p:nvSpPr>
          <p:cNvPr id="1059" name="Rounded Rectangle 1058"/>
          <p:cNvSpPr/>
          <p:nvPr/>
        </p:nvSpPr>
        <p:spPr>
          <a:xfrm>
            <a:off x="603504" y="3831336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786384" y="3831336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61" name="Rounded Rectangle 1060"/>
          <p:cNvSpPr/>
          <p:nvPr/>
        </p:nvSpPr>
        <p:spPr>
          <a:xfrm>
            <a:off x="1682496" y="387736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+3,7%</a:t>
            </a:r>
          </a:p>
        </p:txBody>
      </p:sp>
      <p:sp>
        <p:nvSpPr>
          <p:cNvPr id="1062" name="TextBox 1061"/>
          <p:cNvSpPr txBox="1"/>
          <p:nvPr/>
        </p:nvSpPr>
        <p:spPr>
          <a:xfrm>
            <a:off x="2359152" y="3859660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+158,6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2359152" y="4015444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4 228,8 → 4 387,4</a:t>
            </a:r>
          </a:p>
        </p:txBody>
      </p:sp>
      <p:sp>
        <p:nvSpPr>
          <p:cNvPr id="1064" name="Rounded Rectangle 1063"/>
          <p:cNvSpPr/>
          <p:nvPr/>
        </p:nvSpPr>
        <p:spPr>
          <a:xfrm>
            <a:off x="3653942" y="387736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−19,4%</a:t>
            </a:r>
          </a:p>
        </p:txBody>
      </p:sp>
      <p:sp>
        <p:nvSpPr>
          <p:cNvPr id="1065" name="TextBox 1064"/>
          <p:cNvSpPr txBox="1"/>
          <p:nvPr/>
        </p:nvSpPr>
        <p:spPr>
          <a:xfrm>
            <a:off x="4330598" y="3859660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−356,5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4330598" y="4015444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1 840,1 → 1 483,6</a:t>
            </a:r>
          </a:p>
        </p:txBody>
      </p:sp>
      <p:sp>
        <p:nvSpPr>
          <p:cNvPr id="1067" name="Rounded Rectangle 1066"/>
          <p:cNvSpPr/>
          <p:nvPr/>
        </p:nvSpPr>
        <p:spPr>
          <a:xfrm>
            <a:off x="5625388" y="387736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−2,1%</a:t>
            </a:r>
          </a:p>
        </p:txBody>
      </p:sp>
      <p:sp>
        <p:nvSpPr>
          <p:cNvPr id="1068" name="TextBox 1067"/>
          <p:cNvSpPr txBox="1"/>
          <p:nvPr/>
        </p:nvSpPr>
        <p:spPr>
          <a:xfrm>
            <a:off x="6302044" y="3859660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−35,3</a:t>
            </a:r>
          </a:p>
        </p:txBody>
      </p:sp>
      <p:sp>
        <p:nvSpPr>
          <p:cNvPr id="1069" name="TextBox 1068"/>
          <p:cNvSpPr txBox="1"/>
          <p:nvPr/>
        </p:nvSpPr>
        <p:spPr>
          <a:xfrm>
            <a:off x="6302044" y="4015444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1 649,7 → 1 614,4</a:t>
            </a:r>
          </a:p>
        </p:txBody>
      </p:sp>
      <p:sp>
        <p:nvSpPr>
          <p:cNvPr id="1070" name="Rounded Rectangle 1069"/>
          <p:cNvSpPr/>
          <p:nvPr/>
        </p:nvSpPr>
        <p:spPr>
          <a:xfrm>
            <a:off x="7596835" y="387736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+14,3%</a:t>
            </a:r>
          </a:p>
        </p:txBody>
      </p:sp>
      <p:sp>
        <p:nvSpPr>
          <p:cNvPr id="1071" name="TextBox 1070"/>
          <p:cNvSpPr txBox="1"/>
          <p:nvPr/>
        </p:nvSpPr>
        <p:spPr>
          <a:xfrm>
            <a:off x="8273491" y="3859660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+94,6</a:t>
            </a:r>
          </a:p>
        </p:txBody>
      </p:sp>
      <p:sp>
        <p:nvSpPr>
          <p:cNvPr id="1072" name="TextBox 1071"/>
          <p:cNvSpPr txBox="1"/>
          <p:nvPr/>
        </p:nvSpPr>
        <p:spPr>
          <a:xfrm>
            <a:off x="8273491" y="4015444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661,6 → 756,1</a:t>
            </a:r>
          </a:p>
        </p:txBody>
      </p:sp>
      <p:sp>
        <p:nvSpPr>
          <p:cNvPr id="1073" name="Rounded Rectangle 1072"/>
          <p:cNvSpPr/>
          <p:nvPr/>
        </p:nvSpPr>
        <p:spPr>
          <a:xfrm>
            <a:off x="9568281" y="3877363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+3,3%</a:t>
            </a:r>
          </a:p>
        </p:txBody>
      </p:sp>
      <p:sp>
        <p:nvSpPr>
          <p:cNvPr id="1074" name="Rounded Rectangle 1073"/>
          <p:cNvSpPr/>
          <p:nvPr/>
        </p:nvSpPr>
        <p:spPr>
          <a:xfrm>
            <a:off x="10199217" y="3935211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Oval 1074"/>
          <p:cNvSpPr/>
          <p:nvPr/>
        </p:nvSpPr>
        <p:spPr>
          <a:xfrm>
            <a:off x="10211653" y="3955694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Oval 1075"/>
          <p:cNvSpPr/>
          <p:nvPr/>
        </p:nvSpPr>
        <p:spPr>
          <a:xfrm>
            <a:off x="10329428" y="3955694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Oval 1076"/>
          <p:cNvSpPr/>
          <p:nvPr/>
        </p:nvSpPr>
        <p:spPr>
          <a:xfrm>
            <a:off x="10447202" y="3955694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10619841" y="3859660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+217,8</a:t>
            </a:r>
          </a:p>
        </p:txBody>
      </p:sp>
      <p:sp>
        <p:nvSpPr>
          <p:cNvPr id="1079" name="TextBox 1078"/>
          <p:cNvSpPr txBox="1"/>
          <p:nvPr/>
        </p:nvSpPr>
        <p:spPr>
          <a:xfrm>
            <a:off x="10619841" y="4015444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6 540,1 → 6 757,9</a:t>
            </a:r>
          </a:p>
        </p:txBody>
      </p:sp>
      <p:sp>
        <p:nvSpPr>
          <p:cNvPr id="1080" name="Rounded Rectangle 1079"/>
          <p:cNvSpPr/>
          <p:nvPr/>
        </p:nvSpPr>
        <p:spPr>
          <a:xfrm>
            <a:off x="603504" y="4233672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TextBox 1080"/>
          <p:cNvSpPr txBox="1"/>
          <p:nvPr/>
        </p:nvSpPr>
        <p:spPr>
          <a:xfrm>
            <a:off x="786384" y="4233672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82" name="Rounded Rectangle 1081"/>
          <p:cNvSpPr/>
          <p:nvPr/>
        </p:nvSpPr>
        <p:spPr>
          <a:xfrm>
            <a:off x="1682496" y="427969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+1,1%</a:t>
            </a:r>
          </a:p>
        </p:txBody>
      </p:sp>
      <p:sp>
        <p:nvSpPr>
          <p:cNvPr id="1083" name="TextBox 1082"/>
          <p:cNvSpPr txBox="1"/>
          <p:nvPr/>
        </p:nvSpPr>
        <p:spPr>
          <a:xfrm>
            <a:off x="2359152" y="4261996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+48,6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2359152" y="4417780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4 347,0 → 4 395,5</a:t>
            </a:r>
          </a:p>
        </p:txBody>
      </p:sp>
      <p:sp>
        <p:nvSpPr>
          <p:cNvPr id="1085" name="Rounded Rectangle 1084"/>
          <p:cNvSpPr/>
          <p:nvPr/>
        </p:nvSpPr>
        <p:spPr>
          <a:xfrm>
            <a:off x="3653942" y="427969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−22,3%</a:t>
            </a:r>
          </a:p>
        </p:txBody>
      </p:sp>
      <p:sp>
        <p:nvSpPr>
          <p:cNvPr id="1086" name="TextBox 1085"/>
          <p:cNvSpPr txBox="1"/>
          <p:nvPr/>
        </p:nvSpPr>
        <p:spPr>
          <a:xfrm>
            <a:off x="4330598" y="4261996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−459,1</a:t>
            </a:r>
          </a:p>
        </p:txBody>
      </p:sp>
      <p:sp>
        <p:nvSpPr>
          <p:cNvPr id="1087" name="TextBox 1086"/>
          <p:cNvSpPr txBox="1"/>
          <p:nvPr/>
        </p:nvSpPr>
        <p:spPr>
          <a:xfrm>
            <a:off x="4330598" y="4417780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2 054,6 → 1 595,4</a:t>
            </a:r>
          </a:p>
        </p:txBody>
      </p:sp>
      <p:sp>
        <p:nvSpPr>
          <p:cNvPr id="1088" name="Rounded Rectangle 1087"/>
          <p:cNvSpPr/>
          <p:nvPr/>
        </p:nvSpPr>
        <p:spPr>
          <a:xfrm>
            <a:off x="5625388" y="427969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−3,8%</a:t>
            </a:r>
          </a:p>
        </p:txBody>
      </p:sp>
      <p:sp>
        <p:nvSpPr>
          <p:cNvPr id="1089" name="TextBox 1088"/>
          <p:cNvSpPr txBox="1"/>
          <p:nvPr/>
        </p:nvSpPr>
        <p:spPr>
          <a:xfrm>
            <a:off x="6302044" y="4261996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−69,9</a:t>
            </a:r>
          </a:p>
        </p:txBody>
      </p:sp>
      <p:sp>
        <p:nvSpPr>
          <p:cNvPr id="1090" name="TextBox 1089"/>
          <p:cNvSpPr txBox="1"/>
          <p:nvPr/>
        </p:nvSpPr>
        <p:spPr>
          <a:xfrm>
            <a:off x="6302044" y="4417780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1 816,6 → 1 746,8</a:t>
            </a:r>
          </a:p>
        </p:txBody>
      </p:sp>
      <p:sp>
        <p:nvSpPr>
          <p:cNvPr id="1091" name="Rounded Rectangle 1090"/>
          <p:cNvSpPr/>
          <p:nvPr/>
        </p:nvSpPr>
        <p:spPr>
          <a:xfrm>
            <a:off x="7596835" y="427969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+4,8%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8273491" y="4261996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+36,3</a:t>
            </a:r>
          </a:p>
        </p:txBody>
      </p:sp>
      <p:sp>
        <p:nvSpPr>
          <p:cNvPr id="1093" name="TextBox 1092"/>
          <p:cNvSpPr txBox="1"/>
          <p:nvPr/>
        </p:nvSpPr>
        <p:spPr>
          <a:xfrm>
            <a:off x="8273491" y="4417780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753,5 → 789,8</a:t>
            </a:r>
          </a:p>
        </p:txBody>
      </p:sp>
      <p:sp>
        <p:nvSpPr>
          <p:cNvPr id="1094" name="Rounded Rectangle 1093"/>
          <p:cNvSpPr/>
          <p:nvPr/>
        </p:nvSpPr>
        <p:spPr>
          <a:xfrm>
            <a:off x="9568281" y="4279699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+0,2%</a:t>
            </a:r>
          </a:p>
        </p:txBody>
      </p:sp>
      <p:sp>
        <p:nvSpPr>
          <p:cNvPr id="1095" name="Rounded Rectangle 1094"/>
          <p:cNvSpPr/>
          <p:nvPr/>
        </p:nvSpPr>
        <p:spPr>
          <a:xfrm>
            <a:off x="10199217" y="4337547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6" name="Oval 1095"/>
          <p:cNvSpPr/>
          <p:nvPr/>
        </p:nvSpPr>
        <p:spPr>
          <a:xfrm>
            <a:off x="10211653" y="4358030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Oval 1096"/>
          <p:cNvSpPr/>
          <p:nvPr/>
        </p:nvSpPr>
        <p:spPr>
          <a:xfrm>
            <a:off x="10329428" y="4358030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8" name="Oval 1097"/>
          <p:cNvSpPr/>
          <p:nvPr/>
        </p:nvSpPr>
        <p:spPr>
          <a:xfrm>
            <a:off x="10447202" y="4358030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9" name="TextBox 1098"/>
          <p:cNvSpPr txBox="1"/>
          <p:nvPr/>
        </p:nvSpPr>
        <p:spPr>
          <a:xfrm>
            <a:off x="10619841" y="4261996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+15,0</a:t>
            </a:r>
          </a:p>
        </p:txBody>
      </p:sp>
      <p:sp>
        <p:nvSpPr>
          <p:cNvPr id="1100" name="TextBox 1099"/>
          <p:cNvSpPr txBox="1"/>
          <p:nvPr/>
        </p:nvSpPr>
        <p:spPr>
          <a:xfrm>
            <a:off x="10619841" y="4417780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6 917,0 → 6 932,1</a:t>
            </a:r>
          </a:p>
        </p:txBody>
      </p:sp>
      <p:sp>
        <p:nvSpPr>
          <p:cNvPr id="1101" name="Rounded Rectangle 1100"/>
          <p:cNvSpPr/>
          <p:nvPr/>
        </p:nvSpPr>
        <p:spPr>
          <a:xfrm>
            <a:off x="603504" y="4636008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2" name="TextBox 1101"/>
          <p:cNvSpPr txBox="1"/>
          <p:nvPr/>
        </p:nvSpPr>
        <p:spPr>
          <a:xfrm>
            <a:off x="786384" y="4636008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103" name="Rounded Rectangle 1102"/>
          <p:cNvSpPr/>
          <p:nvPr/>
        </p:nvSpPr>
        <p:spPr>
          <a:xfrm>
            <a:off x="1682496" y="468203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−2,5%</a:t>
            </a:r>
          </a:p>
        </p:txBody>
      </p:sp>
      <p:sp>
        <p:nvSpPr>
          <p:cNvPr id="1104" name="TextBox 1103"/>
          <p:cNvSpPr txBox="1"/>
          <p:nvPr/>
        </p:nvSpPr>
        <p:spPr>
          <a:xfrm>
            <a:off x="2359152" y="4664332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−109,1</a:t>
            </a:r>
          </a:p>
        </p:txBody>
      </p:sp>
      <p:sp>
        <p:nvSpPr>
          <p:cNvPr id="1105" name="TextBox 1104"/>
          <p:cNvSpPr txBox="1"/>
          <p:nvPr/>
        </p:nvSpPr>
        <p:spPr>
          <a:xfrm>
            <a:off x="2359152" y="4820116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4 394,0 → 4 284,9</a:t>
            </a:r>
          </a:p>
        </p:txBody>
      </p:sp>
      <p:sp>
        <p:nvSpPr>
          <p:cNvPr id="1106" name="Rounded Rectangle 1105"/>
          <p:cNvSpPr/>
          <p:nvPr/>
        </p:nvSpPr>
        <p:spPr>
          <a:xfrm>
            <a:off x="3653942" y="468203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−5,7%</a:t>
            </a:r>
          </a:p>
        </p:txBody>
      </p:sp>
      <p:sp>
        <p:nvSpPr>
          <p:cNvPr id="1107" name="TextBox 1106"/>
          <p:cNvSpPr txBox="1"/>
          <p:nvPr/>
        </p:nvSpPr>
        <p:spPr>
          <a:xfrm>
            <a:off x="4330598" y="4664332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−93,6</a:t>
            </a:r>
          </a:p>
        </p:txBody>
      </p:sp>
      <p:sp>
        <p:nvSpPr>
          <p:cNvPr id="1108" name="TextBox 1107"/>
          <p:cNvSpPr txBox="1"/>
          <p:nvPr/>
        </p:nvSpPr>
        <p:spPr>
          <a:xfrm>
            <a:off x="4330598" y="4820116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1 631,4 → 1 537,8</a:t>
            </a:r>
          </a:p>
        </p:txBody>
      </p:sp>
      <p:sp>
        <p:nvSpPr>
          <p:cNvPr id="1109" name="Rounded Rectangle 1108"/>
          <p:cNvSpPr/>
          <p:nvPr/>
        </p:nvSpPr>
        <p:spPr>
          <a:xfrm>
            <a:off x="5625388" y="468203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−2,6%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6302044" y="4664332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−41,2</a:t>
            </a:r>
          </a:p>
        </p:txBody>
      </p:sp>
      <p:sp>
        <p:nvSpPr>
          <p:cNvPr id="1111" name="TextBox 1110"/>
          <p:cNvSpPr txBox="1"/>
          <p:nvPr/>
        </p:nvSpPr>
        <p:spPr>
          <a:xfrm>
            <a:off x="6302044" y="4820116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1 607,5 → 1 566,2</a:t>
            </a:r>
          </a:p>
        </p:txBody>
      </p:sp>
      <p:sp>
        <p:nvSpPr>
          <p:cNvPr id="1112" name="Rounded Rectangle 1111"/>
          <p:cNvSpPr/>
          <p:nvPr/>
        </p:nvSpPr>
        <p:spPr>
          <a:xfrm>
            <a:off x="7596835" y="468203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−0,2%</a:t>
            </a:r>
          </a:p>
        </p:txBody>
      </p:sp>
      <p:sp>
        <p:nvSpPr>
          <p:cNvPr id="1113" name="TextBox 1112"/>
          <p:cNvSpPr txBox="1"/>
          <p:nvPr/>
        </p:nvSpPr>
        <p:spPr>
          <a:xfrm>
            <a:off x="8273491" y="4664332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−1,7</a:t>
            </a:r>
          </a:p>
        </p:txBody>
      </p:sp>
      <p:sp>
        <p:nvSpPr>
          <p:cNvPr id="1114" name="TextBox 1113"/>
          <p:cNvSpPr txBox="1"/>
          <p:nvPr/>
        </p:nvSpPr>
        <p:spPr>
          <a:xfrm>
            <a:off x="8273491" y="4820116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768,9 → 767,1</a:t>
            </a:r>
          </a:p>
        </p:txBody>
      </p:sp>
      <p:sp>
        <p:nvSpPr>
          <p:cNvPr id="1115" name="Rounded Rectangle 1114"/>
          <p:cNvSpPr/>
          <p:nvPr/>
        </p:nvSpPr>
        <p:spPr>
          <a:xfrm>
            <a:off x="9568281" y="4682035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−2,2%</a:t>
            </a:r>
          </a:p>
        </p:txBody>
      </p:sp>
      <p:sp>
        <p:nvSpPr>
          <p:cNvPr id="1116" name="Rounded Rectangle 1115"/>
          <p:cNvSpPr/>
          <p:nvPr/>
        </p:nvSpPr>
        <p:spPr>
          <a:xfrm>
            <a:off x="10199217" y="4739883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7" name="Oval 1116"/>
          <p:cNvSpPr/>
          <p:nvPr/>
        </p:nvSpPr>
        <p:spPr>
          <a:xfrm>
            <a:off x="10211653" y="4760366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Oval 1117"/>
          <p:cNvSpPr/>
          <p:nvPr/>
        </p:nvSpPr>
        <p:spPr>
          <a:xfrm>
            <a:off x="10329428" y="4760366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9" name="Oval 1118"/>
          <p:cNvSpPr/>
          <p:nvPr/>
        </p:nvSpPr>
        <p:spPr>
          <a:xfrm>
            <a:off x="10447202" y="4760366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0" name="TextBox 1119"/>
          <p:cNvSpPr txBox="1"/>
          <p:nvPr/>
        </p:nvSpPr>
        <p:spPr>
          <a:xfrm>
            <a:off x="10619841" y="4664332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−152,0</a:t>
            </a:r>
          </a:p>
        </p:txBody>
      </p:sp>
      <p:sp>
        <p:nvSpPr>
          <p:cNvPr id="1121" name="TextBox 1120"/>
          <p:cNvSpPr txBox="1"/>
          <p:nvPr/>
        </p:nvSpPr>
        <p:spPr>
          <a:xfrm>
            <a:off x="10619841" y="4820116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6 770,4 → 6 618,3</a:t>
            </a:r>
          </a:p>
        </p:txBody>
      </p:sp>
      <p:sp>
        <p:nvSpPr>
          <p:cNvPr id="1122" name="Rounded Rectangle 1121"/>
          <p:cNvSpPr/>
          <p:nvPr/>
        </p:nvSpPr>
        <p:spPr>
          <a:xfrm>
            <a:off x="603504" y="5038344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3" name="TextBox 1122"/>
          <p:cNvSpPr txBox="1"/>
          <p:nvPr/>
        </p:nvSpPr>
        <p:spPr>
          <a:xfrm>
            <a:off x="786384" y="5038344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124" name="Rounded Rectangle 1123"/>
          <p:cNvSpPr/>
          <p:nvPr/>
        </p:nvSpPr>
        <p:spPr>
          <a:xfrm>
            <a:off x="1682496" y="508437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+1,3%</a:t>
            </a:r>
          </a:p>
        </p:txBody>
      </p:sp>
      <p:sp>
        <p:nvSpPr>
          <p:cNvPr id="1125" name="TextBox 1124"/>
          <p:cNvSpPr txBox="1"/>
          <p:nvPr/>
        </p:nvSpPr>
        <p:spPr>
          <a:xfrm>
            <a:off x="2359152" y="5066668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+485,5</a:t>
            </a:r>
          </a:p>
        </p:txBody>
      </p:sp>
      <p:sp>
        <p:nvSpPr>
          <p:cNvPr id="1126" name="TextBox 1125"/>
          <p:cNvSpPr txBox="1"/>
          <p:nvPr/>
        </p:nvSpPr>
        <p:spPr>
          <a:xfrm>
            <a:off x="2359152" y="5222452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36 531,2 → 37 016,8</a:t>
            </a:r>
          </a:p>
        </p:txBody>
      </p:sp>
      <p:sp>
        <p:nvSpPr>
          <p:cNvPr id="1127" name="Rounded Rectangle 1126"/>
          <p:cNvSpPr/>
          <p:nvPr/>
        </p:nvSpPr>
        <p:spPr>
          <a:xfrm>
            <a:off x="3653942" y="508437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−2,1%</a:t>
            </a:r>
          </a:p>
        </p:txBody>
      </p:sp>
      <p:sp>
        <p:nvSpPr>
          <p:cNvPr id="1128" name="TextBox 1127"/>
          <p:cNvSpPr txBox="1"/>
          <p:nvPr/>
        </p:nvSpPr>
        <p:spPr>
          <a:xfrm>
            <a:off x="4330598" y="5066668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−332,8</a:t>
            </a:r>
          </a:p>
        </p:txBody>
      </p:sp>
      <p:sp>
        <p:nvSpPr>
          <p:cNvPr id="1129" name="TextBox 1128"/>
          <p:cNvSpPr txBox="1"/>
          <p:nvPr/>
        </p:nvSpPr>
        <p:spPr>
          <a:xfrm>
            <a:off x="4330598" y="5222452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15 642,8 → 15 310,0</a:t>
            </a:r>
          </a:p>
        </p:txBody>
      </p:sp>
      <p:sp>
        <p:nvSpPr>
          <p:cNvPr id="1130" name="Rounded Rectangle 1129"/>
          <p:cNvSpPr/>
          <p:nvPr/>
        </p:nvSpPr>
        <p:spPr>
          <a:xfrm>
            <a:off x="5625388" y="508437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−1,4%</a:t>
            </a:r>
          </a:p>
        </p:txBody>
      </p:sp>
      <p:sp>
        <p:nvSpPr>
          <p:cNvPr id="1131" name="TextBox 1130"/>
          <p:cNvSpPr txBox="1"/>
          <p:nvPr/>
        </p:nvSpPr>
        <p:spPr>
          <a:xfrm>
            <a:off x="6302044" y="5066668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−198,9</a:t>
            </a:r>
          </a:p>
        </p:txBody>
      </p:sp>
      <p:sp>
        <p:nvSpPr>
          <p:cNvPr id="1132" name="TextBox 1131"/>
          <p:cNvSpPr txBox="1"/>
          <p:nvPr/>
        </p:nvSpPr>
        <p:spPr>
          <a:xfrm>
            <a:off x="6302044" y="5222452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14 466,3 → 14 267,3</a:t>
            </a:r>
          </a:p>
        </p:txBody>
      </p:sp>
      <p:sp>
        <p:nvSpPr>
          <p:cNvPr id="1133" name="Rounded Rectangle 1132"/>
          <p:cNvSpPr/>
          <p:nvPr/>
        </p:nvSpPr>
        <p:spPr>
          <a:xfrm>
            <a:off x="7596835" y="508437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+2,4%</a:t>
            </a:r>
          </a:p>
        </p:txBody>
      </p:sp>
      <p:sp>
        <p:nvSpPr>
          <p:cNvPr id="1134" name="TextBox 1133"/>
          <p:cNvSpPr txBox="1"/>
          <p:nvPr/>
        </p:nvSpPr>
        <p:spPr>
          <a:xfrm>
            <a:off x="8273491" y="5066668"/>
            <a:ext cx="1239926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+145,4</a:t>
            </a:r>
          </a:p>
        </p:txBody>
      </p:sp>
      <p:sp>
        <p:nvSpPr>
          <p:cNvPr id="1135" name="TextBox 1134"/>
          <p:cNvSpPr txBox="1"/>
          <p:nvPr/>
        </p:nvSpPr>
        <p:spPr>
          <a:xfrm>
            <a:off x="8273491" y="5222452"/>
            <a:ext cx="1331366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6 075,1 → 6 220,5</a:t>
            </a:r>
          </a:p>
        </p:txBody>
      </p:sp>
      <p:sp>
        <p:nvSpPr>
          <p:cNvPr id="1136" name="Rounded Rectangle 1135"/>
          <p:cNvSpPr/>
          <p:nvPr/>
        </p:nvSpPr>
        <p:spPr>
          <a:xfrm>
            <a:off x="9568281" y="5084371"/>
            <a:ext cx="585216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+0,8%</a:t>
            </a:r>
          </a:p>
        </p:txBody>
      </p:sp>
      <p:sp>
        <p:nvSpPr>
          <p:cNvPr id="1137" name="Rounded Rectangle 1136"/>
          <p:cNvSpPr/>
          <p:nvPr/>
        </p:nvSpPr>
        <p:spPr>
          <a:xfrm>
            <a:off x="10199217" y="514221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8" name="Oval 1137"/>
          <p:cNvSpPr/>
          <p:nvPr/>
        </p:nvSpPr>
        <p:spPr>
          <a:xfrm>
            <a:off x="10211653" y="516270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9" name="Oval 1138"/>
          <p:cNvSpPr/>
          <p:nvPr/>
        </p:nvSpPr>
        <p:spPr>
          <a:xfrm>
            <a:off x="10329428" y="516270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Oval 1139"/>
          <p:cNvSpPr/>
          <p:nvPr/>
        </p:nvSpPr>
        <p:spPr>
          <a:xfrm>
            <a:off x="10447202" y="516270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1" name="TextBox 1140"/>
          <p:cNvSpPr txBox="1"/>
          <p:nvPr/>
        </p:nvSpPr>
        <p:spPr>
          <a:xfrm>
            <a:off x="10619841" y="5066668"/>
            <a:ext cx="865022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+432,1</a:t>
            </a:r>
          </a:p>
        </p:txBody>
      </p:sp>
      <p:sp>
        <p:nvSpPr>
          <p:cNvPr id="1142" name="TextBox 1141"/>
          <p:cNvSpPr txBox="1"/>
          <p:nvPr/>
        </p:nvSpPr>
        <p:spPr>
          <a:xfrm>
            <a:off x="10619841" y="5222452"/>
            <a:ext cx="956462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57 072,6 → 57 504,7</a:t>
            </a:r>
          </a:p>
        </p:txBody>
      </p:sp>
      <p:sp>
        <p:nvSpPr>
          <p:cNvPr id="1143" name="Rounded Rectangle 1142"/>
          <p:cNvSpPr/>
          <p:nvPr/>
        </p:nvSpPr>
        <p:spPr>
          <a:xfrm>
            <a:off x="603504" y="5486400"/>
            <a:ext cx="919886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54864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 b="0">
                <a:solidFill>
                  <a:srgbClr val="404040"/>
                </a:solidFill>
                <a:latin typeface="Arial"/>
              </a:rPr>
              <a:t>Δ = учёт − замер, % от замера; допуск ±5%. За 9 месяцев все объекты в допуске: Гросс +1,3%, КВ −2,1%, Таборный −1,4%, Токко +2,4%, всего +0,8%. Помесячно в допуске: Гросс 8 из 9, Таборный 7, Токко 4, КВ — 0: укладку ОУ и замер относят к разным месяцам (январь в ОУ 578 тыс. м³ против 1 565 по замеру). По трём карьерам вне допуска январь (+7,5%) и март (−6,1%): объёмы сдвигаются между месяцами.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Гросс · сходимость ОУ и маркзамера по стадиям · тыс. м³ · июль–август 2026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1645920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ST3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1645920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Δ %  ·  Δ  ·  замер → учёт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3617366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ST4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3617366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стадия 4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5588812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ST5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5588812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стадия 5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7560259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ST6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7560259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стадия 6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9531705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Карьер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9531705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стадии 3–6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603504" y="1417320"/>
            <a:ext cx="10972800" cy="4828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786384" y="1417320"/>
            <a:ext cx="1143000" cy="482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935" name="Rounded Rectangle 934"/>
          <p:cNvSpPr/>
          <p:nvPr/>
        </p:nvSpPr>
        <p:spPr>
          <a:xfrm>
            <a:off x="1682496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+8,9%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2359152" y="145594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+121,4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2359152" y="166837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1 369,3 → 1 490,6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3653942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+2,9%</a:t>
            </a:r>
          </a:p>
        </p:txBody>
      </p:sp>
      <p:sp>
        <p:nvSpPr>
          <p:cNvPr id="939" name="TextBox 938"/>
          <p:cNvSpPr txBox="1"/>
          <p:nvPr/>
        </p:nvSpPr>
        <p:spPr>
          <a:xfrm>
            <a:off x="4330598" y="145594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+58,8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4330598" y="166837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2 053,0 → 2 111,8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5625388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−2,4%</a:t>
            </a:r>
          </a:p>
        </p:txBody>
      </p:sp>
      <p:sp>
        <p:nvSpPr>
          <p:cNvPr id="942" name="TextBox 941"/>
          <p:cNvSpPr txBox="1"/>
          <p:nvPr/>
        </p:nvSpPr>
        <p:spPr>
          <a:xfrm>
            <a:off x="6302044" y="145594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−11,1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6302044" y="166837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469,9 → 458,8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7596835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−3,1%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8273491" y="145594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−10,4</a:t>
            </a:r>
          </a:p>
        </p:txBody>
      </p:sp>
      <p:sp>
        <p:nvSpPr>
          <p:cNvPr id="946" name="TextBox 945"/>
          <p:cNvSpPr txBox="1"/>
          <p:nvPr/>
        </p:nvSpPr>
        <p:spPr>
          <a:xfrm>
            <a:off x="8273491" y="166837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336,6 → 326,1</a:t>
            </a:r>
          </a:p>
        </p:txBody>
      </p:sp>
      <p:sp>
        <p:nvSpPr>
          <p:cNvPr id="947" name="Rounded Rectangle 946"/>
          <p:cNvSpPr/>
          <p:nvPr/>
        </p:nvSpPr>
        <p:spPr>
          <a:xfrm>
            <a:off x="9568281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+3,7%</a:t>
            </a:r>
          </a:p>
        </p:txBody>
      </p:sp>
      <p:sp>
        <p:nvSpPr>
          <p:cNvPr id="948" name="Rounded Rectangle 947"/>
          <p:cNvSpPr/>
          <p:nvPr/>
        </p:nvSpPr>
        <p:spPr>
          <a:xfrm>
            <a:off x="10199217" y="158556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10211653" y="160605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10329428" y="160605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10447202" y="160605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10619841" y="1455944"/>
            <a:ext cx="865022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+158,6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10619841" y="1668377"/>
            <a:ext cx="956462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4 228,8 → 4 387,4</a:t>
            </a:r>
          </a:p>
        </p:txBody>
      </p:sp>
      <p:sp>
        <p:nvSpPr>
          <p:cNvPr id="954" name="Rounded Rectangle 953"/>
          <p:cNvSpPr/>
          <p:nvPr/>
        </p:nvSpPr>
        <p:spPr>
          <a:xfrm>
            <a:off x="603504" y="1965960"/>
            <a:ext cx="10972800" cy="4828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786384" y="1965960"/>
            <a:ext cx="1143000" cy="482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956" name="Rounded Rectangle 955"/>
          <p:cNvSpPr/>
          <p:nvPr/>
        </p:nvSpPr>
        <p:spPr>
          <a:xfrm>
            <a:off x="1682496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+0,3%</a:t>
            </a:r>
          </a:p>
        </p:txBody>
      </p:sp>
      <p:sp>
        <p:nvSpPr>
          <p:cNvPr id="957" name="TextBox 956"/>
          <p:cNvSpPr txBox="1"/>
          <p:nvPr/>
        </p:nvSpPr>
        <p:spPr>
          <a:xfrm>
            <a:off x="2359152" y="200458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+3,8</a:t>
            </a:r>
          </a:p>
        </p:txBody>
      </p:sp>
      <p:sp>
        <p:nvSpPr>
          <p:cNvPr id="958" name="TextBox 957"/>
          <p:cNvSpPr txBox="1"/>
          <p:nvPr/>
        </p:nvSpPr>
        <p:spPr>
          <a:xfrm>
            <a:off x="2359152" y="221701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1 443,2 → 1 447,0</a:t>
            </a:r>
          </a:p>
        </p:txBody>
      </p:sp>
      <p:sp>
        <p:nvSpPr>
          <p:cNvPr id="959" name="Rounded Rectangle 958"/>
          <p:cNvSpPr/>
          <p:nvPr/>
        </p:nvSpPr>
        <p:spPr>
          <a:xfrm>
            <a:off x="3653942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−3,7%</a:t>
            </a:r>
          </a:p>
        </p:txBody>
      </p:sp>
      <p:sp>
        <p:nvSpPr>
          <p:cNvPr id="960" name="TextBox 959"/>
          <p:cNvSpPr txBox="1"/>
          <p:nvPr/>
        </p:nvSpPr>
        <p:spPr>
          <a:xfrm>
            <a:off x="4330598" y="200458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−81,2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330598" y="221701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2 208,0 → 2 126,8</a:t>
            </a:r>
          </a:p>
        </p:txBody>
      </p:sp>
      <p:sp>
        <p:nvSpPr>
          <p:cNvPr id="962" name="Rounded Rectangle 961"/>
          <p:cNvSpPr/>
          <p:nvPr/>
        </p:nvSpPr>
        <p:spPr>
          <a:xfrm>
            <a:off x="5625388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+21,8%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302044" y="200458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+120,0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6302044" y="221701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550,1 → 670,1</a:t>
            </a:r>
          </a:p>
        </p:txBody>
      </p:sp>
      <p:sp>
        <p:nvSpPr>
          <p:cNvPr id="965" name="Rounded Rectangle 964"/>
          <p:cNvSpPr/>
          <p:nvPr/>
        </p:nvSpPr>
        <p:spPr>
          <a:xfrm>
            <a:off x="7596835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+4,1%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8273491" y="200458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+6,0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73491" y="221701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145,6 → 151,6</a:t>
            </a:r>
          </a:p>
        </p:txBody>
      </p:sp>
      <p:sp>
        <p:nvSpPr>
          <p:cNvPr id="968" name="Rounded Rectangle 967"/>
          <p:cNvSpPr/>
          <p:nvPr/>
        </p:nvSpPr>
        <p:spPr>
          <a:xfrm>
            <a:off x="9568281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+1,1%</a:t>
            </a:r>
          </a:p>
        </p:txBody>
      </p:sp>
      <p:sp>
        <p:nvSpPr>
          <p:cNvPr id="969" name="Rounded Rectangle 968"/>
          <p:cNvSpPr/>
          <p:nvPr/>
        </p:nvSpPr>
        <p:spPr>
          <a:xfrm>
            <a:off x="10199217" y="213420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211653" y="215469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10329428" y="215469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10447202" y="215469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10619841" y="2004584"/>
            <a:ext cx="865022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+48,6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10619841" y="2217017"/>
            <a:ext cx="956462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4 347,0 → 4 395,5</a:t>
            </a:r>
          </a:p>
        </p:txBody>
      </p:sp>
      <p:sp>
        <p:nvSpPr>
          <p:cNvPr id="975" name="Rounded Rectangle 974"/>
          <p:cNvSpPr/>
          <p:nvPr/>
        </p:nvSpPr>
        <p:spPr>
          <a:xfrm>
            <a:off x="603504" y="2514600"/>
            <a:ext cx="10972800" cy="482803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TextBox 975"/>
          <p:cNvSpPr txBox="1"/>
          <p:nvPr/>
        </p:nvSpPr>
        <p:spPr>
          <a:xfrm>
            <a:off x="786384" y="2514600"/>
            <a:ext cx="1143000" cy="482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2 мес.</a:t>
            </a:r>
          </a:p>
        </p:txBody>
      </p:sp>
      <p:sp>
        <p:nvSpPr>
          <p:cNvPr id="977" name="Rounded Rectangle 976"/>
          <p:cNvSpPr/>
          <p:nvPr/>
        </p:nvSpPr>
        <p:spPr>
          <a:xfrm>
            <a:off x="1682496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+4,5%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2359152" y="255322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+125,2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2359152" y="276565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2 812,5 → 2 937,7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3653942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−0,5%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4330598" y="255322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−22,5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4330598" y="276565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4 261,0 → 4 238,6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5625388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+10,7%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6302044" y="255322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+108,9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6302044" y="276565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1 020,1 → 1 128,9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7596835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−0,9%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8273491" y="255322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−4,5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8273491" y="276565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482,2 → 477,7</a:t>
            </a:r>
          </a:p>
        </p:txBody>
      </p:sp>
      <p:sp>
        <p:nvSpPr>
          <p:cNvPr id="989" name="Rounded Rectangle 988"/>
          <p:cNvSpPr/>
          <p:nvPr/>
        </p:nvSpPr>
        <p:spPr>
          <a:xfrm>
            <a:off x="9568281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+2,4%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10199217" y="268284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10211653" y="270333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10329428" y="270333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10447202" y="270333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TextBox 993"/>
          <p:cNvSpPr txBox="1"/>
          <p:nvPr/>
        </p:nvSpPr>
        <p:spPr>
          <a:xfrm>
            <a:off x="10619841" y="2553224"/>
            <a:ext cx="865022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+207,1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10619841" y="2765657"/>
            <a:ext cx="956462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8 575,8 → 8 782,9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603504" y="3108960"/>
            <a:ext cx="9198864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54864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 b="0">
                <a:solidFill>
                  <a:srgbClr val="404040"/>
                </a:solidFill>
                <a:latin typeface="Arial"/>
              </a:rPr>
              <a:t>Разбивка замера по стадиям есть только в справках за июль и август (в сентябрьском файле лист стадий — копия августа). Вне допуска: июль ST3 (учёт выше замера на 8,9%) и август ST5 (+21,8%), при этом по карьеру в целом — в допуске. Похоже, часть объёма в ОУ отнесена к соседней стадии (август: ST4 −3,7%, ST5 +21,8%).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Таборный · сходимость ОУ и маркзамера по стадиям · тыс. м³ · июль–август 2026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1645920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W4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1645920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Δ %  ·  Δ  ·  замер → учёт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3617366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E3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3617366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стадия E3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5588812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E4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5588812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стадия E4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7560259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Врезанный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7560259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VREZ</a:t>
            </a:r>
          </a:p>
        </p:txBody>
      </p:sp>
      <p:sp>
        <p:nvSpPr>
          <p:cNvPr id="931" name="TextBox 930"/>
          <p:cNvSpPr txBox="1"/>
          <p:nvPr/>
        </p:nvSpPr>
        <p:spPr>
          <a:xfrm>
            <a:off x="9531705" y="1069848"/>
            <a:ext cx="1971446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Карьер</a:t>
            </a:r>
          </a:p>
        </p:txBody>
      </p:sp>
      <p:sp>
        <p:nvSpPr>
          <p:cNvPr id="932" name="TextBox 931"/>
          <p:cNvSpPr txBox="1"/>
          <p:nvPr/>
        </p:nvSpPr>
        <p:spPr>
          <a:xfrm>
            <a:off x="9531705" y="1225296"/>
            <a:ext cx="1971446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W4, E3, E4, Врезанный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603504" y="1417320"/>
            <a:ext cx="10972800" cy="4828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786384" y="1417320"/>
            <a:ext cx="1143000" cy="482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935" name="Rounded Rectangle 934"/>
          <p:cNvSpPr/>
          <p:nvPr/>
        </p:nvSpPr>
        <p:spPr>
          <a:xfrm>
            <a:off x="1682496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−5,6%</a:t>
            </a:r>
          </a:p>
        </p:txBody>
      </p:sp>
      <p:sp>
        <p:nvSpPr>
          <p:cNvPr id="936" name="TextBox 935"/>
          <p:cNvSpPr txBox="1"/>
          <p:nvPr/>
        </p:nvSpPr>
        <p:spPr>
          <a:xfrm>
            <a:off x="2359152" y="145594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−3,7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2359152" y="166837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65,9 → 62,2</a:t>
            </a:r>
          </a:p>
        </p:txBody>
      </p:sp>
      <p:sp>
        <p:nvSpPr>
          <p:cNvPr id="938" name="Rounded Rectangle 937"/>
          <p:cNvSpPr/>
          <p:nvPr/>
        </p:nvSpPr>
        <p:spPr>
          <a:xfrm>
            <a:off x="3653942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+8,0%</a:t>
            </a:r>
          </a:p>
        </p:txBody>
      </p:sp>
      <p:sp>
        <p:nvSpPr>
          <p:cNvPr id="939" name="TextBox 938"/>
          <p:cNvSpPr txBox="1"/>
          <p:nvPr/>
        </p:nvSpPr>
        <p:spPr>
          <a:xfrm>
            <a:off x="4330598" y="145594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+12,3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4330598" y="166837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153,2 → 165,5</a:t>
            </a:r>
          </a:p>
        </p:txBody>
      </p:sp>
      <p:sp>
        <p:nvSpPr>
          <p:cNvPr id="941" name="Rounded Rectangle 940"/>
          <p:cNvSpPr/>
          <p:nvPr/>
        </p:nvSpPr>
        <p:spPr>
          <a:xfrm>
            <a:off x="5625388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0,0%</a:t>
            </a:r>
          </a:p>
        </p:txBody>
      </p:sp>
      <p:sp>
        <p:nvSpPr>
          <p:cNvPr id="942" name="TextBox 941"/>
          <p:cNvSpPr txBox="1"/>
          <p:nvPr/>
        </p:nvSpPr>
        <p:spPr>
          <a:xfrm>
            <a:off x="6302044" y="145594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−0,4</a:t>
            </a:r>
          </a:p>
        </p:txBody>
      </p:sp>
      <p:sp>
        <p:nvSpPr>
          <p:cNvPr id="943" name="TextBox 942"/>
          <p:cNvSpPr txBox="1"/>
          <p:nvPr/>
        </p:nvSpPr>
        <p:spPr>
          <a:xfrm>
            <a:off x="6302044" y="166837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1 076,6 → 1 076,2</a:t>
            </a:r>
          </a:p>
        </p:txBody>
      </p:sp>
      <p:sp>
        <p:nvSpPr>
          <p:cNvPr id="944" name="Rounded Rectangle 943"/>
          <p:cNvSpPr/>
          <p:nvPr/>
        </p:nvSpPr>
        <p:spPr>
          <a:xfrm>
            <a:off x="7596835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−12,3%</a:t>
            </a:r>
          </a:p>
        </p:txBody>
      </p:sp>
      <p:sp>
        <p:nvSpPr>
          <p:cNvPr id="945" name="TextBox 944"/>
          <p:cNvSpPr txBox="1"/>
          <p:nvPr/>
        </p:nvSpPr>
        <p:spPr>
          <a:xfrm>
            <a:off x="8273491" y="145594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−43,5</a:t>
            </a:r>
          </a:p>
        </p:txBody>
      </p:sp>
      <p:sp>
        <p:nvSpPr>
          <p:cNvPr id="946" name="TextBox 945"/>
          <p:cNvSpPr txBox="1"/>
          <p:nvPr/>
        </p:nvSpPr>
        <p:spPr>
          <a:xfrm>
            <a:off x="8273491" y="166837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354,0 → 310,5</a:t>
            </a:r>
          </a:p>
        </p:txBody>
      </p:sp>
      <p:sp>
        <p:nvSpPr>
          <p:cNvPr id="947" name="Rounded Rectangle 946"/>
          <p:cNvSpPr/>
          <p:nvPr/>
        </p:nvSpPr>
        <p:spPr>
          <a:xfrm>
            <a:off x="9568281" y="148008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−2,1%</a:t>
            </a:r>
          </a:p>
        </p:txBody>
      </p:sp>
      <p:sp>
        <p:nvSpPr>
          <p:cNvPr id="948" name="Rounded Rectangle 947"/>
          <p:cNvSpPr/>
          <p:nvPr/>
        </p:nvSpPr>
        <p:spPr>
          <a:xfrm>
            <a:off x="10199217" y="158556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Oval 948"/>
          <p:cNvSpPr/>
          <p:nvPr/>
        </p:nvSpPr>
        <p:spPr>
          <a:xfrm>
            <a:off x="10211653" y="160605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Oval 949"/>
          <p:cNvSpPr/>
          <p:nvPr/>
        </p:nvSpPr>
        <p:spPr>
          <a:xfrm>
            <a:off x="10329428" y="160605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1" name="Oval 950"/>
          <p:cNvSpPr/>
          <p:nvPr/>
        </p:nvSpPr>
        <p:spPr>
          <a:xfrm>
            <a:off x="10447202" y="160605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10619841" y="1455944"/>
            <a:ext cx="865022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−35,3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10619841" y="1668377"/>
            <a:ext cx="956462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1 649,7 → 1 614,4</a:t>
            </a:r>
          </a:p>
        </p:txBody>
      </p:sp>
      <p:sp>
        <p:nvSpPr>
          <p:cNvPr id="954" name="Rounded Rectangle 953"/>
          <p:cNvSpPr/>
          <p:nvPr/>
        </p:nvSpPr>
        <p:spPr>
          <a:xfrm>
            <a:off x="603504" y="1965960"/>
            <a:ext cx="10972800" cy="4828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786384" y="1965960"/>
            <a:ext cx="1143000" cy="482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956" name="Rounded Rectangle 955"/>
          <p:cNvSpPr/>
          <p:nvPr/>
        </p:nvSpPr>
        <p:spPr>
          <a:xfrm>
            <a:off x="1682496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+2,7%</a:t>
            </a:r>
          </a:p>
        </p:txBody>
      </p:sp>
      <p:sp>
        <p:nvSpPr>
          <p:cNvPr id="957" name="TextBox 956"/>
          <p:cNvSpPr txBox="1"/>
          <p:nvPr/>
        </p:nvSpPr>
        <p:spPr>
          <a:xfrm>
            <a:off x="2359152" y="200458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+2,6</a:t>
            </a:r>
          </a:p>
        </p:txBody>
      </p:sp>
      <p:sp>
        <p:nvSpPr>
          <p:cNvPr id="958" name="TextBox 957"/>
          <p:cNvSpPr txBox="1"/>
          <p:nvPr/>
        </p:nvSpPr>
        <p:spPr>
          <a:xfrm>
            <a:off x="2359152" y="221701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95,1 → 97,7</a:t>
            </a:r>
          </a:p>
        </p:txBody>
      </p:sp>
      <p:sp>
        <p:nvSpPr>
          <p:cNvPr id="959" name="Rounded Rectangle 958"/>
          <p:cNvSpPr/>
          <p:nvPr/>
        </p:nvSpPr>
        <p:spPr>
          <a:xfrm>
            <a:off x="3653942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+14,6%</a:t>
            </a:r>
          </a:p>
        </p:txBody>
      </p:sp>
      <p:sp>
        <p:nvSpPr>
          <p:cNvPr id="960" name="TextBox 959"/>
          <p:cNvSpPr txBox="1"/>
          <p:nvPr/>
        </p:nvSpPr>
        <p:spPr>
          <a:xfrm>
            <a:off x="4330598" y="200458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+18,9</a:t>
            </a:r>
          </a:p>
        </p:txBody>
      </p:sp>
      <p:sp>
        <p:nvSpPr>
          <p:cNvPr id="961" name="TextBox 960"/>
          <p:cNvSpPr txBox="1"/>
          <p:nvPr/>
        </p:nvSpPr>
        <p:spPr>
          <a:xfrm>
            <a:off x="4330598" y="221701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129,0 → 147,9</a:t>
            </a:r>
          </a:p>
        </p:txBody>
      </p:sp>
      <p:sp>
        <p:nvSpPr>
          <p:cNvPr id="962" name="Rounded Rectangle 961"/>
          <p:cNvSpPr/>
          <p:nvPr/>
        </p:nvSpPr>
        <p:spPr>
          <a:xfrm>
            <a:off x="5625388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−3,9%</a:t>
            </a:r>
          </a:p>
        </p:txBody>
      </p:sp>
      <p:sp>
        <p:nvSpPr>
          <p:cNvPr id="963" name="TextBox 962"/>
          <p:cNvSpPr txBox="1"/>
          <p:nvPr/>
        </p:nvSpPr>
        <p:spPr>
          <a:xfrm>
            <a:off x="6302044" y="200458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−42,0</a:t>
            </a:r>
          </a:p>
        </p:txBody>
      </p:sp>
      <p:sp>
        <p:nvSpPr>
          <p:cNvPr id="964" name="TextBox 963"/>
          <p:cNvSpPr txBox="1"/>
          <p:nvPr/>
        </p:nvSpPr>
        <p:spPr>
          <a:xfrm>
            <a:off x="6302044" y="221701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1 070,0 → 1 028,1</a:t>
            </a:r>
          </a:p>
        </p:txBody>
      </p:sp>
      <p:sp>
        <p:nvSpPr>
          <p:cNvPr id="965" name="Rounded Rectangle 964"/>
          <p:cNvSpPr/>
          <p:nvPr/>
        </p:nvSpPr>
        <p:spPr>
          <a:xfrm>
            <a:off x="7596835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−9,4%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8273491" y="200458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−49,3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73491" y="221701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522,4 → 473,1</a:t>
            </a:r>
          </a:p>
        </p:txBody>
      </p:sp>
      <p:sp>
        <p:nvSpPr>
          <p:cNvPr id="968" name="Rounded Rectangle 967"/>
          <p:cNvSpPr/>
          <p:nvPr/>
        </p:nvSpPr>
        <p:spPr>
          <a:xfrm>
            <a:off x="9568281" y="202872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−3,8%</a:t>
            </a:r>
          </a:p>
        </p:txBody>
      </p:sp>
      <p:sp>
        <p:nvSpPr>
          <p:cNvPr id="969" name="Rounded Rectangle 968"/>
          <p:cNvSpPr/>
          <p:nvPr/>
        </p:nvSpPr>
        <p:spPr>
          <a:xfrm>
            <a:off x="10199217" y="213420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0" name="Oval 969"/>
          <p:cNvSpPr/>
          <p:nvPr/>
        </p:nvSpPr>
        <p:spPr>
          <a:xfrm>
            <a:off x="10211653" y="215469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Oval 970"/>
          <p:cNvSpPr/>
          <p:nvPr/>
        </p:nvSpPr>
        <p:spPr>
          <a:xfrm>
            <a:off x="10329428" y="215469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2" name="Oval 971"/>
          <p:cNvSpPr/>
          <p:nvPr/>
        </p:nvSpPr>
        <p:spPr>
          <a:xfrm>
            <a:off x="10447202" y="215469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3" name="TextBox 972"/>
          <p:cNvSpPr txBox="1"/>
          <p:nvPr/>
        </p:nvSpPr>
        <p:spPr>
          <a:xfrm>
            <a:off x="10619841" y="2004584"/>
            <a:ext cx="865022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−69,9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10619841" y="2217017"/>
            <a:ext cx="956462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1 816,6 → 1 746,8</a:t>
            </a:r>
          </a:p>
        </p:txBody>
      </p:sp>
      <p:sp>
        <p:nvSpPr>
          <p:cNvPr id="975" name="Rounded Rectangle 974"/>
          <p:cNvSpPr/>
          <p:nvPr/>
        </p:nvSpPr>
        <p:spPr>
          <a:xfrm>
            <a:off x="603504" y="2514600"/>
            <a:ext cx="10972800" cy="482803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6" name="TextBox 975"/>
          <p:cNvSpPr txBox="1"/>
          <p:nvPr/>
        </p:nvSpPr>
        <p:spPr>
          <a:xfrm>
            <a:off x="786384" y="2514600"/>
            <a:ext cx="1143000" cy="482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2 мес.</a:t>
            </a:r>
          </a:p>
        </p:txBody>
      </p:sp>
      <p:sp>
        <p:nvSpPr>
          <p:cNvPr id="977" name="Rounded Rectangle 976"/>
          <p:cNvSpPr/>
          <p:nvPr/>
        </p:nvSpPr>
        <p:spPr>
          <a:xfrm>
            <a:off x="1682496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−0,7%</a:t>
            </a:r>
          </a:p>
        </p:txBody>
      </p:sp>
      <p:sp>
        <p:nvSpPr>
          <p:cNvPr id="978" name="TextBox 977"/>
          <p:cNvSpPr txBox="1"/>
          <p:nvPr/>
        </p:nvSpPr>
        <p:spPr>
          <a:xfrm>
            <a:off x="2359152" y="255322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−1,1</a:t>
            </a:r>
          </a:p>
        </p:txBody>
      </p:sp>
      <p:sp>
        <p:nvSpPr>
          <p:cNvPr id="979" name="TextBox 978"/>
          <p:cNvSpPr txBox="1"/>
          <p:nvPr/>
        </p:nvSpPr>
        <p:spPr>
          <a:xfrm>
            <a:off x="2359152" y="276565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161,0 → 159,9</a:t>
            </a:r>
          </a:p>
        </p:txBody>
      </p:sp>
      <p:sp>
        <p:nvSpPr>
          <p:cNvPr id="980" name="Rounded Rectangle 979"/>
          <p:cNvSpPr/>
          <p:nvPr/>
        </p:nvSpPr>
        <p:spPr>
          <a:xfrm>
            <a:off x="3653942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+11,0%</a:t>
            </a:r>
          </a:p>
        </p:txBody>
      </p:sp>
      <p:sp>
        <p:nvSpPr>
          <p:cNvPr id="981" name="TextBox 980"/>
          <p:cNvSpPr txBox="1"/>
          <p:nvPr/>
        </p:nvSpPr>
        <p:spPr>
          <a:xfrm>
            <a:off x="4330598" y="255322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+31,1</a:t>
            </a:r>
          </a:p>
        </p:txBody>
      </p:sp>
      <p:sp>
        <p:nvSpPr>
          <p:cNvPr id="982" name="TextBox 981"/>
          <p:cNvSpPr txBox="1"/>
          <p:nvPr/>
        </p:nvSpPr>
        <p:spPr>
          <a:xfrm>
            <a:off x="4330598" y="276565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282,2 → 313,4</a:t>
            </a:r>
          </a:p>
        </p:txBody>
      </p:sp>
      <p:sp>
        <p:nvSpPr>
          <p:cNvPr id="983" name="Rounded Rectangle 982"/>
          <p:cNvSpPr/>
          <p:nvPr/>
        </p:nvSpPr>
        <p:spPr>
          <a:xfrm>
            <a:off x="5625388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−2,0%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6302044" y="255322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−42,4</a:t>
            </a:r>
          </a:p>
        </p:txBody>
      </p:sp>
      <p:sp>
        <p:nvSpPr>
          <p:cNvPr id="985" name="TextBox 984"/>
          <p:cNvSpPr txBox="1"/>
          <p:nvPr/>
        </p:nvSpPr>
        <p:spPr>
          <a:xfrm>
            <a:off x="6302044" y="276565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2 146,7 → 2 104,3</a:t>
            </a:r>
          </a:p>
        </p:txBody>
      </p:sp>
      <p:sp>
        <p:nvSpPr>
          <p:cNvPr id="986" name="Rounded Rectangle 985"/>
          <p:cNvSpPr/>
          <p:nvPr/>
        </p:nvSpPr>
        <p:spPr>
          <a:xfrm>
            <a:off x="7596835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−10,6%</a:t>
            </a:r>
          </a:p>
        </p:txBody>
      </p:sp>
      <p:sp>
        <p:nvSpPr>
          <p:cNvPr id="987" name="TextBox 986"/>
          <p:cNvSpPr txBox="1"/>
          <p:nvPr/>
        </p:nvSpPr>
        <p:spPr>
          <a:xfrm>
            <a:off x="8273491" y="2553224"/>
            <a:ext cx="1239926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−92,8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8273491" y="2765657"/>
            <a:ext cx="1331366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876,4 → 783,6</a:t>
            </a:r>
          </a:p>
        </p:txBody>
      </p:sp>
      <p:sp>
        <p:nvSpPr>
          <p:cNvPr id="989" name="Rounded Rectangle 988"/>
          <p:cNvSpPr/>
          <p:nvPr/>
        </p:nvSpPr>
        <p:spPr>
          <a:xfrm>
            <a:off x="9568281" y="2577364"/>
            <a:ext cx="585216" cy="357274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−3,0%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10199217" y="268284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1" name="Oval 990"/>
          <p:cNvSpPr/>
          <p:nvPr/>
        </p:nvSpPr>
        <p:spPr>
          <a:xfrm>
            <a:off x="10211653" y="270333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2" name="Oval 991"/>
          <p:cNvSpPr/>
          <p:nvPr/>
        </p:nvSpPr>
        <p:spPr>
          <a:xfrm>
            <a:off x="10329428" y="270333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Oval 992"/>
          <p:cNvSpPr/>
          <p:nvPr/>
        </p:nvSpPr>
        <p:spPr>
          <a:xfrm>
            <a:off x="10447202" y="270333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4" name="TextBox 993"/>
          <p:cNvSpPr txBox="1"/>
          <p:nvPr/>
        </p:nvSpPr>
        <p:spPr>
          <a:xfrm>
            <a:off x="10619841" y="2553224"/>
            <a:ext cx="865022" cy="2220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−105,2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10619841" y="2765657"/>
            <a:ext cx="956462" cy="2027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3 466,3 → 3 361,1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603504" y="3108960"/>
            <a:ext cx="9198864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54864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 b="0">
                <a:solidFill>
                  <a:srgbClr val="404040"/>
                </a:solidFill>
                <a:latin typeface="Arial"/>
              </a:rPr>
              <a:t>Стадии W4, E3, E4 по замеру есть только за июль и август. Врезанный: замер выше учёта на 9–12% — ОУ занижает выемку; E3: учёт выше замера на 8–15%. Итог по карьеру в допуске за счёт взаимной компенсации стадий.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00" name="Freeform 6"/>
          <p:cNvSpPr>
            <a:spLocks/>
          </p:cNvSpPr>
          <p:nvPr/>
        </p:nvSpPr>
        <p:spPr bwMode="auto">
          <a:xfrm>
            <a:off x="6" y="4"/>
            <a:ext cx="1808972" cy="568621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729" y="0"/>
              </a:cxn>
              <a:cxn ang="0">
                <a:pos x="557" y="288"/>
              </a:cxn>
              <a:cxn ang="0">
                <a:pos x="0" y="288"/>
              </a:cxn>
              <a:cxn ang="0">
                <a:pos x="0" y="0"/>
              </a:cxn>
            </a:cxnLst>
            <a:rect l="0" t="0" r="r" b="b"/>
            <a:pathLst>
              <a:path w="729" h="288">
                <a:moveTo>
                  <a:pt x="0" y="0"/>
                </a:moveTo>
                <a:lnTo>
                  <a:pt x="729" y="0"/>
                </a:lnTo>
                <a:lnTo>
                  <a:pt x="557" y="288"/>
                </a:lnTo>
                <a:lnTo>
                  <a:pt x="0" y="28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  <a:prstDash val="solid"/>
            <a:round/>
            <a:headEnd/>
            <a:tailEnd/>
          </a:ln>
        </p:spPr>
        <p:txBody>
          <a:bodyPr lIns="80155" tIns="40078" rIns="80155" bIns="40078"/>
          <a:lstStyle/>
          <a:p>
            <a:pPr marL="0" marR="0" lvl="0" indent="0" algn="l" defTabSz="4570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191B1D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901" name="Group 10"/>
          <p:cNvGrpSpPr>
            <a:grpSpLocks noChangeAspect="1"/>
          </p:cNvGrpSpPr>
          <p:nvPr/>
        </p:nvGrpSpPr>
        <p:grpSpPr bwMode="auto">
          <a:xfrm>
            <a:off x="708018" y="6143986"/>
            <a:ext cx="1435951" cy="463534"/>
            <a:chOff x="539750" y="1152525"/>
            <a:chExt cx="3336925" cy="1352550"/>
          </a:xfrm>
        </p:grpSpPr>
        <p:sp>
          <p:nvSpPr>
            <p:cNvPr id="902" name="Freeform 11"/>
            <p:cNvSpPr>
              <a:spLocks/>
            </p:cNvSpPr>
            <p:nvPr/>
          </p:nvSpPr>
          <p:spPr bwMode="auto">
            <a:xfrm>
              <a:off x="539750" y="2009420"/>
              <a:ext cx="332429" cy="352839"/>
            </a:xfrm>
            <a:custGeom>
              <a:avLst/>
              <a:gdLst/>
              <a:ahLst/>
              <a:cxnLst>
                <a:cxn ang="0">
                  <a:pos x="106" y="0"/>
                </a:cxn>
                <a:cxn ang="0">
                  <a:pos x="127" y="1"/>
                </a:cxn>
                <a:cxn ang="0">
                  <a:pos x="148" y="6"/>
                </a:cxn>
                <a:cxn ang="0">
                  <a:pos x="167" y="13"/>
                </a:cxn>
                <a:cxn ang="0">
                  <a:pos x="181" y="24"/>
                </a:cxn>
                <a:cxn ang="0">
                  <a:pos x="194" y="37"/>
                </a:cxn>
                <a:cxn ang="0">
                  <a:pos x="203" y="53"/>
                </a:cxn>
                <a:cxn ang="0">
                  <a:pos x="209" y="72"/>
                </a:cxn>
                <a:cxn ang="0">
                  <a:pos x="210" y="92"/>
                </a:cxn>
                <a:cxn ang="0">
                  <a:pos x="210" y="223"/>
                </a:cxn>
                <a:cxn ang="0">
                  <a:pos x="162" y="223"/>
                </a:cxn>
                <a:cxn ang="0">
                  <a:pos x="162" y="104"/>
                </a:cxn>
                <a:cxn ang="0">
                  <a:pos x="161" y="87"/>
                </a:cxn>
                <a:cxn ang="0">
                  <a:pos x="155" y="71"/>
                </a:cxn>
                <a:cxn ang="0">
                  <a:pos x="148" y="59"/>
                </a:cxn>
                <a:cxn ang="0">
                  <a:pos x="136" y="50"/>
                </a:cxn>
                <a:cxn ang="0">
                  <a:pos x="122" y="46"/>
                </a:cxn>
                <a:cxn ang="0">
                  <a:pos x="106" y="45"/>
                </a:cxn>
                <a:cxn ang="0">
                  <a:pos x="88" y="46"/>
                </a:cxn>
                <a:cxn ang="0">
                  <a:pos x="74" y="50"/>
                </a:cxn>
                <a:cxn ang="0">
                  <a:pos x="64" y="59"/>
                </a:cxn>
                <a:cxn ang="0">
                  <a:pos x="55" y="71"/>
                </a:cxn>
                <a:cxn ang="0">
                  <a:pos x="51" y="87"/>
                </a:cxn>
                <a:cxn ang="0">
                  <a:pos x="49" y="104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92"/>
                </a:cxn>
                <a:cxn ang="0">
                  <a:pos x="1" y="72"/>
                </a:cxn>
                <a:cxn ang="0">
                  <a:pos x="9" y="53"/>
                </a:cxn>
                <a:cxn ang="0">
                  <a:pos x="17" y="37"/>
                </a:cxn>
                <a:cxn ang="0">
                  <a:pos x="30" y="24"/>
                </a:cxn>
                <a:cxn ang="0">
                  <a:pos x="45" y="13"/>
                </a:cxn>
                <a:cxn ang="0">
                  <a:pos x="64" y="6"/>
                </a:cxn>
                <a:cxn ang="0">
                  <a:pos x="84" y="1"/>
                </a:cxn>
                <a:cxn ang="0">
                  <a:pos x="106" y="0"/>
                </a:cxn>
              </a:cxnLst>
              <a:rect l="0" t="0" r="r" b="b"/>
              <a:pathLst>
                <a:path w="210" h="223">
                  <a:moveTo>
                    <a:pt x="106" y="0"/>
                  </a:moveTo>
                  <a:lnTo>
                    <a:pt x="127" y="1"/>
                  </a:lnTo>
                  <a:lnTo>
                    <a:pt x="148" y="6"/>
                  </a:lnTo>
                  <a:lnTo>
                    <a:pt x="167" y="13"/>
                  </a:lnTo>
                  <a:lnTo>
                    <a:pt x="181" y="24"/>
                  </a:lnTo>
                  <a:lnTo>
                    <a:pt x="194" y="37"/>
                  </a:lnTo>
                  <a:lnTo>
                    <a:pt x="203" y="53"/>
                  </a:lnTo>
                  <a:lnTo>
                    <a:pt x="209" y="72"/>
                  </a:lnTo>
                  <a:lnTo>
                    <a:pt x="210" y="92"/>
                  </a:lnTo>
                  <a:lnTo>
                    <a:pt x="210" y="223"/>
                  </a:lnTo>
                  <a:lnTo>
                    <a:pt x="162" y="223"/>
                  </a:lnTo>
                  <a:lnTo>
                    <a:pt x="162" y="104"/>
                  </a:lnTo>
                  <a:lnTo>
                    <a:pt x="161" y="87"/>
                  </a:lnTo>
                  <a:lnTo>
                    <a:pt x="155" y="71"/>
                  </a:lnTo>
                  <a:lnTo>
                    <a:pt x="148" y="59"/>
                  </a:lnTo>
                  <a:lnTo>
                    <a:pt x="136" y="50"/>
                  </a:lnTo>
                  <a:lnTo>
                    <a:pt x="122" y="46"/>
                  </a:lnTo>
                  <a:lnTo>
                    <a:pt x="106" y="45"/>
                  </a:lnTo>
                  <a:lnTo>
                    <a:pt x="88" y="46"/>
                  </a:lnTo>
                  <a:lnTo>
                    <a:pt x="74" y="50"/>
                  </a:lnTo>
                  <a:lnTo>
                    <a:pt x="64" y="59"/>
                  </a:lnTo>
                  <a:lnTo>
                    <a:pt x="55" y="71"/>
                  </a:lnTo>
                  <a:lnTo>
                    <a:pt x="51" y="87"/>
                  </a:lnTo>
                  <a:lnTo>
                    <a:pt x="49" y="104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92"/>
                  </a:lnTo>
                  <a:lnTo>
                    <a:pt x="1" y="72"/>
                  </a:lnTo>
                  <a:lnTo>
                    <a:pt x="9" y="53"/>
                  </a:lnTo>
                  <a:lnTo>
                    <a:pt x="17" y="37"/>
                  </a:lnTo>
                  <a:lnTo>
                    <a:pt x="30" y="24"/>
                  </a:lnTo>
                  <a:lnTo>
                    <a:pt x="45" y="13"/>
                  </a:lnTo>
                  <a:lnTo>
                    <a:pt x="64" y="6"/>
                  </a:lnTo>
                  <a:lnTo>
                    <a:pt x="84" y="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3" name="Freeform 12"/>
            <p:cNvSpPr>
              <a:spLocks noEditPoints="1"/>
            </p:cNvSpPr>
            <p:nvPr/>
          </p:nvSpPr>
          <p:spPr bwMode="auto">
            <a:xfrm>
              <a:off x="91005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7" y="85"/>
                </a:cxn>
                <a:cxn ang="0">
                  <a:pos x="51" y="114"/>
                </a:cxn>
                <a:cxn ang="0">
                  <a:pos x="57" y="142"/>
                </a:cxn>
                <a:cxn ang="0">
                  <a:pos x="70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3" y="184"/>
                </a:cxn>
                <a:cxn ang="0">
                  <a:pos x="161" y="171"/>
                </a:cxn>
                <a:cxn ang="0">
                  <a:pos x="175" y="153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5" y="74"/>
                </a:cxn>
                <a:cxn ang="0">
                  <a:pos x="162" y="59"/>
                </a:cxn>
                <a:cxn ang="0">
                  <a:pos x="152" y="52"/>
                </a:cxn>
                <a:cxn ang="0">
                  <a:pos x="133" y="45"/>
                </a:cxn>
                <a:cxn ang="0">
                  <a:pos x="119" y="0"/>
                </a:cxn>
                <a:cxn ang="0">
                  <a:pos x="165" y="8"/>
                </a:cxn>
                <a:cxn ang="0">
                  <a:pos x="203" y="33"/>
                </a:cxn>
                <a:cxn ang="0">
                  <a:pos x="227" y="69"/>
                </a:cxn>
                <a:cxn ang="0">
                  <a:pos x="238" y="114"/>
                </a:cxn>
                <a:cxn ang="0">
                  <a:pos x="227" y="159"/>
                </a:cxn>
                <a:cxn ang="0">
                  <a:pos x="203" y="195"/>
                </a:cxn>
                <a:cxn ang="0">
                  <a:pos x="165" y="220"/>
                </a:cxn>
                <a:cxn ang="0">
                  <a:pos x="119" y="229"/>
                </a:cxn>
                <a:cxn ang="0">
                  <a:pos x="71" y="220"/>
                </a:cxn>
                <a:cxn ang="0">
                  <a:pos x="33" y="195"/>
                </a:cxn>
                <a:cxn ang="0">
                  <a:pos x="9" y="159"/>
                </a:cxn>
                <a:cxn ang="0">
                  <a:pos x="0" y="114"/>
                </a:cxn>
                <a:cxn ang="0">
                  <a:pos x="9" y="69"/>
                </a:cxn>
                <a:cxn ang="0">
                  <a:pos x="33" y="33"/>
                </a:cxn>
                <a:cxn ang="0">
                  <a:pos x="71" y="8"/>
                </a:cxn>
                <a:cxn ang="0">
                  <a:pos x="119" y="0"/>
                </a:cxn>
              </a:cxnLst>
              <a:rect l="0" t="0" r="r" b="b"/>
              <a:pathLst>
                <a:path w="238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7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7" y="142"/>
                  </a:lnTo>
                  <a:lnTo>
                    <a:pt x="62" y="153"/>
                  </a:lnTo>
                  <a:lnTo>
                    <a:pt x="70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3" y="184"/>
                  </a:lnTo>
                  <a:lnTo>
                    <a:pt x="146" y="179"/>
                  </a:lnTo>
                  <a:lnTo>
                    <a:pt x="161" y="171"/>
                  </a:lnTo>
                  <a:lnTo>
                    <a:pt x="167" y="165"/>
                  </a:lnTo>
                  <a:lnTo>
                    <a:pt x="175" y="153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5" y="74"/>
                  </a:lnTo>
                  <a:lnTo>
                    <a:pt x="171" y="68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52" y="52"/>
                  </a:lnTo>
                  <a:lnTo>
                    <a:pt x="146" y="49"/>
                  </a:lnTo>
                  <a:lnTo>
                    <a:pt x="133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8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2" y="137"/>
                  </a:lnTo>
                  <a:lnTo>
                    <a:pt x="0" y="114"/>
                  </a:lnTo>
                  <a:lnTo>
                    <a:pt x="2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4" name="Freeform 13"/>
            <p:cNvSpPr>
              <a:spLocks/>
            </p:cNvSpPr>
            <p:nvPr/>
          </p:nvSpPr>
          <p:spPr bwMode="auto">
            <a:xfrm>
              <a:off x="1322434" y="2009420"/>
              <a:ext cx="244063" cy="352839"/>
            </a:xfrm>
            <a:custGeom>
              <a:avLst/>
              <a:gdLst/>
              <a:ahLst/>
              <a:cxnLst>
                <a:cxn ang="0">
                  <a:pos x="93" y="0"/>
                </a:cxn>
                <a:cxn ang="0">
                  <a:pos x="116" y="1"/>
                </a:cxn>
                <a:cxn ang="0">
                  <a:pos x="136" y="7"/>
                </a:cxn>
                <a:cxn ang="0">
                  <a:pos x="146" y="13"/>
                </a:cxn>
                <a:cxn ang="0">
                  <a:pos x="152" y="21"/>
                </a:cxn>
                <a:cxn ang="0">
                  <a:pos x="154" y="30"/>
                </a:cxn>
                <a:cxn ang="0">
                  <a:pos x="154" y="36"/>
                </a:cxn>
                <a:cxn ang="0">
                  <a:pos x="152" y="40"/>
                </a:cxn>
                <a:cxn ang="0">
                  <a:pos x="146" y="49"/>
                </a:cxn>
                <a:cxn ang="0">
                  <a:pos x="145" y="52"/>
                </a:cxn>
                <a:cxn ang="0">
                  <a:pos x="142" y="53"/>
                </a:cxn>
                <a:cxn ang="0">
                  <a:pos x="138" y="50"/>
                </a:cxn>
                <a:cxn ang="0">
                  <a:pos x="132" y="49"/>
                </a:cxn>
                <a:cxn ang="0">
                  <a:pos x="125" y="46"/>
                </a:cxn>
                <a:cxn ang="0">
                  <a:pos x="100" y="43"/>
                </a:cxn>
                <a:cxn ang="0">
                  <a:pos x="83" y="46"/>
                </a:cxn>
                <a:cxn ang="0">
                  <a:pos x="68" y="52"/>
                </a:cxn>
                <a:cxn ang="0">
                  <a:pos x="58" y="64"/>
                </a:cxn>
                <a:cxn ang="0">
                  <a:pos x="51" y="78"/>
                </a:cxn>
                <a:cxn ang="0">
                  <a:pos x="49" y="97"/>
                </a:cxn>
                <a:cxn ang="0">
                  <a:pos x="49" y="223"/>
                </a:cxn>
                <a:cxn ang="0">
                  <a:pos x="0" y="223"/>
                </a:cxn>
                <a:cxn ang="0">
                  <a:pos x="0" y="84"/>
                </a:cxn>
                <a:cxn ang="0">
                  <a:pos x="3" y="59"/>
                </a:cxn>
                <a:cxn ang="0">
                  <a:pos x="12" y="37"/>
                </a:cxn>
                <a:cxn ang="0">
                  <a:pos x="25" y="21"/>
                </a:cxn>
                <a:cxn ang="0">
                  <a:pos x="44" y="10"/>
                </a:cxn>
                <a:cxn ang="0">
                  <a:pos x="65" y="3"/>
                </a:cxn>
                <a:cxn ang="0">
                  <a:pos x="93" y="0"/>
                </a:cxn>
              </a:cxnLst>
              <a:rect l="0" t="0" r="r" b="b"/>
              <a:pathLst>
                <a:path w="154" h="223">
                  <a:moveTo>
                    <a:pt x="93" y="0"/>
                  </a:moveTo>
                  <a:lnTo>
                    <a:pt x="116" y="1"/>
                  </a:lnTo>
                  <a:lnTo>
                    <a:pt x="136" y="7"/>
                  </a:lnTo>
                  <a:lnTo>
                    <a:pt x="146" y="13"/>
                  </a:lnTo>
                  <a:lnTo>
                    <a:pt x="152" y="21"/>
                  </a:lnTo>
                  <a:lnTo>
                    <a:pt x="154" y="30"/>
                  </a:lnTo>
                  <a:lnTo>
                    <a:pt x="154" y="36"/>
                  </a:lnTo>
                  <a:lnTo>
                    <a:pt x="152" y="40"/>
                  </a:lnTo>
                  <a:lnTo>
                    <a:pt x="146" y="49"/>
                  </a:lnTo>
                  <a:lnTo>
                    <a:pt x="145" y="52"/>
                  </a:lnTo>
                  <a:lnTo>
                    <a:pt x="142" y="53"/>
                  </a:lnTo>
                  <a:lnTo>
                    <a:pt x="138" y="50"/>
                  </a:lnTo>
                  <a:lnTo>
                    <a:pt x="132" y="49"/>
                  </a:lnTo>
                  <a:lnTo>
                    <a:pt x="125" y="46"/>
                  </a:lnTo>
                  <a:lnTo>
                    <a:pt x="100" y="43"/>
                  </a:lnTo>
                  <a:lnTo>
                    <a:pt x="83" y="46"/>
                  </a:lnTo>
                  <a:lnTo>
                    <a:pt x="68" y="52"/>
                  </a:lnTo>
                  <a:lnTo>
                    <a:pt x="58" y="64"/>
                  </a:lnTo>
                  <a:lnTo>
                    <a:pt x="51" y="78"/>
                  </a:lnTo>
                  <a:lnTo>
                    <a:pt x="49" y="97"/>
                  </a:lnTo>
                  <a:lnTo>
                    <a:pt x="49" y="223"/>
                  </a:lnTo>
                  <a:lnTo>
                    <a:pt x="0" y="223"/>
                  </a:lnTo>
                  <a:lnTo>
                    <a:pt x="0" y="84"/>
                  </a:lnTo>
                  <a:lnTo>
                    <a:pt x="3" y="59"/>
                  </a:lnTo>
                  <a:lnTo>
                    <a:pt x="12" y="37"/>
                  </a:lnTo>
                  <a:lnTo>
                    <a:pt x="25" y="21"/>
                  </a:lnTo>
                  <a:lnTo>
                    <a:pt x="44" y="10"/>
                  </a:lnTo>
                  <a:lnTo>
                    <a:pt x="65" y="3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5" name="Freeform 14"/>
            <p:cNvSpPr>
              <a:spLocks noEditPoints="1"/>
            </p:cNvSpPr>
            <p:nvPr/>
          </p:nvSpPr>
          <p:spPr bwMode="auto">
            <a:xfrm>
              <a:off x="1562287" y="1854004"/>
              <a:ext cx="366095" cy="516656"/>
            </a:xfrm>
            <a:custGeom>
              <a:avLst/>
              <a:gdLst/>
              <a:ahLst/>
              <a:cxnLst>
                <a:cxn ang="0">
                  <a:pos x="104" y="141"/>
                </a:cxn>
                <a:cxn ang="0">
                  <a:pos x="82" y="149"/>
                </a:cxn>
                <a:cxn ang="0">
                  <a:pos x="69" y="160"/>
                </a:cxn>
                <a:cxn ang="0">
                  <a:pos x="56" y="183"/>
                </a:cxn>
                <a:cxn ang="0">
                  <a:pos x="52" y="210"/>
                </a:cxn>
                <a:cxn ang="0">
                  <a:pos x="56" y="238"/>
                </a:cxn>
                <a:cxn ang="0">
                  <a:pos x="64" y="254"/>
                </a:cxn>
                <a:cxn ang="0">
                  <a:pos x="85" y="273"/>
                </a:cxn>
                <a:cxn ang="0">
                  <a:pos x="104" y="278"/>
                </a:cxn>
                <a:cxn ang="0">
                  <a:pos x="132" y="278"/>
                </a:cxn>
                <a:cxn ang="0">
                  <a:pos x="153" y="271"/>
                </a:cxn>
                <a:cxn ang="0">
                  <a:pos x="172" y="255"/>
                </a:cxn>
                <a:cxn ang="0">
                  <a:pos x="179" y="239"/>
                </a:cxn>
                <a:cxn ang="0">
                  <a:pos x="184" y="210"/>
                </a:cxn>
                <a:cxn ang="0">
                  <a:pos x="179" y="183"/>
                </a:cxn>
                <a:cxn ang="0">
                  <a:pos x="166" y="160"/>
                </a:cxn>
                <a:cxn ang="0">
                  <a:pos x="153" y="149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29" y="3"/>
                </a:cxn>
                <a:cxn ang="0">
                  <a:pos x="233" y="4"/>
                </a:cxn>
                <a:cxn ang="0">
                  <a:pos x="230" y="229"/>
                </a:cxn>
                <a:cxn ang="0">
                  <a:pos x="214" y="275"/>
                </a:cxn>
                <a:cxn ang="0">
                  <a:pos x="184" y="307"/>
                </a:cxn>
                <a:cxn ang="0">
                  <a:pos x="140" y="323"/>
                </a:cxn>
                <a:cxn ang="0">
                  <a:pos x="92" y="322"/>
                </a:cxn>
                <a:cxn ang="0">
                  <a:pos x="51" y="306"/>
                </a:cxn>
                <a:cxn ang="0">
                  <a:pos x="19" y="275"/>
                </a:cxn>
                <a:cxn ang="0">
                  <a:pos x="1" y="233"/>
                </a:cxn>
                <a:cxn ang="0">
                  <a:pos x="1" y="186"/>
                </a:cxn>
                <a:cxn ang="0">
                  <a:pos x="19" y="145"/>
                </a:cxn>
                <a:cxn ang="0">
                  <a:pos x="48" y="115"/>
                </a:cxn>
                <a:cxn ang="0">
                  <a:pos x="87" y="97"/>
                </a:cxn>
                <a:cxn ang="0">
                  <a:pos x="134" y="99"/>
                </a:cxn>
                <a:cxn ang="0">
                  <a:pos x="171" y="116"/>
                </a:cxn>
                <a:cxn ang="0">
                  <a:pos x="184" y="18"/>
                </a:cxn>
                <a:cxn ang="0">
                  <a:pos x="188" y="9"/>
                </a:cxn>
                <a:cxn ang="0">
                  <a:pos x="195" y="3"/>
                </a:cxn>
              </a:cxnLst>
              <a:rect l="0" t="0" r="r" b="b"/>
              <a:pathLst>
                <a:path w="233" h="325">
                  <a:moveTo>
                    <a:pt x="117" y="139"/>
                  </a:moveTo>
                  <a:lnTo>
                    <a:pt x="104" y="141"/>
                  </a:lnTo>
                  <a:lnTo>
                    <a:pt x="91" y="145"/>
                  </a:lnTo>
                  <a:lnTo>
                    <a:pt x="82" y="149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2" y="171"/>
                  </a:lnTo>
                  <a:lnTo>
                    <a:pt x="56" y="183"/>
                  </a:lnTo>
                  <a:lnTo>
                    <a:pt x="53" y="196"/>
                  </a:lnTo>
                  <a:lnTo>
                    <a:pt x="52" y="210"/>
                  </a:lnTo>
                  <a:lnTo>
                    <a:pt x="53" y="225"/>
                  </a:lnTo>
                  <a:lnTo>
                    <a:pt x="56" y="238"/>
                  </a:lnTo>
                  <a:lnTo>
                    <a:pt x="59" y="246"/>
                  </a:lnTo>
                  <a:lnTo>
                    <a:pt x="64" y="254"/>
                  </a:lnTo>
                  <a:lnTo>
                    <a:pt x="74" y="264"/>
                  </a:lnTo>
                  <a:lnTo>
                    <a:pt x="85" y="273"/>
                  </a:lnTo>
                  <a:lnTo>
                    <a:pt x="91" y="275"/>
                  </a:lnTo>
                  <a:lnTo>
                    <a:pt x="104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3" y="271"/>
                  </a:lnTo>
                  <a:lnTo>
                    <a:pt x="161" y="267"/>
                  </a:lnTo>
                  <a:lnTo>
                    <a:pt x="172" y="255"/>
                  </a:lnTo>
                  <a:lnTo>
                    <a:pt x="176" y="248"/>
                  </a:lnTo>
                  <a:lnTo>
                    <a:pt x="179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9" y="183"/>
                  </a:lnTo>
                  <a:lnTo>
                    <a:pt x="174" y="171"/>
                  </a:lnTo>
                  <a:lnTo>
                    <a:pt x="166" y="160"/>
                  </a:lnTo>
                  <a:lnTo>
                    <a:pt x="161" y="154"/>
                  </a:lnTo>
                  <a:lnTo>
                    <a:pt x="153" y="149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6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9" y="3"/>
                  </a:lnTo>
                  <a:lnTo>
                    <a:pt x="231" y="4"/>
                  </a:lnTo>
                  <a:lnTo>
                    <a:pt x="233" y="4"/>
                  </a:lnTo>
                  <a:lnTo>
                    <a:pt x="233" y="200"/>
                  </a:lnTo>
                  <a:lnTo>
                    <a:pt x="230" y="229"/>
                  </a:lnTo>
                  <a:lnTo>
                    <a:pt x="224" y="255"/>
                  </a:lnTo>
                  <a:lnTo>
                    <a:pt x="214" y="275"/>
                  </a:lnTo>
                  <a:lnTo>
                    <a:pt x="200" y="294"/>
                  </a:lnTo>
                  <a:lnTo>
                    <a:pt x="184" y="307"/>
                  </a:lnTo>
                  <a:lnTo>
                    <a:pt x="163" y="317"/>
                  </a:lnTo>
                  <a:lnTo>
                    <a:pt x="140" y="323"/>
                  </a:lnTo>
                  <a:lnTo>
                    <a:pt x="117" y="325"/>
                  </a:lnTo>
                  <a:lnTo>
                    <a:pt x="92" y="322"/>
                  </a:lnTo>
                  <a:lnTo>
                    <a:pt x="71" y="316"/>
                  </a:lnTo>
                  <a:lnTo>
                    <a:pt x="51" y="306"/>
                  </a:lnTo>
                  <a:lnTo>
                    <a:pt x="33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9" y="164"/>
                  </a:lnTo>
                  <a:lnTo>
                    <a:pt x="19" y="145"/>
                  </a:lnTo>
                  <a:lnTo>
                    <a:pt x="32" y="128"/>
                  </a:lnTo>
                  <a:lnTo>
                    <a:pt x="48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4" y="99"/>
                  </a:lnTo>
                  <a:lnTo>
                    <a:pt x="155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5" y="13"/>
                  </a:lnTo>
                  <a:lnTo>
                    <a:pt x="188" y="9"/>
                  </a:lnTo>
                  <a:lnTo>
                    <a:pt x="191" y="6"/>
                  </a:lnTo>
                  <a:lnTo>
                    <a:pt x="195" y="3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6" name="Freeform 15"/>
            <p:cNvSpPr>
              <a:spLocks noEditPoints="1"/>
            </p:cNvSpPr>
            <p:nvPr/>
          </p:nvSpPr>
          <p:spPr bwMode="auto">
            <a:xfrm>
              <a:off x="1962046" y="2009420"/>
              <a:ext cx="370302" cy="495655"/>
            </a:xfrm>
            <a:custGeom>
              <a:avLst/>
              <a:gdLst/>
              <a:ahLst/>
              <a:cxnLst>
                <a:cxn ang="0">
                  <a:pos x="104" y="46"/>
                </a:cxn>
                <a:cxn ang="0">
                  <a:pos x="86" y="52"/>
                </a:cxn>
                <a:cxn ang="0">
                  <a:pos x="64" y="71"/>
                </a:cxn>
                <a:cxn ang="0">
                  <a:pos x="57" y="87"/>
                </a:cxn>
                <a:cxn ang="0">
                  <a:pos x="54" y="133"/>
                </a:cxn>
                <a:cxn ang="0">
                  <a:pos x="70" y="163"/>
                </a:cxn>
                <a:cxn ang="0">
                  <a:pos x="100" y="179"/>
                </a:cxn>
                <a:cxn ang="0">
                  <a:pos x="133" y="181"/>
                </a:cxn>
                <a:cxn ang="0">
                  <a:pos x="157" y="171"/>
                </a:cxn>
                <a:cxn ang="0">
                  <a:pos x="172" y="156"/>
                </a:cxn>
                <a:cxn ang="0">
                  <a:pos x="180" y="140"/>
                </a:cxn>
                <a:cxn ang="0">
                  <a:pos x="184" y="113"/>
                </a:cxn>
                <a:cxn ang="0">
                  <a:pos x="180" y="85"/>
                </a:cxn>
                <a:cxn ang="0">
                  <a:pos x="167" y="64"/>
                </a:cxn>
                <a:cxn ang="0">
                  <a:pos x="154" y="53"/>
                </a:cxn>
                <a:cxn ang="0">
                  <a:pos x="133" y="46"/>
                </a:cxn>
                <a:cxn ang="0">
                  <a:pos x="119" y="0"/>
                </a:cxn>
                <a:cxn ang="0">
                  <a:pos x="165" y="7"/>
                </a:cxn>
                <a:cxn ang="0">
                  <a:pos x="201" y="30"/>
                </a:cxn>
                <a:cxn ang="0">
                  <a:pos x="225" y="68"/>
                </a:cxn>
                <a:cxn ang="0">
                  <a:pos x="233" y="123"/>
                </a:cxn>
                <a:cxn ang="0">
                  <a:pos x="230" y="217"/>
                </a:cxn>
                <a:cxn ang="0">
                  <a:pos x="213" y="266"/>
                </a:cxn>
                <a:cxn ang="0">
                  <a:pos x="181" y="297"/>
                </a:cxn>
                <a:cxn ang="0">
                  <a:pos x="136" y="311"/>
                </a:cxn>
                <a:cxn ang="0">
                  <a:pos x="78" y="311"/>
                </a:cxn>
                <a:cxn ang="0">
                  <a:pos x="45" y="305"/>
                </a:cxn>
                <a:cxn ang="0">
                  <a:pos x="33" y="301"/>
                </a:cxn>
                <a:cxn ang="0">
                  <a:pos x="23" y="297"/>
                </a:cxn>
                <a:cxn ang="0">
                  <a:pos x="39" y="261"/>
                </a:cxn>
                <a:cxn ang="0">
                  <a:pos x="51" y="265"/>
                </a:cxn>
                <a:cxn ang="0">
                  <a:pos x="80" y="272"/>
                </a:cxn>
                <a:cxn ang="0">
                  <a:pos x="106" y="274"/>
                </a:cxn>
                <a:cxn ang="0">
                  <a:pos x="133" y="271"/>
                </a:cxn>
                <a:cxn ang="0">
                  <a:pos x="159" y="259"/>
                </a:cxn>
                <a:cxn ang="0">
                  <a:pos x="178" y="234"/>
                </a:cxn>
                <a:cxn ang="0">
                  <a:pos x="185" y="197"/>
                </a:cxn>
                <a:cxn ang="0">
                  <a:pos x="172" y="203"/>
                </a:cxn>
                <a:cxn ang="0">
                  <a:pos x="136" y="220"/>
                </a:cxn>
                <a:cxn ang="0">
                  <a:pos x="88" y="221"/>
                </a:cxn>
                <a:cxn ang="0">
                  <a:pos x="48" y="206"/>
                </a:cxn>
                <a:cxn ang="0">
                  <a:pos x="19" y="177"/>
                </a:cxn>
                <a:cxn ang="0">
                  <a:pos x="2" y="137"/>
                </a:cxn>
                <a:cxn ang="0">
                  <a:pos x="2" y="90"/>
                </a:cxn>
                <a:cxn ang="0">
                  <a:pos x="20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3" h="313">
                  <a:moveTo>
                    <a:pt x="119" y="45"/>
                  </a:moveTo>
                  <a:lnTo>
                    <a:pt x="104" y="46"/>
                  </a:lnTo>
                  <a:lnTo>
                    <a:pt x="91" y="49"/>
                  </a:lnTo>
                  <a:lnTo>
                    <a:pt x="86" y="52"/>
                  </a:lnTo>
                  <a:lnTo>
                    <a:pt x="74" y="61"/>
                  </a:lnTo>
                  <a:lnTo>
                    <a:pt x="64" y="71"/>
                  </a:lnTo>
                  <a:lnTo>
                    <a:pt x="60" y="78"/>
                  </a:lnTo>
                  <a:lnTo>
                    <a:pt x="57" y="87"/>
                  </a:lnTo>
                  <a:lnTo>
                    <a:pt x="52" y="113"/>
                  </a:lnTo>
                  <a:lnTo>
                    <a:pt x="54" y="133"/>
                  </a:lnTo>
                  <a:lnTo>
                    <a:pt x="60" y="149"/>
                  </a:lnTo>
                  <a:lnTo>
                    <a:pt x="70" y="163"/>
                  </a:lnTo>
                  <a:lnTo>
                    <a:pt x="84" y="174"/>
                  </a:lnTo>
                  <a:lnTo>
                    <a:pt x="100" y="179"/>
                  </a:lnTo>
                  <a:lnTo>
                    <a:pt x="119" y="182"/>
                  </a:lnTo>
                  <a:lnTo>
                    <a:pt x="133" y="181"/>
                  </a:lnTo>
                  <a:lnTo>
                    <a:pt x="145" y="177"/>
                  </a:lnTo>
                  <a:lnTo>
                    <a:pt x="157" y="171"/>
                  </a:lnTo>
                  <a:lnTo>
                    <a:pt x="162" y="166"/>
                  </a:lnTo>
                  <a:lnTo>
                    <a:pt x="172" y="156"/>
                  </a:lnTo>
                  <a:lnTo>
                    <a:pt x="177" y="149"/>
                  </a:lnTo>
                  <a:lnTo>
                    <a:pt x="180" y="140"/>
                  </a:lnTo>
                  <a:lnTo>
                    <a:pt x="183" y="127"/>
                  </a:lnTo>
                  <a:lnTo>
                    <a:pt x="184" y="113"/>
                  </a:lnTo>
                  <a:lnTo>
                    <a:pt x="183" y="98"/>
                  </a:lnTo>
                  <a:lnTo>
                    <a:pt x="180" y="85"/>
                  </a:lnTo>
                  <a:lnTo>
                    <a:pt x="174" y="74"/>
                  </a:lnTo>
                  <a:lnTo>
                    <a:pt x="167" y="64"/>
                  </a:lnTo>
                  <a:lnTo>
                    <a:pt x="161" y="58"/>
                  </a:lnTo>
                  <a:lnTo>
                    <a:pt x="154" y="53"/>
                  </a:lnTo>
                  <a:lnTo>
                    <a:pt x="145" y="49"/>
                  </a:lnTo>
                  <a:lnTo>
                    <a:pt x="133" y="46"/>
                  </a:lnTo>
                  <a:lnTo>
                    <a:pt x="119" y="45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7"/>
                  </a:lnTo>
                  <a:lnTo>
                    <a:pt x="184" y="16"/>
                  </a:lnTo>
                  <a:lnTo>
                    <a:pt x="201" y="30"/>
                  </a:lnTo>
                  <a:lnTo>
                    <a:pt x="214" y="46"/>
                  </a:lnTo>
                  <a:lnTo>
                    <a:pt x="225" y="68"/>
                  </a:lnTo>
                  <a:lnTo>
                    <a:pt x="230" y="92"/>
                  </a:lnTo>
                  <a:lnTo>
                    <a:pt x="233" y="123"/>
                  </a:lnTo>
                  <a:lnTo>
                    <a:pt x="233" y="185"/>
                  </a:lnTo>
                  <a:lnTo>
                    <a:pt x="230" y="217"/>
                  </a:lnTo>
                  <a:lnTo>
                    <a:pt x="225" y="243"/>
                  </a:lnTo>
                  <a:lnTo>
                    <a:pt x="213" y="266"/>
                  </a:lnTo>
                  <a:lnTo>
                    <a:pt x="199" y="284"/>
                  </a:lnTo>
                  <a:lnTo>
                    <a:pt x="181" y="297"/>
                  </a:lnTo>
                  <a:lnTo>
                    <a:pt x="159" y="307"/>
                  </a:lnTo>
                  <a:lnTo>
                    <a:pt x="136" y="311"/>
                  </a:lnTo>
                  <a:lnTo>
                    <a:pt x="110" y="313"/>
                  </a:lnTo>
                  <a:lnTo>
                    <a:pt x="78" y="311"/>
                  </a:lnTo>
                  <a:lnTo>
                    <a:pt x="52" y="307"/>
                  </a:lnTo>
                  <a:lnTo>
                    <a:pt x="45" y="305"/>
                  </a:lnTo>
                  <a:lnTo>
                    <a:pt x="39" y="303"/>
                  </a:lnTo>
                  <a:lnTo>
                    <a:pt x="33" y="301"/>
                  </a:lnTo>
                  <a:lnTo>
                    <a:pt x="29" y="300"/>
                  </a:lnTo>
                  <a:lnTo>
                    <a:pt x="23" y="297"/>
                  </a:lnTo>
                  <a:lnTo>
                    <a:pt x="36" y="259"/>
                  </a:lnTo>
                  <a:lnTo>
                    <a:pt x="39" y="261"/>
                  </a:lnTo>
                  <a:lnTo>
                    <a:pt x="44" y="263"/>
                  </a:lnTo>
                  <a:lnTo>
                    <a:pt x="51" y="265"/>
                  </a:lnTo>
                  <a:lnTo>
                    <a:pt x="58" y="268"/>
                  </a:lnTo>
                  <a:lnTo>
                    <a:pt x="80" y="272"/>
                  </a:lnTo>
                  <a:lnTo>
                    <a:pt x="91" y="274"/>
                  </a:lnTo>
                  <a:lnTo>
                    <a:pt x="106" y="274"/>
                  </a:lnTo>
                  <a:lnTo>
                    <a:pt x="119" y="272"/>
                  </a:lnTo>
                  <a:lnTo>
                    <a:pt x="133" y="271"/>
                  </a:lnTo>
                  <a:lnTo>
                    <a:pt x="148" y="266"/>
                  </a:lnTo>
                  <a:lnTo>
                    <a:pt x="159" y="259"/>
                  </a:lnTo>
                  <a:lnTo>
                    <a:pt x="170" y="249"/>
                  </a:lnTo>
                  <a:lnTo>
                    <a:pt x="178" y="234"/>
                  </a:lnTo>
                  <a:lnTo>
                    <a:pt x="184" y="219"/>
                  </a:lnTo>
                  <a:lnTo>
                    <a:pt x="185" y="197"/>
                  </a:lnTo>
                  <a:lnTo>
                    <a:pt x="185" y="191"/>
                  </a:lnTo>
                  <a:lnTo>
                    <a:pt x="172" y="203"/>
                  </a:lnTo>
                  <a:lnTo>
                    <a:pt x="157" y="213"/>
                  </a:lnTo>
                  <a:lnTo>
                    <a:pt x="136" y="220"/>
                  </a:lnTo>
                  <a:lnTo>
                    <a:pt x="112" y="223"/>
                  </a:lnTo>
                  <a:lnTo>
                    <a:pt x="88" y="221"/>
                  </a:lnTo>
                  <a:lnTo>
                    <a:pt x="67" y="216"/>
                  </a:lnTo>
                  <a:lnTo>
                    <a:pt x="48" y="206"/>
                  </a:lnTo>
                  <a:lnTo>
                    <a:pt x="32" y="192"/>
                  </a:lnTo>
                  <a:lnTo>
                    <a:pt x="19" y="177"/>
                  </a:lnTo>
                  <a:lnTo>
                    <a:pt x="9" y="158"/>
                  </a:lnTo>
                  <a:lnTo>
                    <a:pt x="2" y="137"/>
                  </a:lnTo>
                  <a:lnTo>
                    <a:pt x="0" y="113"/>
                  </a:lnTo>
                  <a:lnTo>
                    <a:pt x="2" y="90"/>
                  </a:lnTo>
                  <a:lnTo>
                    <a:pt x="9" y="68"/>
                  </a:lnTo>
                  <a:lnTo>
                    <a:pt x="20" y="49"/>
                  </a:lnTo>
                  <a:lnTo>
                    <a:pt x="33" y="32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7" name="Freeform 16"/>
            <p:cNvSpPr>
              <a:spLocks noEditPoints="1"/>
            </p:cNvSpPr>
            <p:nvPr/>
          </p:nvSpPr>
          <p:spPr bwMode="auto">
            <a:xfrm>
              <a:off x="2366012" y="2009420"/>
              <a:ext cx="378718" cy="361240"/>
            </a:xfrm>
            <a:custGeom>
              <a:avLst/>
              <a:gdLst/>
              <a:ahLst/>
              <a:cxnLst>
                <a:cxn ang="0">
                  <a:pos x="104" y="45"/>
                </a:cxn>
                <a:cxn ang="0">
                  <a:pos x="80" y="55"/>
                </a:cxn>
                <a:cxn ang="0">
                  <a:pos x="64" y="69"/>
                </a:cxn>
                <a:cxn ang="0">
                  <a:pos x="56" y="85"/>
                </a:cxn>
                <a:cxn ang="0">
                  <a:pos x="51" y="114"/>
                </a:cxn>
                <a:cxn ang="0">
                  <a:pos x="56" y="142"/>
                </a:cxn>
                <a:cxn ang="0">
                  <a:pos x="69" y="165"/>
                </a:cxn>
                <a:cxn ang="0">
                  <a:pos x="80" y="174"/>
                </a:cxn>
                <a:cxn ang="0">
                  <a:pos x="104" y="184"/>
                </a:cxn>
                <a:cxn ang="0">
                  <a:pos x="132" y="184"/>
                </a:cxn>
                <a:cxn ang="0">
                  <a:pos x="156" y="174"/>
                </a:cxn>
                <a:cxn ang="0">
                  <a:pos x="166" y="165"/>
                </a:cxn>
                <a:cxn ang="0">
                  <a:pos x="184" y="129"/>
                </a:cxn>
                <a:cxn ang="0">
                  <a:pos x="184" y="100"/>
                </a:cxn>
                <a:cxn ang="0">
                  <a:pos x="177" y="77"/>
                </a:cxn>
                <a:cxn ang="0">
                  <a:pos x="162" y="59"/>
                </a:cxn>
                <a:cxn ang="0">
                  <a:pos x="145" y="49"/>
                </a:cxn>
                <a:cxn ang="0">
                  <a:pos x="119" y="43"/>
                </a:cxn>
                <a:cxn ang="0">
                  <a:pos x="142" y="1"/>
                </a:cxn>
                <a:cxn ang="0">
                  <a:pos x="185" y="19"/>
                </a:cxn>
                <a:cxn ang="0">
                  <a:pos x="217" y="49"/>
                </a:cxn>
                <a:cxn ang="0">
                  <a:pos x="235" y="91"/>
                </a:cxn>
                <a:cxn ang="0">
                  <a:pos x="235" y="137"/>
                </a:cxn>
                <a:cxn ang="0">
                  <a:pos x="217" y="179"/>
                </a:cxn>
                <a:cxn ang="0">
                  <a:pos x="185" y="210"/>
                </a:cxn>
                <a:cxn ang="0">
                  <a:pos x="142" y="226"/>
                </a:cxn>
                <a:cxn ang="0">
                  <a:pos x="94" y="226"/>
                </a:cxn>
                <a:cxn ang="0">
                  <a:pos x="51" y="210"/>
                </a:cxn>
                <a:cxn ang="0">
                  <a:pos x="19" y="179"/>
                </a:cxn>
                <a:cxn ang="0">
                  <a:pos x="1" y="137"/>
                </a:cxn>
                <a:cxn ang="0">
                  <a:pos x="1" y="91"/>
                </a:cxn>
                <a:cxn ang="0">
                  <a:pos x="19" y="49"/>
                </a:cxn>
                <a:cxn ang="0">
                  <a:pos x="51" y="19"/>
                </a:cxn>
                <a:cxn ang="0">
                  <a:pos x="94" y="1"/>
                </a:cxn>
              </a:cxnLst>
              <a:rect l="0" t="0" r="r" b="b"/>
              <a:pathLst>
                <a:path w="237" h="229">
                  <a:moveTo>
                    <a:pt x="119" y="43"/>
                  </a:moveTo>
                  <a:lnTo>
                    <a:pt x="104" y="45"/>
                  </a:lnTo>
                  <a:lnTo>
                    <a:pt x="91" y="49"/>
                  </a:lnTo>
                  <a:lnTo>
                    <a:pt x="80" y="55"/>
                  </a:lnTo>
                  <a:lnTo>
                    <a:pt x="74" y="59"/>
                  </a:lnTo>
                  <a:lnTo>
                    <a:pt x="64" y="69"/>
                  </a:lnTo>
                  <a:lnTo>
                    <a:pt x="59" y="77"/>
                  </a:lnTo>
                  <a:lnTo>
                    <a:pt x="56" y="85"/>
                  </a:lnTo>
                  <a:lnTo>
                    <a:pt x="52" y="100"/>
                  </a:lnTo>
                  <a:lnTo>
                    <a:pt x="51" y="114"/>
                  </a:lnTo>
                  <a:lnTo>
                    <a:pt x="52" y="129"/>
                  </a:lnTo>
                  <a:lnTo>
                    <a:pt x="56" y="142"/>
                  </a:lnTo>
                  <a:lnTo>
                    <a:pt x="62" y="153"/>
                  </a:lnTo>
                  <a:lnTo>
                    <a:pt x="69" y="165"/>
                  </a:lnTo>
                  <a:lnTo>
                    <a:pt x="74" y="169"/>
                  </a:lnTo>
                  <a:lnTo>
                    <a:pt x="80" y="174"/>
                  </a:lnTo>
                  <a:lnTo>
                    <a:pt x="91" y="179"/>
                  </a:lnTo>
                  <a:lnTo>
                    <a:pt x="104" y="184"/>
                  </a:lnTo>
                  <a:lnTo>
                    <a:pt x="119" y="185"/>
                  </a:lnTo>
                  <a:lnTo>
                    <a:pt x="132" y="184"/>
                  </a:lnTo>
                  <a:lnTo>
                    <a:pt x="145" y="179"/>
                  </a:lnTo>
                  <a:lnTo>
                    <a:pt x="156" y="174"/>
                  </a:lnTo>
                  <a:lnTo>
                    <a:pt x="162" y="169"/>
                  </a:lnTo>
                  <a:lnTo>
                    <a:pt x="166" y="165"/>
                  </a:lnTo>
                  <a:lnTo>
                    <a:pt x="181" y="142"/>
                  </a:lnTo>
                  <a:lnTo>
                    <a:pt x="184" y="129"/>
                  </a:lnTo>
                  <a:lnTo>
                    <a:pt x="185" y="114"/>
                  </a:lnTo>
                  <a:lnTo>
                    <a:pt x="184" y="100"/>
                  </a:lnTo>
                  <a:lnTo>
                    <a:pt x="181" y="85"/>
                  </a:lnTo>
                  <a:lnTo>
                    <a:pt x="177" y="77"/>
                  </a:lnTo>
                  <a:lnTo>
                    <a:pt x="172" y="69"/>
                  </a:lnTo>
                  <a:lnTo>
                    <a:pt x="162" y="59"/>
                  </a:lnTo>
                  <a:lnTo>
                    <a:pt x="156" y="55"/>
                  </a:lnTo>
                  <a:lnTo>
                    <a:pt x="145" y="49"/>
                  </a:lnTo>
                  <a:lnTo>
                    <a:pt x="132" y="45"/>
                  </a:lnTo>
                  <a:lnTo>
                    <a:pt x="119" y="43"/>
                  </a:lnTo>
                  <a:close/>
                  <a:moveTo>
                    <a:pt x="119" y="0"/>
                  </a:moveTo>
                  <a:lnTo>
                    <a:pt x="142" y="1"/>
                  </a:lnTo>
                  <a:lnTo>
                    <a:pt x="165" y="8"/>
                  </a:lnTo>
                  <a:lnTo>
                    <a:pt x="185" y="19"/>
                  </a:lnTo>
                  <a:lnTo>
                    <a:pt x="203" y="33"/>
                  </a:lnTo>
                  <a:lnTo>
                    <a:pt x="217" y="49"/>
                  </a:lnTo>
                  <a:lnTo>
                    <a:pt x="227" y="69"/>
                  </a:lnTo>
                  <a:lnTo>
                    <a:pt x="235" y="91"/>
                  </a:lnTo>
                  <a:lnTo>
                    <a:pt x="237" y="114"/>
                  </a:lnTo>
                  <a:lnTo>
                    <a:pt x="235" y="137"/>
                  </a:lnTo>
                  <a:lnTo>
                    <a:pt x="227" y="159"/>
                  </a:lnTo>
                  <a:lnTo>
                    <a:pt x="217" y="179"/>
                  </a:lnTo>
                  <a:lnTo>
                    <a:pt x="203" y="195"/>
                  </a:lnTo>
                  <a:lnTo>
                    <a:pt x="185" y="210"/>
                  </a:lnTo>
                  <a:lnTo>
                    <a:pt x="165" y="220"/>
                  </a:lnTo>
                  <a:lnTo>
                    <a:pt x="142" y="226"/>
                  </a:lnTo>
                  <a:lnTo>
                    <a:pt x="119" y="229"/>
                  </a:lnTo>
                  <a:lnTo>
                    <a:pt x="94" y="226"/>
                  </a:lnTo>
                  <a:lnTo>
                    <a:pt x="71" y="220"/>
                  </a:lnTo>
                  <a:lnTo>
                    <a:pt x="51" y="210"/>
                  </a:lnTo>
                  <a:lnTo>
                    <a:pt x="33" y="195"/>
                  </a:lnTo>
                  <a:lnTo>
                    <a:pt x="19" y="179"/>
                  </a:lnTo>
                  <a:lnTo>
                    <a:pt x="9" y="159"/>
                  </a:lnTo>
                  <a:lnTo>
                    <a:pt x="1" y="137"/>
                  </a:lnTo>
                  <a:lnTo>
                    <a:pt x="0" y="114"/>
                  </a:lnTo>
                  <a:lnTo>
                    <a:pt x="1" y="91"/>
                  </a:lnTo>
                  <a:lnTo>
                    <a:pt x="9" y="69"/>
                  </a:lnTo>
                  <a:lnTo>
                    <a:pt x="19" y="49"/>
                  </a:lnTo>
                  <a:lnTo>
                    <a:pt x="33" y="33"/>
                  </a:lnTo>
                  <a:lnTo>
                    <a:pt x="51" y="19"/>
                  </a:lnTo>
                  <a:lnTo>
                    <a:pt x="71" y="8"/>
                  </a:lnTo>
                  <a:lnTo>
                    <a:pt x="94" y="1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8" name="Freeform 17"/>
            <p:cNvSpPr>
              <a:spLocks/>
            </p:cNvSpPr>
            <p:nvPr/>
          </p:nvSpPr>
          <p:spPr bwMode="auto">
            <a:xfrm>
              <a:off x="2782601" y="1854004"/>
              <a:ext cx="75744" cy="508255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33" y="0"/>
                </a:cxn>
                <a:cxn ang="0">
                  <a:pos x="40" y="2"/>
                </a:cxn>
                <a:cxn ang="0">
                  <a:pos x="44" y="3"/>
                </a:cxn>
                <a:cxn ang="0">
                  <a:pos x="47" y="4"/>
                </a:cxn>
                <a:cxn ang="0">
                  <a:pos x="49" y="4"/>
                </a:cxn>
                <a:cxn ang="0">
                  <a:pos x="49" y="319"/>
                </a:cxn>
                <a:cxn ang="0">
                  <a:pos x="0" y="319"/>
                </a:cxn>
                <a:cxn ang="0">
                  <a:pos x="0" y="18"/>
                </a:cxn>
                <a:cxn ang="0">
                  <a:pos x="1" y="13"/>
                </a:cxn>
                <a:cxn ang="0">
                  <a:pos x="4" y="9"/>
                </a:cxn>
                <a:cxn ang="0">
                  <a:pos x="7" y="6"/>
                </a:cxn>
                <a:cxn ang="0">
                  <a:pos x="11" y="3"/>
                </a:cxn>
                <a:cxn ang="0">
                  <a:pos x="16" y="2"/>
                </a:cxn>
                <a:cxn ang="0">
                  <a:pos x="21" y="0"/>
                </a:cxn>
              </a:cxnLst>
              <a:rect l="0" t="0" r="r" b="b"/>
              <a:pathLst>
                <a:path w="49" h="319">
                  <a:moveTo>
                    <a:pt x="21" y="0"/>
                  </a:moveTo>
                  <a:lnTo>
                    <a:pt x="33" y="0"/>
                  </a:lnTo>
                  <a:lnTo>
                    <a:pt x="40" y="2"/>
                  </a:lnTo>
                  <a:lnTo>
                    <a:pt x="44" y="3"/>
                  </a:lnTo>
                  <a:lnTo>
                    <a:pt x="47" y="4"/>
                  </a:lnTo>
                  <a:lnTo>
                    <a:pt x="49" y="4"/>
                  </a:lnTo>
                  <a:lnTo>
                    <a:pt x="49" y="319"/>
                  </a:lnTo>
                  <a:lnTo>
                    <a:pt x="0" y="319"/>
                  </a:lnTo>
                  <a:lnTo>
                    <a:pt x="0" y="18"/>
                  </a:lnTo>
                  <a:lnTo>
                    <a:pt x="1" y="13"/>
                  </a:lnTo>
                  <a:lnTo>
                    <a:pt x="4" y="9"/>
                  </a:lnTo>
                  <a:lnTo>
                    <a:pt x="7" y="6"/>
                  </a:lnTo>
                  <a:lnTo>
                    <a:pt x="11" y="3"/>
                  </a:lnTo>
                  <a:lnTo>
                    <a:pt x="16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09" name="Freeform 18"/>
            <p:cNvSpPr>
              <a:spLocks noEditPoints="1"/>
            </p:cNvSpPr>
            <p:nvPr/>
          </p:nvSpPr>
          <p:spPr bwMode="auto">
            <a:xfrm>
              <a:off x="2900424" y="1854004"/>
              <a:ext cx="370302" cy="516656"/>
            </a:xfrm>
            <a:custGeom>
              <a:avLst/>
              <a:gdLst/>
              <a:ahLst/>
              <a:cxnLst>
                <a:cxn ang="0">
                  <a:pos x="103" y="141"/>
                </a:cxn>
                <a:cxn ang="0">
                  <a:pos x="75" y="154"/>
                </a:cxn>
                <a:cxn ang="0">
                  <a:pos x="61" y="171"/>
                </a:cxn>
                <a:cxn ang="0">
                  <a:pos x="52" y="196"/>
                </a:cxn>
                <a:cxn ang="0">
                  <a:pos x="52" y="225"/>
                </a:cxn>
                <a:cxn ang="0">
                  <a:pos x="61" y="249"/>
                </a:cxn>
                <a:cxn ang="0">
                  <a:pos x="74" y="264"/>
                </a:cxn>
                <a:cxn ang="0">
                  <a:pos x="84" y="273"/>
                </a:cxn>
                <a:cxn ang="0">
                  <a:pos x="103" y="278"/>
                </a:cxn>
                <a:cxn ang="0">
                  <a:pos x="132" y="278"/>
                </a:cxn>
                <a:cxn ang="0">
                  <a:pos x="159" y="267"/>
                </a:cxn>
                <a:cxn ang="0">
                  <a:pos x="175" y="248"/>
                </a:cxn>
                <a:cxn ang="0">
                  <a:pos x="182" y="225"/>
                </a:cxn>
                <a:cxn ang="0">
                  <a:pos x="182" y="196"/>
                </a:cxn>
                <a:cxn ang="0">
                  <a:pos x="172" y="171"/>
                </a:cxn>
                <a:cxn ang="0">
                  <a:pos x="159" y="154"/>
                </a:cxn>
                <a:cxn ang="0">
                  <a:pos x="132" y="141"/>
                </a:cxn>
                <a:cxn ang="0">
                  <a:pos x="204" y="0"/>
                </a:cxn>
                <a:cxn ang="0">
                  <a:pos x="220" y="2"/>
                </a:cxn>
                <a:cxn ang="0">
                  <a:pos x="230" y="4"/>
                </a:cxn>
                <a:cxn ang="0">
                  <a:pos x="232" y="200"/>
                </a:cxn>
                <a:cxn ang="0">
                  <a:pos x="223" y="255"/>
                </a:cxn>
                <a:cxn ang="0">
                  <a:pos x="200" y="294"/>
                </a:cxn>
                <a:cxn ang="0">
                  <a:pos x="162" y="317"/>
                </a:cxn>
                <a:cxn ang="0">
                  <a:pos x="116" y="325"/>
                </a:cxn>
                <a:cxn ang="0">
                  <a:pos x="69" y="316"/>
                </a:cxn>
                <a:cxn ang="0">
                  <a:pos x="32" y="293"/>
                </a:cxn>
                <a:cxn ang="0">
                  <a:pos x="9" y="257"/>
                </a:cxn>
                <a:cxn ang="0">
                  <a:pos x="0" y="210"/>
                </a:cxn>
                <a:cxn ang="0">
                  <a:pos x="7" y="164"/>
                </a:cxn>
                <a:cxn ang="0">
                  <a:pos x="30" y="128"/>
                </a:cxn>
                <a:cxn ang="0">
                  <a:pos x="66" y="104"/>
                </a:cxn>
                <a:cxn ang="0">
                  <a:pos x="110" y="96"/>
                </a:cxn>
                <a:cxn ang="0">
                  <a:pos x="153" y="106"/>
                </a:cxn>
                <a:cxn ang="0">
                  <a:pos x="184" y="129"/>
                </a:cxn>
                <a:cxn ang="0">
                  <a:pos x="187" y="9"/>
                </a:cxn>
                <a:cxn ang="0">
                  <a:pos x="194" y="3"/>
                </a:cxn>
                <a:cxn ang="0">
                  <a:pos x="204" y="0"/>
                </a:cxn>
              </a:cxnLst>
              <a:rect l="0" t="0" r="r" b="b"/>
              <a:pathLst>
                <a:path w="232" h="325">
                  <a:moveTo>
                    <a:pt x="117" y="139"/>
                  </a:moveTo>
                  <a:lnTo>
                    <a:pt x="103" y="141"/>
                  </a:lnTo>
                  <a:lnTo>
                    <a:pt x="90" y="145"/>
                  </a:lnTo>
                  <a:lnTo>
                    <a:pt x="75" y="154"/>
                  </a:lnTo>
                  <a:lnTo>
                    <a:pt x="69" y="160"/>
                  </a:lnTo>
                  <a:lnTo>
                    <a:pt x="61" y="171"/>
                  </a:lnTo>
                  <a:lnTo>
                    <a:pt x="55" y="183"/>
                  </a:lnTo>
                  <a:lnTo>
                    <a:pt x="52" y="196"/>
                  </a:lnTo>
                  <a:lnTo>
                    <a:pt x="51" y="210"/>
                  </a:lnTo>
                  <a:lnTo>
                    <a:pt x="52" y="225"/>
                  </a:lnTo>
                  <a:lnTo>
                    <a:pt x="55" y="238"/>
                  </a:lnTo>
                  <a:lnTo>
                    <a:pt x="61" y="249"/>
                  </a:lnTo>
                  <a:lnTo>
                    <a:pt x="65" y="255"/>
                  </a:lnTo>
                  <a:lnTo>
                    <a:pt x="74" y="264"/>
                  </a:lnTo>
                  <a:lnTo>
                    <a:pt x="79" y="268"/>
                  </a:lnTo>
                  <a:lnTo>
                    <a:pt x="84" y="273"/>
                  </a:lnTo>
                  <a:lnTo>
                    <a:pt x="90" y="275"/>
                  </a:lnTo>
                  <a:lnTo>
                    <a:pt x="103" y="278"/>
                  </a:lnTo>
                  <a:lnTo>
                    <a:pt x="117" y="280"/>
                  </a:lnTo>
                  <a:lnTo>
                    <a:pt x="132" y="278"/>
                  </a:lnTo>
                  <a:lnTo>
                    <a:pt x="145" y="275"/>
                  </a:lnTo>
                  <a:lnTo>
                    <a:pt x="159" y="267"/>
                  </a:lnTo>
                  <a:lnTo>
                    <a:pt x="171" y="255"/>
                  </a:lnTo>
                  <a:lnTo>
                    <a:pt x="175" y="248"/>
                  </a:lnTo>
                  <a:lnTo>
                    <a:pt x="178" y="239"/>
                  </a:lnTo>
                  <a:lnTo>
                    <a:pt x="182" y="225"/>
                  </a:lnTo>
                  <a:lnTo>
                    <a:pt x="184" y="210"/>
                  </a:lnTo>
                  <a:lnTo>
                    <a:pt x="182" y="196"/>
                  </a:lnTo>
                  <a:lnTo>
                    <a:pt x="178" y="183"/>
                  </a:lnTo>
                  <a:lnTo>
                    <a:pt x="172" y="171"/>
                  </a:lnTo>
                  <a:lnTo>
                    <a:pt x="165" y="160"/>
                  </a:lnTo>
                  <a:lnTo>
                    <a:pt x="159" y="154"/>
                  </a:lnTo>
                  <a:lnTo>
                    <a:pt x="145" y="145"/>
                  </a:lnTo>
                  <a:lnTo>
                    <a:pt x="132" y="141"/>
                  </a:lnTo>
                  <a:lnTo>
                    <a:pt x="117" y="139"/>
                  </a:lnTo>
                  <a:close/>
                  <a:moveTo>
                    <a:pt x="204" y="0"/>
                  </a:moveTo>
                  <a:lnTo>
                    <a:pt x="214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30" y="4"/>
                  </a:lnTo>
                  <a:lnTo>
                    <a:pt x="232" y="4"/>
                  </a:lnTo>
                  <a:lnTo>
                    <a:pt x="232" y="200"/>
                  </a:lnTo>
                  <a:lnTo>
                    <a:pt x="229" y="229"/>
                  </a:lnTo>
                  <a:lnTo>
                    <a:pt x="223" y="255"/>
                  </a:lnTo>
                  <a:lnTo>
                    <a:pt x="213" y="275"/>
                  </a:lnTo>
                  <a:lnTo>
                    <a:pt x="200" y="294"/>
                  </a:lnTo>
                  <a:lnTo>
                    <a:pt x="182" y="307"/>
                  </a:lnTo>
                  <a:lnTo>
                    <a:pt x="162" y="317"/>
                  </a:lnTo>
                  <a:lnTo>
                    <a:pt x="140" y="323"/>
                  </a:lnTo>
                  <a:lnTo>
                    <a:pt x="116" y="325"/>
                  </a:lnTo>
                  <a:lnTo>
                    <a:pt x="93" y="322"/>
                  </a:lnTo>
                  <a:lnTo>
                    <a:pt x="69" y="316"/>
                  </a:lnTo>
                  <a:lnTo>
                    <a:pt x="49" y="306"/>
                  </a:lnTo>
                  <a:lnTo>
                    <a:pt x="32" y="293"/>
                  </a:lnTo>
                  <a:lnTo>
                    <a:pt x="19" y="275"/>
                  </a:lnTo>
                  <a:lnTo>
                    <a:pt x="9" y="257"/>
                  </a:lnTo>
                  <a:lnTo>
                    <a:pt x="1" y="233"/>
                  </a:lnTo>
                  <a:lnTo>
                    <a:pt x="0" y="210"/>
                  </a:lnTo>
                  <a:lnTo>
                    <a:pt x="1" y="186"/>
                  </a:lnTo>
                  <a:lnTo>
                    <a:pt x="7" y="164"/>
                  </a:lnTo>
                  <a:lnTo>
                    <a:pt x="17" y="145"/>
                  </a:lnTo>
                  <a:lnTo>
                    <a:pt x="30" y="128"/>
                  </a:lnTo>
                  <a:lnTo>
                    <a:pt x="46" y="115"/>
                  </a:lnTo>
                  <a:lnTo>
                    <a:pt x="66" y="104"/>
                  </a:lnTo>
                  <a:lnTo>
                    <a:pt x="87" y="97"/>
                  </a:lnTo>
                  <a:lnTo>
                    <a:pt x="110" y="96"/>
                  </a:lnTo>
                  <a:lnTo>
                    <a:pt x="133" y="99"/>
                  </a:lnTo>
                  <a:lnTo>
                    <a:pt x="153" y="106"/>
                  </a:lnTo>
                  <a:lnTo>
                    <a:pt x="171" y="116"/>
                  </a:lnTo>
                  <a:lnTo>
                    <a:pt x="184" y="129"/>
                  </a:lnTo>
                  <a:lnTo>
                    <a:pt x="184" y="18"/>
                  </a:lnTo>
                  <a:lnTo>
                    <a:pt x="187" y="9"/>
                  </a:lnTo>
                  <a:lnTo>
                    <a:pt x="190" y="6"/>
                  </a:lnTo>
                  <a:lnTo>
                    <a:pt x="194" y="3"/>
                  </a:lnTo>
                  <a:lnTo>
                    <a:pt x="198" y="2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0" name="Freeform 19"/>
            <p:cNvSpPr>
              <a:spLocks/>
            </p:cNvSpPr>
            <p:nvPr/>
          </p:nvSpPr>
          <p:spPr bwMode="auto">
            <a:xfrm>
              <a:off x="3392759" y="1152525"/>
              <a:ext cx="252479" cy="231027"/>
            </a:xfrm>
            <a:custGeom>
              <a:avLst/>
              <a:gdLst/>
              <a:ahLst/>
              <a:cxnLst>
                <a:cxn ang="0">
                  <a:pos x="80" y="0"/>
                </a:cxn>
                <a:cxn ang="0">
                  <a:pos x="158" y="145"/>
                </a:cxn>
                <a:cxn ang="0">
                  <a:pos x="155" y="143"/>
                </a:cxn>
                <a:cxn ang="0">
                  <a:pos x="146" y="140"/>
                </a:cxn>
                <a:cxn ang="0">
                  <a:pos x="132" y="137"/>
                </a:cxn>
                <a:cxn ang="0">
                  <a:pos x="116" y="134"/>
                </a:cxn>
                <a:cxn ang="0">
                  <a:pos x="99" y="132"/>
                </a:cxn>
                <a:cxn ang="0">
                  <a:pos x="80" y="130"/>
                </a:cxn>
                <a:cxn ang="0">
                  <a:pos x="59" y="132"/>
                </a:cxn>
                <a:cxn ang="0">
                  <a:pos x="39" y="134"/>
                </a:cxn>
                <a:cxn ang="0">
                  <a:pos x="23" y="137"/>
                </a:cxn>
                <a:cxn ang="0">
                  <a:pos x="12" y="140"/>
                </a:cxn>
                <a:cxn ang="0">
                  <a:pos x="3" y="143"/>
                </a:cxn>
                <a:cxn ang="0">
                  <a:pos x="0" y="145"/>
                </a:cxn>
                <a:cxn ang="0">
                  <a:pos x="80" y="0"/>
                </a:cxn>
              </a:cxnLst>
              <a:rect l="0" t="0" r="r" b="b"/>
              <a:pathLst>
                <a:path w="158" h="145">
                  <a:moveTo>
                    <a:pt x="80" y="0"/>
                  </a:moveTo>
                  <a:lnTo>
                    <a:pt x="158" y="145"/>
                  </a:lnTo>
                  <a:lnTo>
                    <a:pt x="155" y="143"/>
                  </a:lnTo>
                  <a:lnTo>
                    <a:pt x="146" y="140"/>
                  </a:lnTo>
                  <a:lnTo>
                    <a:pt x="132" y="137"/>
                  </a:lnTo>
                  <a:lnTo>
                    <a:pt x="116" y="134"/>
                  </a:lnTo>
                  <a:lnTo>
                    <a:pt x="99" y="132"/>
                  </a:lnTo>
                  <a:lnTo>
                    <a:pt x="80" y="130"/>
                  </a:lnTo>
                  <a:lnTo>
                    <a:pt x="59" y="132"/>
                  </a:lnTo>
                  <a:lnTo>
                    <a:pt x="39" y="134"/>
                  </a:lnTo>
                  <a:lnTo>
                    <a:pt x="23" y="137"/>
                  </a:lnTo>
                  <a:lnTo>
                    <a:pt x="12" y="140"/>
                  </a:lnTo>
                  <a:lnTo>
                    <a:pt x="3" y="143"/>
                  </a:lnTo>
                  <a:lnTo>
                    <a:pt x="0" y="145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1" name="Freeform 21"/>
            <p:cNvSpPr>
              <a:spLocks/>
            </p:cNvSpPr>
            <p:nvPr/>
          </p:nvSpPr>
          <p:spPr bwMode="auto">
            <a:xfrm>
              <a:off x="3161319" y="1383552"/>
              <a:ext cx="231440" cy="252028"/>
            </a:xfrm>
            <a:custGeom>
              <a:avLst/>
              <a:gdLst/>
              <a:ahLst/>
              <a:cxnLst>
                <a:cxn ang="0">
                  <a:pos x="146" y="0"/>
                </a:cxn>
                <a:cxn ang="0">
                  <a:pos x="145" y="3"/>
                </a:cxn>
                <a:cxn ang="0">
                  <a:pos x="142" y="13"/>
                </a:cxn>
                <a:cxn ang="0">
                  <a:pos x="137" y="26"/>
                </a:cxn>
                <a:cxn ang="0">
                  <a:pos x="132" y="60"/>
                </a:cxn>
                <a:cxn ang="0">
                  <a:pos x="130" y="79"/>
                </a:cxn>
                <a:cxn ang="0">
                  <a:pos x="132" y="100"/>
                </a:cxn>
                <a:cxn ang="0">
                  <a:pos x="135" y="120"/>
                </a:cxn>
                <a:cxn ang="0">
                  <a:pos x="137" y="136"/>
                </a:cxn>
                <a:cxn ang="0">
                  <a:pos x="142" y="147"/>
                </a:cxn>
                <a:cxn ang="0">
                  <a:pos x="145" y="156"/>
                </a:cxn>
                <a:cxn ang="0">
                  <a:pos x="146" y="159"/>
                </a:cxn>
                <a:cxn ang="0">
                  <a:pos x="0" y="79"/>
                </a:cxn>
                <a:cxn ang="0">
                  <a:pos x="146" y="0"/>
                </a:cxn>
              </a:cxnLst>
              <a:rect l="0" t="0" r="r" b="b"/>
              <a:pathLst>
                <a:path w="146" h="159">
                  <a:moveTo>
                    <a:pt x="146" y="0"/>
                  </a:moveTo>
                  <a:lnTo>
                    <a:pt x="145" y="3"/>
                  </a:lnTo>
                  <a:lnTo>
                    <a:pt x="142" y="13"/>
                  </a:lnTo>
                  <a:lnTo>
                    <a:pt x="137" y="26"/>
                  </a:lnTo>
                  <a:lnTo>
                    <a:pt x="132" y="60"/>
                  </a:lnTo>
                  <a:lnTo>
                    <a:pt x="130" y="79"/>
                  </a:lnTo>
                  <a:lnTo>
                    <a:pt x="132" y="100"/>
                  </a:lnTo>
                  <a:lnTo>
                    <a:pt x="135" y="120"/>
                  </a:lnTo>
                  <a:lnTo>
                    <a:pt x="137" y="136"/>
                  </a:lnTo>
                  <a:lnTo>
                    <a:pt x="142" y="147"/>
                  </a:lnTo>
                  <a:lnTo>
                    <a:pt x="145" y="156"/>
                  </a:lnTo>
                  <a:lnTo>
                    <a:pt x="146" y="159"/>
                  </a:lnTo>
                  <a:lnTo>
                    <a:pt x="0" y="79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2" name="Freeform 22"/>
            <p:cNvSpPr>
              <a:spLocks/>
            </p:cNvSpPr>
            <p:nvPr/>
          </p:nvSpPr>
          <p:spPr bwMode="auto">
            <a:xfrm>
              <a:off x="3392759" y="1635580"/>
              <a:ext cx="252479" cy="23102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3" y="4"/>
                </a:cxn>
                <a:cxn ang="0">
                  <a:pos x="26" y="7"/>
                </a:cxn>
                <a:cxn ang="0">
                  <a:pos x="44" y="12"/>
                </a:cxn>
                <a:cxn ang="0">
                  <a:pos x="61" y="15"/>
                </a:cxn>
                <a:cxn ang="0">
                  <a:pos x="80" y="16"/>
                </a:cxn>
                <a:cxn ang="0">
                  <a:pos x="100" y="15"/>
                </a:cxn>
                <a:cxn ang="0">
                  <a:pos x="119" y="12"/>
                </a:cxn>
                <a:cxn ang="0">
                  <a:pos x="135" y="7"/>
                </a:cxn>
                <a:cxn ang="0">
                  <a:pos x="146" y="4"/>
                </a:cxn>
                <a:cxn ang="0">
                  <a:pos x="155" y="1"/>
                </a:cxn>
                <a:cxn ang="0">
                  <a:pos x="158" y="0"/>
                </a:cxn>
                <a:cxn ang="0">
                  <a:pos x="80" y="145"/>
                </a:cxn>
                <a:cxn ang="0">
                  <a:pos x="0" y="0"/>
                </a:cxn>
              </a:cxnLst>
              <a:rect l="0" t="0" r="r" b="b"/>
              <a:pathLst>
                <a:path w="158" h="145">
                  <a:moveTo>
                    <a:pt x="0" y="0"/>
                  </a:moveTo>
                  <a:lnTo>
                    <a:pt x="3" y="1"/>
                  </a:lnTo>
                  <a:lnTo>
                    <a:pt x="13" y="4"/>
                  </a:lnTo>
                  <a:lnTo>
                    <a:pt x="26" y="7"/>
                  </a:lnTo>
                  <a:lnTo>
                    <a:pt x="44" y="12"/>
                  </a:lnTo>
                  <a:lnTo>
                    <a:pt x="61" y="15"/>
                  </a:lnTo>
                  <a:lnTo>
                    <a:pt x="80" y="16"/>
                  </a:lnTo>
                  <a:lnTo>
                    <a:pt x="100" y="15"/>
                  </a:lnTo>
                  <a:lnTo>
                    <a:pt x="119" y="12"/>
                  </a:lnTo>
                  <a:lnTo>
                    <a:pt x="135" y="7"/>
                  </a:lnTo>
                  <a:lnTo>
                    <a:pt x="146" y="4"/>
                  </a:lnTo>
                  <a:lnTo>
                    <a:pt x="155" y="1"/>
                  </a:lnTo>
                  <a:lnTo>
                    <a:pt x="158" y="0"/>
                  </a:lnTo>
                  <a:lnTo>
                    <a:pt x="80" y="1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13" name="Freeform 23"/>
            <p:cNvSpPr>
              <a:spLocks/>
            </p:cNvSpPr>
            <p:nvPr/>
          </p:nvSpPr>
          <p:spPr bwMode="auto">
            <a:xfrm>
              <a:off x="3645238" y="1383552"/>
              <a:ext cx="231437" cy="2520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6" y="79"/>
                </a:cxn>
                <a:cxn ang="0">
                  <a:pos x="0" y="159"/>
                </a:cxn>
                <a:cxn ang="0">
                  <a:pos x="1" y="156"/>
                </a:cxn>
                <a:cxn ang="0">
                  <a:pos x="4" y="146"/>
                </a:cxn>
                <a:cxn ang="0">
                  <a:pos x="7" y="133"/>
                </a:cxn>
                <a:cxn ang="0">
                  <a:pos x="12" y="116"/>
                </a:cxn>
                <a:cxn ang="0">
                  <a:pos x="14" y="98"/>
                </a:cxn>
                <a:cxn ang="0">
                  <a:pos x="16" y="79"/>
                </a:cxn>
                <a:cxn ang="0">
                  <a:pos x="14" y="59"/>
                </a:cxn>
                <a:cxn ang="0">
                  <a:pos x="12" y="39"/>
                </a:cxn>
                <a:cxn ang="0">
                  <a:pos x="7" y="23"/>
                </a:cxn>
                <a:cxn ang="0">
                  <a:pos x="4" y="11"/>
                </a:cxn>
                <a:cxn ang="0">
                  <a:pos x="1" y="3"/>
                </a:cxn>
                <a:cxn ang="0">
                  <a:pos x="0" y="0"/>
                </a:cxn>
              </a:cxnLst>
              <a:rect l="0" t="0" r="r" b="b"/>
              <a:pathLst>
                <a:path w="146" h="159">
                  <a:moveTo>
                    <a:pt x="0" y="0"/>
                  </a:moveTo>
                  <a:lnTo>
                    <a:pt x="146" y="79"/>
                  </a:lnTo>
                  <a:lnTo>
                    <a:pt x="0" y="159"/>
                  </a:lnTo>
                  <a:lnTo>
                    <a:pt x="1" y="156"/>
                  </a:lnTo>
                  <a:lnTo>
                    <a:pt x="4" y="146"/>
                  </a:lnTo>
                  <a:lnTo>
                    <a:pt x="7" y="133"/>
                  </a:lnTo>
                  <a:lnTo>
                    <a:pt x="12" y="116"/>
                  </a:lnTo>
                  <a:lnTo>
                    <a:pt x="14" y="98"/>
                  </a:lnTo>
                  <a:lnTo>
                    <a:pt x="16" y="79"/>
                  </a:lnTo>
                  <a:lnTo>
                    <a:pt x="14" y="59"/>
                  </a:lnTo>
                  <a:lnTo>
                    <a:pt x="12" y="39"/>
                  </a:lnTo>
                  <a:lnTo>
                    <a:pt x="7" y="23"/>
                  </a:lnTo>
                  <a:lnTo>
                    <a:pt x="4" y="11"/>
                  </a:lnTo>
                  <a:lnTo>
                    <a:pt x="1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45708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191B1D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14" name="TextBox 913"/>
          <p:cNvSpPr txBox="1"/>
          <p:nvPr/>
        </p:nvSpPr>
        <p:spPr>
          <a:xfrm>
            <a:off x="1801368" y="164592"/>
            <a:ext cx="96012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Токко · сходимость ОУ и маркзамера по стадиям · тыс. м³ · январь–сентябрь 2026</a:t>
            </a:r>
          </a:p>
        </p:txBody>
      </p:sp>
      <p:sp>
        <p:nvSpPr>
          <p:cNvPr id="916" name="Rectangle 915"/>
          <p:cNvSpPr/>
          <p:nvPr/>
        </p:nvSpPr>
        <p:spPr>
          <a:xfrm>
            <a:off x="603504" y="928115"/>
            <a:ext cx="118872" cy="118872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786384" y="914400"/>
            <a:ext cx="2286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отклонение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в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допуске</a:t>
            </a:r>
            <a:endParaRPr kumimoji="0" sz="800" b="0" i="0" u="none" strike="noStrike" kern="1200" cap="none" spc="0" normalizeH="0" baseline="0" noProof="0" dirty="0">
              <a:ln>
                <a:noFill/>
              </a:ln>
              <a:solidFill>
                <a:srgbClr val="6B7785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8" name="Rectangle 917"/>
          <p:cNvSpPr/>
          <p:nvPr/>
        </p:nvSpPr>
        <p:spPr>
          <a:xfrm>
            <a:off x="3163824" y="928115"/>
            <a:ext cx="118872" cy="118872"/>
          </a:xfrm>
          <a:prstGeom prst="rect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3346704" y="914400"/>
            <a:ext cx="3200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не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0" name="Rectangle 919"/>
          <p:cNvSpPr/>
          <p:nvPr/>
        </p:nvSpPr>
        <p:spPr>
          <a:xfrm>
            <a:off x="6638544" y="928115"/>
            <a:ext cx="118872" cy="118872"/>
          </a:xfrm>
          <a:prstGeom prst="rect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6821424" y="914400"/>
            <a:ext cx="310896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выше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допуска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более </a:t>
            </a:r>
            <a:r>
              <a:rPr kumimoji="0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чем</a:t>
            </a: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на 3 п.п.</a:t>
            </a:r>
          </a:p>
        </p:txBody>
      </p:sp>
      <p:sp>
        <p:nvSpPr>
          <p:cNvPr id="922" name="TextBox 921"/>
          <p:cNvSpPr txBox="1"/>
          <p:nvPr/>
        </p:nvSpPr>
        <p:spPr>
          <a:xfrm>
            <a:off x="786384" y="1243584"/>
            <a:ext cx="310896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B778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Месяц</a:t>
            </a:r>
          </a:p>
        </p:txBody>
      </p:sp>
      <p:sp>
        <p:nvSpPr>
          <p:cNvPr id="923" name="TextBox 922"/>
          <p:cNvSpPr txBox="1"/>
          <p:nvPr/>
        </p:nvSpPr>
        <p:spPr>
          <a:xfrm>
            <a:off x="1645920" y="1069848"/>
            <a:ext cx="246430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Стадия 1</a:t>
            </a:r>
          </a:p>
        </p:txBody>
      </p:sp>
      <p:sp>
        <p:nvSpPr>
          <p:cNvPr id="924" name="TextBox 923"/>
          <p:cNvSpPr txBox="1"/>
          <p:nvPr/>
        </p:nvSpPr>
        <p:spPr>
          <a:xfrm>
            <a:off x="1645920" y="1225296"/>
            <a:ext cx="2464308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Δ %  ·  Δ  ·  замер → учёт</a:t>
            </a:r>
          </a:p>
        </p:txBody>
      </p:sp>
      <p:sp>
        <p:nvSpPr>
          <p:cNvPr id="925" name="TextBox 924"/>
          <p:cNvSpPr txBox="1"/>
          <p:nvPr/>
        </p:nvSpPr>
        <p:spPr>
          <a:xfrm>
            <a:off x="4110228" y="1069848"/>
            <a:ext cx="246430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Стадия 2</a:t>
            </a:r>
          </a:p>
        </p:txBody>
      </p:sp>
      <p:sp>
        <p:nvSpPr>
          <p:cNvPr id="926" name="TextBox 925"/>
          <p:cNvSpPr txBox="1"/>
          <p:nvPr/>
        </p:nvSpPr>
        <p:spPr>
          <a:xfrm>
            <a:off x="4110228" y="1225296"/>
            <a:ext cx="2464308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ST-2</a:t>
            </a:r>
          </a:p>
        </p:txBody>
      </p:sp>
      <p:sp>
        <p:nvSpPr>
          <p:cNvPr id="927" name="TextBox 926"/>
          <p:cNvSpPr txBox="1"/>
          <p:nvPr/>
        </p:nvSpPr>
        <p:spPr>
          <a:xfrm>
            <a:off x="6574536" y="1069848"/>
            <a:ext cx="246430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Стадия 3</a:t>
            </a:r>
          </a:p>
        </p:txBody>
      </p:sp>
      <p:sp>
        <p:nvSpPr>
          <p:cNvPr id="928" name="TextBox 927"/>
          <p:cNvSpPr txBox="1"/>
          <p:nvPr/>
        </p:nvSpPr>
        <p:spPr>
          <a:xfrm>
            <a:off x="6574536" y="1225296"/>
            <a:ext cx="2464308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ST-3</a:t>
            </a:r>
          </a:p>
        </p:txBody>
      </p:sp>
      <p:sp>
        <p:nvSpPr>
          <p:cNvPr id="929" name="TextBox 928"/>
          <p:cNvSpPr txBox="1"/>
          <p:nvPr/>
        </p:nvSpPr>
        <p:spPr>
          <a:xfrm>
            <a:off x="9038844" y="1069848"/>
            <a:ext cx="246430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Arial"/>
              </a:rPr>
              <a:t>Карьер</a:t>
            </a:r>
          </a:p>
        </p:txBody>
      </p:sp>
      <p:sp>
        <p:nvSpPr>
          <p:cNvPr id="930" name="TextBox 929"/>
          <p:cNvSpPr txBox="1"/>
          <p:nvPr/>
        </p:nvSpPr>
        <p:spPr>
          <a:xfrm>
            <a:off x="9038844" y="1225296"/>
            <a:ext cx="2464308" cy="118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0">
                <a:solidFill>
                  <a:srgbClr val="6B7785"/>
                </a:solidFill>
                <a:latin typeface="Arial"/>
              </a:rPr>
              <a:t>стадии 1–3</a:t>
            </a:r>
          </a:p>
        </p:txBody>
      </p:sp>
      <p:sp>
        <p:nvSpPr>
          <p:cNvPr id="931" name="Rounded Rectangle 930"/>
          <p:cNvSpPr/>
          <p:nvPr/>
        </p:nvSpPr>
        <p:spPr>
          <a:xfrm>
            <a:off x="603504" y="1417320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2" name="TextBox 931"/>
          <p:cNvSpPr txBox="1"/>
          <p:nvPr/>
        </p:nvSpPr>
        <p:spPr>
          <a:xfrm>
            <a:off x="786384" y="1417320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Январь</a:t>
            </a:r>
          </a:p>
        </p:txBody>
      </p:sp>
      <p:sp>
        <p:nvSpPr>
          <p:cNvPr id="933" name="Rounded Rectangle 932"/>
          <p:cNvSpPr/>
          <p:nvPr/>
        </p:nvSpPr>
        <p:spPr>
          <a:xfrm>
            <a:off x="1682496" y="1463347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+20,0%</a:t>
            </a:r>
          </a:p>
        </p:txBody>
      </p:sp>
      <p:sp>
        <p:nvSpPr>
          <p:cNvPr id="934" name="TextBox 933"/>
          <p:cNvSpPr txBox="1"/>
          <p:nvPr/>
        </p:nvSpPr>
        <p:spPr>
          <a:xfrm>
            <a:off x="2414016" y="1445644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+30,9</a:t>
            </a:r>
          </a:p>
        </p:txBody>
      </p:sp>
      <p:sp>
        <p:nvSpPr>
          <p:cNvPr id="935" name="TextBox 934"/>
          <p:cNvSpPr txBox="1"/>
          <p:nvPr/>
        </p:nvSpPr>
        <p:spPr>
          <a:xfrm>
            <a:off x="2414016" y="1601428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155,0 → 185,9</a:t>
            </a:r>
          </a:p>
        </p:txBody>
      </p:sp>
      <p:sp>
        <p:nvSpPr>
          <p:cNvPr id="936" name="Rounded Rectangle 935"/>
          <p:cNvSpPr/>
          <p:nvPr/>
        </p:nvSpPr>
        <p:spPr>
          <a:xfrm>
            <a:off x="4146804" y="1463347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+1,8%</a:t>
            </a:r>
          </a:p>
        </p:txBody>
      </p:sp>
      <p:sp>
        <p:nvSpPr>
          <p:cNvPr id="937" name="TextBox 936"/>
          <p:cNvSpPr txBox="1"/>
          <p:nvPr/>
        </p:nvSpPr>
        <p:spPr>
          <a:xfrm>
            <a:off x="4878324" y="1445644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+5,9</a:t>
            </a:r>
          </a:p>
        </p:txBody>
      </p:sp>
      <p:sp>
        <p:nvSpPr>
          <p:cNvPr id="938" name="TextBox 937"/>
          <p:cNvSpPr txBox="1"/>
          <p:nvPr/>
        </p:nvSpPr>
        <p:spPr>
          <a:xfrm>
            <a:off x="4878324" y="1601428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329,9 → 335,9</a:t>
            </a:r>
          </a:p>
        </p:txBody>
      </p:sp>
      <p:sp>
        <p:nvSpPr>
          <p:cNvPr id="939" name="Rounded Rectangle 938"/>
          <p:cNvSpPr/>
          <p:nvPr/>
        </p:nvSpPr>
        <p:spPr>
          <a:xfrm>
            <a:off x="6611112" y="1463347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−18,9%</a:t>
            </a:r>
          </a:p>
        </p:txBody>
      </p:sp>
      <p:sp>
        <p:nvSpPr>
          <p:cNvPr id="940" name="TextBox 939"/>
          <p:cNvSpPr txBox="1"/>
          <p:nvPr/>
        </p:nvSpPr>
        <p:spPr>
          <a:xfrm>
            <a:off x="7342632" y="1445644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−17,7</a:t>
            </a:r>
          </a:p>
        </p:txBody>
      </p:sp>
      <p:sp>
        <p:nvSpPr>
          <p:cNvPr id="941" name="TextBox 940"/>
          <p:cNvSpPr txBox="1"/>
          <p:nvPr/>
        </p:nvSpPr>
        <p:spPr>
          <a:xfrm>
            <a:off x="7342632" y="1601428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93,7 → 76,0</a:t>
            </a:r>
          </a:p>
        </p:txBody>
      </p:sp>
      <p:sp>
        <p:nvSpPr>
          <p:cNvPr id="942" name="Rounded Rectangle 941"/>
          <p:cNvSpPr/>
          <p:nvPr/>
        </p:nvSpPr>
        <p:spPr>
          <a:xfrm>
            <a:off x="9075420" y="1463347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+3,3%</a:t>
            </a:r>
          </a:p>
        </p:txBody>
      </p:sp>
      <p:sp>
        <p:nvSpPr>
          <p:cNvPr id="943" name="Rounded Rectangle 942"/>
          <p:cNvSpPr/>
          <p:nvPr/>
        </p:nvSpPr>
        <p:spPr>
          <a:xfrm>
            <a:off x="9761220" y="1521195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4" name="Oval 943"/>
          <p:cNvSpPr/>
          <p:nvPr/>
        </p:nvSpPr>
        <p:spPr>
          <a:xfrm>
            <a:off x="9773655" y="1541678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5" name="Oval 944"/>
          <p:cNvSpPr/>
          <p:nvPr/>
        </p:nvSpPr>
        <p:spPr>
          <a:xfrm>
            <a:off x="9891430" y="1541678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Oval 945"/>
          <p:cNvSpPr/>
          <p:nvPr/>
        </p:nvSpPr>
        <p:spPr>
          <a:xfrm>
            <a:off x="10009205" y="1541678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7" name="TextBox 946"/>
          <p:cNvSpPr txBox="1"/>
          <p:nvPr/>
        </p:nvSpPr>
        <p:spPr>
          <a:xfrm>
            <a:off x="10181844" y="1445644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+19,2</a:t>
            </a:r>
          </a:p>
        </p:txBody>
      </p:sp>
      <p:sp>
        <p:nvSpPr>
          <p:cNvPr id="948" name="TextBox 947"/>
          <p:cNvSpPr txBox="1"/>
          <p:nvPr/>
        </p:nvSpPr>
        <p:spPr>
          <a:xfrm>
            <a:off x="10181844" y="1601428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578,6 → 597,8</a:t>
            </a:r>
          </a:p>
        </p:txBody>
      </p:sp>
      <p:sp>
        <p:nvSpPr>
          <p:cNvPr id="949" name="Rounded Rectangle 948"/>
          <p:cNvSpPr/>
          <p:nvPr/>
        </p:nvSpPr>
        <p:spPr>
          <a:xfrm>
            <a:off x="603504" y="1819656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0" name="TextBox 949"/>
          <p:cNvSpPr txBox="1"/>
          <p:nvPr/>
        </p:nvSpPr>
        <p:spPr>
          <a:xfrm>
            <a:off x="786384" y="1819656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Февраль</a:t>
            </a:r>
          </a:p>
        </p:txBody>
      </p:sp>
      <p:sp>
        <p:nvSpPr>
          <p:cNvPr id="951" name="Rounded Rectangle 950"/>
          <p:cNvSpPr/>
          <p:nvPr/>
        </p:nvSpPr>
        <p:spPr>
          <a:xfrm>
            <a:off x="1682496" y="1865683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−17,6%</a:t>
            </a:r>
          </a:p>
        </p:txBody>
      </p:sp>
      <p:sp>
        <p:nvSpPr>
          <p:cNvPr id="952" name="TextBox 951"/>
          <p:cNvSpPr txBox="1"/>
          <p:nvPr/>
        </p:nvSpPr>
        <p:spPr>
          <a:xfrm>
            <a:off x="2414016" y="1847980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−38,3</a:t>
            </a:r>
          </a:p>
        </p:txBody>
      </p:sp>
      <p:sp>
        <p:nvSpPr>
          <p:cNvPr id="953" name="TextBox 952"/>
          <p:cNvSpPr txBox="1"/>
          <p:nvPr/>
        </p:nvSpPr>
        <p:spPr>
          <a:xfrm>
            <a:off x="2414016" y="2003764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218,1 → 179,8</a:t>
            </a:r>
          </a:p>
        </p:txBody>
      </p:sp>
      <p:sp>
        <p:nvSpPr>
          <p:cNvPr id="954" name="Rounded Rectangle 953"/>
          <p:cNvSpPr/>
          <p:nvPr/>
        </p:nvSpPr>
        <p:spPr>
          <a:xfrm>
            <a:off x="4146804" y="1865683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−32,0%</a:t>
            </a:r>
          </a:p>
        </p:txBody>
      </p:sp>
      <p:sp>
        <p:nvSpPr>
          <p:cNvPr id="955" name="TextBox 954"/>
          <p:cNvSpPr txBox="1"/>
          <p:nvPr/>
        </p:nvSpPr>
        <p:spPr>
          <a:xfrm>
            <a:off x="4878324" y="1847980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−61,5</a:t>
            </a:r>
          </a:p>
        </p:txBody>
      </p:sp>
      <p:sp>
        <p:nvSpPr>
          <p:cNvPr id="956" name="TextBox 955"/>
          <p:cNvSpPr txBox="1"/>
          <p:nvPr/>
        </p:nvSpPr>
        <p:spPr>
          <a:xfrm>
            <a:off x="4878324" y="2003764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192,4 → 130,8</a:t>
            </a:r>
          </a:p>
        </p:txBody>
      </p:sp>
      <p:sp>
        <p:nvSpPr>
          <p:cNvPr id="957" name="Rounded Rectangle 956"/>
          <p:cNvSpPr/>
          <p:nvPr/>
        </p:nvSpPr>
        <p:spPr>
          <a:xfrm>
            <a:off x="6611112" y="1865683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+32,4%</a:t>
            </a:r>
          </a:p>
        </p:txBody>
      </p:sp>
      <p:sp>
        <p:nvSpPr>
          <p:cNvPr id="958" name="TextBox 957"/>
          <p:cNvSpPr txBox="1"/>
          <p:nvPr/>
        </p:nvSpPr>
        <p:spPr>
          <a:xfrm>
            <a:off x="7342632" y="1847980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+51,5</a:t>
            </a:r>
          </a:p>
        </p:txBody>
      </p:sp>
      <p:sp>
        <p:nvSpPr>
          <p:cNvPr id="959" name="TextBox 958"/>
          <p:cNvSpPr txBox="1"/>
          <p:nvPr/>
        </p:nvSpPr>
        <p:spPr>
          <a:xfrm>
            <a:off x="7342632" y="2003764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158,9 → 210,3</a:t>
            </a:r>
          </a:p>
        </p:txBody>
      </p:sp>
      <p:sp>
        <p:nvSpPr>
          <p:cNvPr id="960" name="Rounded Rectangle 959"/>
          <p:cNvSpPr/>
          <p:nvPr/>
        </p:nvSpPr>
        <p:spPr>
          <a:xfrm>
            <a:off x="9075420" y="1865683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−8,5%</a:t>
            </a:r>
          </a:p>
        </p:txBody>
      </p:sp>
      <p:sp>
        <p:nvSpPr>
          <p:cNvPr id="961" name="Rounded Rectangle 960"/>
          <p:cNvSpPr/>
          <p:nvPr/>
        </p:nvSpPr>
        <p:spPr>
          <a:xfrm>
            <a:off x="9761220" y="1923531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2" name="Oval 961"/>
          <p:cNvSpPr/>
          <p:nvPr/>
        </p:nvSpPr>
        <p:spPr>
          <a:xfrm>
            <a:off x="9773655" y="1944014"/>
            <a:ext cx="105338" cy="1053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3" name="Oval 962"/>
          <p:cNvSpPr/>
          <p:nvPr/>
        </p:nvSpPr>
        <p:spPr>
          <a:xfrm>
            <a:off x="9891430" y="1944014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Oval 963"/>
          <p:cNvSpPr/>
          <p:nvPr/>
        </p:nvSpPr>
        <p:spPr>
          <a:xfrm>
            <a:off x="10009205" y="1944014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5" name="TextBox 964"/>
          <p:cNvSpPr txBox="1"/>
          <p:nvPr/>
        </p:nvSpPr>
        <p:spPr>
          <a:xfrm>
            <a:off x="10181844" y="1847980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−48,4</a:t>
            </a:r>
          </a:p>
        </p:txBody>
      </p:sp>
      <p:sp>
        <p:nvSpPr>
          <p:cNvPr id="966" name="TextBox 965"/>
          <p:cNvSpPr txBox="1"/>
          <p:nvPr/>
        </p:nvSpPr>
        <p:spPr>
          <a:xfrm>
            <a:off x="10181844" y="2003764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569,3 → 520,9</a:t>
            </a:r>
          </a:p>
        </p:txBody>
      </p:sp>
      <p:sp>
        <p:nvSpPr>
          <p:cNvPr id="967" name="Rounded Rectangle 966"/>
          <p:cNvSpPr/>
          <p:nvPr/>
        </p:nvSpPr>
        <p:spPr>
          <a:xfrm>
            <a:off x="603504" y="2221992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786384" y="2221992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Март</a:t>
            </a:r>
          </a:p>
        </p:txBody>
      </p:sp>
      <p:sp>
        <p:nvSpPr>
          <p:cNvPr id="969" name="Rounded Rectangle 968"/>
          <p:cNvSpPr/>
          <p:nvPr/>
        </p:nvSpPr>
        <p:spPr>
          <a:xfrm>
            <a:off x="1682496" y="2268019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−12,3%</a:t>
            </a:r>
          </a:p>
        </p:txBody>
      </p:sp>
      <p:sp>
        <p:nvSpPr>
          <p:cNvPr id="970" name="TextBox 969"/>
          <p:cNvSpPr txBox="1"/>
          <p:nvPr/>
        </p:nvSpPr>
        <p:spPr>
          <a:xfrm>
            <a:off x="2414016" y="2250316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−30,6</a:t>
            </a:r>
          </a:p>
        </p:txBody>
      </p:sp>
      <p:sp>
        <p:nvSpPr>
          <p:cNvPr id="971" name="TextBox 970"/>
          <p:cNvSpPr txBox="1"/>
          <p:nvPr/>
        </p:nvSpPr>
        <p:spPr>
          <a:xfrm>
            <a:off x="2414016" y="2406100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248,4 → 217,8</a:t>
            </a:r>
          </a:p>
        </p:txBody>
      </p:sp>
      <p:sp>
        <p:nvSpPr>
          <p:cNvPr id="972" name="Rounded Rectangle 971"/>
          <p:cNvSpPr/>
          <p:nvPr/>
        </p:nvSpPr>
        <p:spPr>
          <a:xfrm>
            <a:off x="4146804" y="2268019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−16,4%</a:t>
            </a:r>
          </a:p>
        </p:txBody>
      </p:sp>
      <p:sp>
        <p:nvSpPr>
          <p:cNvPr id="973" name="TextBox 972"/>
          <p:cNvSpPr txBox="1"/>
          <p:nvPr/>
        </p:nvSpPr>
        <p:spPr>
          <a:xfrm>
            <a:off x="4878324" y="2250316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−41,3</a:t>
            </a:r>
          </a:p>
        </p:txBody>
      </p:sp>
      <p:sp>
        <p:nvSpPr>
          <p:cNvPr id="974" name="TextBox 973"/>
          <p:cNvSpPr txBox="1"/>
          <p:nvPr/>
        </p:nvSpPr>
        <p:spPr>
          <a:xfrm>
            <a:off x="4878324" y="2406100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252,7 → 211,4</a:t>
            </a:r>
          </a:p>
        </p:txBody>
      </p:sp>
      <p:sp>
        <p:nvSpPr>
          <p:cNvPr id="975" name="Rounded Rectangle 974"/>
          <p:cNvSpPr/>
          <p:nvPr/>
        </p:nvSpPr>
        <p:spPr>
          <a:xfrm>
            <a:off x="6611112" y="2268019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−18,5%</a:t>
            </a:r>
          </a:p>
        </p:txBody>
      </p:sp>
      <p:sp>
        <p:nvSpPr>
          <p:cNvPr id="976" name="TextBox 975"/>
          <p:cNvSpPr txBox="1"/>
          <p:nvPr/>
        </p:nvSpPr>
        <p:spPr>
          <a:xfrm>
            <a:off x="7342632" y="2250316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−31,6</a:t>
            </a:r>
          </a:p>
        </p:txBody>
      </p:sp>
      <p:sp>
        <p:nvSpPr>
          <p:cNvPr id="977" name="TextBox 976"/>
          <p:cNvSpPr txBox="1"/>
          <p:nvPr/>
        </p:nvSpPr>
        <p:spPr>
          <a:xfrm>
            <a:off x="7342632" y="2406100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170,7 → 139,1</a:t>
            </a:r>
          </a:p>
        </p:txBody>
      </p:sp>
      <p:sp>
        <p:nvSpPr>
          <p:cNvPr id="978" name="Rounded Rectangle 977"/>
          <p:cNvSpPr/>
          <p:nvPr/>
        </p:nvSpPr>
        <p:spPr>
          <a:xfrm>
            <a:off x="9075420" y="2268019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−15,4%</a:t>
            </a:r>
          </a:p>
        </p:txBody>
      </p:sp>
      <p:sp>
        <p:nvSpPr>
          <p:cNvPr id="979" name="Rounded Rectangle 978"/>
          <p:cNvSpPr/>
          <p:nvPr/>
        </p:nvSpPr>
        <p:spPr>
          <a:xfrm>
            <a:off x="9761220" y="2325867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Oval 979"/>
          <p:cNvSpPr/>
          <p:nvPr/>
        </p:nvSpPr>
        <p:spPr>
          <a:xfrm>
            <a:off x="9773655" y="2346350"/>
            <a:ext cx="105338" cy="1053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1" name="Oval 980"/>
          <p:cNvSpPr/>
          <p:nvPr/>
        </p:nvSpPr>
        <p:spPr>
          <a:xfrm>
            <a:off x="9891430" y="2346350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2" name="Oval 981"/>
          <p:cNvSpPr/>
          <p:nvPr/>
        </p:nvSpPr>
        <p:spPr>
          <a:xfrm>
            <a:off x="10009205" y="2346350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10181844" y="2250316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−103,5</a:t>
            </a:r>
          </a:p>
        </p:txBody>
      </p:sp>
      <p:sp>
        <p:nvSpPr>
          <p:cNvPr id="984" name="TextBox 983"/>
          <p:cNvSpPr txBox="1"/>
          <p:nvPr/>
        </p:nvSpPr>
        <p:spPr>
          <a:xfrm>
            <a:off x="10181844" y="2406100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671,9 → 568,3</a:t>
            </a:r>
          </a:p>
        </p:txBody>
      </p:sp>
      <p:sp>
        <p:nvSpPr>
          <p:cNvPr id="985" name="Rounded Rectangle 984"/>
          <p:cNvSpPr/>
          <p:nvPr/>
        </p:nvSpPr>
        <p:spPr>
          <a:xfrm>
            <a:off x="603504" y="2624328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786384" y="2624328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Апрель</a:t>
            </a:r>
          </a:p>
        </p:txBody>
      </p:sp>
      <p:sp>
        <p:nvSpPr>
          <p:cNvPr id="987" name="Rounded Rectangle 986"/>
          <p:cNvSpPr/>
          <p:nvPr/>
        </p:nvSpPr>
        <p:spPr>
          <a:xfrm>
            <a:off x="1682496" y="2670355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−8,8%</a:t>
            </a:r>
          </a:p>
        </p:txBody>
      </p:sp>
      <p:sp>
        <p:nvSpPr>
          <p:cNvPr id="988" name="TextBox 987"/>
          <p:cNvSpPr txBox="1"/>
          <p:nvPr/>
        </p:nvSpPr>
        <p:spPr>
          <a:xfrm>
            <a:off x="2414016" y="2652652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−13,8</a:t>
            </a:r>
          </a:p>
        </p:txBody>
      </p:sp>
      <p:sp>
        <p:nvSpPr>
          <p:cNvPr id="989" name="TextBox 988"/>
          <p:cNvSpPr txBox="1"/>
          <p:nvPr/>
        </p:nvSpPr>
        <p:spPr>
          <a:xfrm>
            <a:off x="2414016" y="2808436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157,4 → 143,5</a:t>
            </a:r>
          </a:p>
        </p:txBody>
      </p:sp>
      <p:sp>
        <p:nvSpPr>
          <p:cNvPr id="990" name="Rounded Rectangle 989"/>
          <p:cNvSpPr/>
          <p:nvPr/>
        </p:nvSpPr>
        <p:spPr>
          <a:xfrm>
            <a:off x="4146804" y="2670355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+6,2%</a:t>
            </a:r>
          </a:p>
        </p:txBody>
      </p:sp>
      <p:sp>
        <p:nvSpPr>
          <p:cNvPr id="991" name="TextBox 990"/>
          <p:cNvSpPr txBox="1"/>
          <p:nvPr/>
        </p:nvSpPr>
        <p:spPr>
          <a:xfrm>
            <a:off x="4878324" y="2652652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+20,0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4878324" y="2808436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324,0 → 344,0</a:t>
            </a:r>
          </a:p>
        </p:txBody>
      </p:sp>
      <p:sp>
        <p:nvSpPr>
          <p:cNvPr id="993" name="Rounded Rectangle 992"/>
          <p:cNvSpPr/>
          <p:nvPr/>
        </p:nvSpPr>
        <p:spPr>
          <a:xfrm>
            <a:off x="6611112" y="2670355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+15,2%</a:t>
            </a:r>
          </a:p>
        </p:txBody>
      </p:sp>
      <p:sp>
        <p:nvSpPr>
          <p:cNvPr id="994" name="TextBox 993"/>
          <p:cNvSpPr txBox="1"/>
          <p:nvPr/>
        </p:nvSpPr>
        <p:spPr>
          <a:xfrm>
            <a:off x="7342632" y="2652652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+27,3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7342632" y="2808436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179,5 → 206,8</a:t>
            </a:r>
          </a:p>
        </p:txBody>
      </p:sp>
      <p:sp>
        <p:nvSpPr>
          <p:cNvPr id="996" name="Rounded Rectangle 995"/>
          <p:cNvSpPr/>
          <p:nvPr/>
        </p:nvSpPr>
        <p:spPr>
          <a:xfrm>
            <a:off x="9075420" y="2670355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+5,1%</a:t>
            </a:r>
          </a:p>
        </p:txBody>
      </p:sp>
      <p:sp>
        <p:nvSpPr>
          <p:cNvPr id="997" name="Rounded Rectangle 996"/>
          <p:cNvSpPr/>
          <p:nvPr/>
        </p:nvSpPr>
        <p:spPr>
          <a:xfrm>
            <a:off x="9761220" y="2728203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8" name="Oval 997"/>
          <p:cNvSpPr/>
          <p:nvPr/>
        </p:nvSpPr>
        <p:spPr>
          <a:xfrm>
            <a:off x="9773655" y="2748686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Oval 998"/>
          <p:cNvSpPr/>
          <p:nvPr/>
        </p:nvSpPr>
        <p:spPr>
          <a:xfrm>
            <a:off x="9891430" y="2748686"/>
            <a:ext cx="105338" cy="105338"/>
          </a:xfrm>
          <a:prstGeom prst="ellipse">
            <a:avLst/>
          </a:prstGeom>
          <a:solidFill>
            <a:srgbClr val="D98C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0" name="Oval 999"/>
          <p:cNvSpPr/>
          <p:nvPr/>
        </p:nvSpPr>
        <p:spPr>
          <a:xfrm>
            <a:off x="10009205" y="2748686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1" name="TextBox 1000"/>
          <p:cNvSpPr txBox="1"/>
          <p:nvPr/>
        </p:nvSpPr>
        <p:spPr>
          <a:xfrm>
            <a:off x="10181844" y="2652652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+33,5</a:t>
            </a:r>
          </a:p>
        </p:txBody>
      </p:sp>
      <p:sp>
        <p:nvSpPr>
          <p:cNvPr id="1002" name="TextBox 1001"/>
          <p:cNvSpPr txBox="1"/>
          <p:nvPr/>
        </p:nvSpPr>
        <p:spPr>
          <a:xfrm>
            <a:off x="10181844" y="2808436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660,9 → 694,4</a:t>
            </a:r>
          </a:p>
        </p:txBody>
      </p:sp>
      <p:sp>
        <p:nvSpPr>
          <p:cNvPr id="1003" name="Rounded Rectangle 1002"/>
          <p:cNvSpPr/>
          <p:nvPr/>
        </p:nvSpPr>
        <p:spPr>
          <a:xfrm>
            <a:off x="603504" y="3026664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4" name="TextBox 1003"/>
          <p:cNvSpPr txBox="1"/>
          <p:nvPr/>
        </p:nvSpPr>
        <p:spPr>
          <a:xfrm>
            <a:off x="786384" y="3026664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Май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1682496" y="3072691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+1,8%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2414016" y="3054988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+3,4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2414016" y="3210772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187,7 → 191,1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4146804" y="3072691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−1,2%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4878324" y="3054988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−2,4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4878324" y="3210772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206,6 → 204,2</a:t>
            </a:r>
          </a:p>
        </p:txBody>
      </p:sp>
      <p:sp>
        <p:nvSpPr>
          <p:cNvPr id="1011" name="Rounded Rectangle 1010"/>
          <p:cNvSpPr/>
          <p:nvPr/>
        </p:nvSpPr>
        <p:spPr>
          <a:xfrm>
            <a:off x="6611112" y="3072691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+6,6%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7342632" y="3054988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+22,6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7342632" y="3210772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340,5 → 363,1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9075420" y="3072691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+3,2%</a:t>
            </a:r>
          </a:p>
        </p:txBody>
      </p:sp>
      <p:sp>
        <p:nvSpPr>
          <p:cNvPr id="1015" name="Rounded Rectangle 1014"/>
          <p:cNvSpPr/>
          <p:nvPr/>
        </p:nvSpPr>
        <p:spPr>
          <a:xfrm>
            <a:off x="9761220" y="313053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6" name="Oval 1015"/>
          <p:cNvSpPr/>
          <p:nvPr/>
        </p:nvSpPr>
        <p:spPr>
          <a:xfrm>
            <a:off x="9773655" y="315102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val 1016"/>
          <p:cNvSpPr/>
          <p:nvPr/>
        </p:nvSpPr>
        <p:spPr>
          <a:xfrm>
            <a:off x="9891430" y="315102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val 1017"/>
          <p:cNvSpPr/>
          <p:nvPr/>
        </p:nvSpPr>
        <p:spPr>
          <a:xfrm>
            <a:off x="10009205" y="315102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9" name="TextBox 1018"/>
          <p:cNvSpPr txBox="1"/>
          <p:nvPr/>
        </p:nvSpPr>
        <p:spPr>
          <a:xfrm>
            <a:off x="10181844" y="3054988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+23,6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10181844" y="3210772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734,8 → 758,4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03504" y="3429000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2" name="TextBox 1021"/>
          <p:cNvSpPr txBox="1"/>
          <p:nvPr/>
        </p:nvSpPr>
        <p:spPr>
          <a:xfrm>
            <a:off x="786384" y="3429000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Июнь</a:t>
            </a:r>
          </a:p>
        </p:txBody>
      </p:sp>
      <p:sp>
        <p:nvSpPr>
          <p:cNvPr id="1023" name="Rounded Rectangle 1022"/>
          <p:cNvSpPr/>
          <p:nvPr/>
        </p:nvSpPr>
        <p:spPr>
          <a:xfrm>
            <a:off x="1682496" y="3475027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+7,6%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2414016" y="3457324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+5,7</a:t>
            </a:r>
          </a:p>
        </p:txBody>
      </p:sp>
      <p:sp>
        <p:nvSpPr>
          <p:cNvPr id="1025" name="TextBox 1024"/>
          <p:cNvSpPr txBox="1"/>
          <p:nvPr/>
        </p:nvSpPr>
        <p:spPr>
          <a:xfrm>
            <a:off x="2414016" y="3613108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74,7 → 80,4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4146804" y="3475027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+6,8%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4878324" y="3457324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+16,1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4878324" y="3613108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237,5 → 253,6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6611112" y="3475027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+19,0%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7342632" y="3457324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+69,1</a:t>
            </a:r>
          </a:p>
        </p:txBody>
      </p:sp>
      <p:sp>
        <p:nvSpPr>
          <p:cNvPr id="1031" name="TextBox 1030"/>
          <p:cNvSpPr txBox="1"/>
          <p:nvPr/>
        </p:nvSpPr>
        <p:spPr>
          <a:xfrm>
            <a:off x="7342632" y="3613108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363,4 → 432,6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9075420" y="3475027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+13,5%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9761220" y="3532875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val 1033"/>
          <p:cNvSpPr/>
          <p:nvPr/>
        </p:nvSpPr>
        <p:spPr>
          <a:xfrm>
            <a:off x="9773655" y="3553358"/>
            <a:ext cx="105338" cy="1053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5" name="Oval 1034"/>
          <p:cNvSpPr/>
          <p:nvPr/>
        </p:nvSpPr>
        <p:spPr>
          <a:xfrm>
            <a:off x="9891430" y="3553358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Oval 1035"/>
          <p:cNvSpPr/>
          <p:nvPr/>
        </p:nvSpPr>
        <p:spPr>
          <a:xfrm>
            <a:off x="10009205" y="3553358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7" name="TextBox 1036"/>
          <p:cNvSpPr txBox="1"/>
          <p:nvPr/>
        </p:nvSpPr>
        <p:spPr>
          <a:xfrm>
            <a:off x="10181844" y="3457324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+90,9</a:t>
            </a:r>
          </a:p>
        </p:txBody>
      </p:sp>
      <p:sp>
        <p:nvSpPr>
          <p:cNvPr id="1038" name="TextBox 1037"/>
          <p:cNvSpPr txBox="1"/>
          <p:nvPr/>
        </p:nvSpPr>
        <p:spPr>
          <a:xfrm>
            <a:off x="10181844" y="3613108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675,7 → 766,6</a:t>
            </a:r>
          </a:p>
        </p:txBody>
      </p:sp>
      <p:sp>
        <p:nvSpPr>
          <p:cNvPr id="1039" name="Rounded Rectangle 1038"/>
          <p:cNvSpPr/>
          <p:nvPr/>
        </p:nvSpPr>
        <p:spPr>
          <a:xfrm>
            <a:off x="603504" y="3831336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TextBox 1039"/>
          <p:cNvSpPr txBox="1"/>
          <p:nvPr/>
        </p:nvSpPr>
        <p:spPr>
          <a:xfrm>
            <a:off x="786384" y="3831336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Июль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1682496" y="3877363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+6,4%</a:t>
            </a:r>
          </a:p>
        </p:txBody>
      </p:sp>
      <p:sp>
        <p:nvSpPr>
          <p:cNvPr id="1042" name="TextBox 1041"/>
          <p:cNvSpPr txBox="1"/>
          <p:nvPr/>
        </p:nvSpPr>
        <p:spPr>
          <a:xfrm>
            <a:off x="2414016" y="3859660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+1,9</a:t>
            </a:r>
          </a:p>
        </p:txBody>
      </p:sp>
      <p:sp>
        <p:nvSpPr>
          <p:cNvPr id="1043" name="TextBox 1042"/>
          <p:cNvSpPr txBox="1"/>
          <p:nvPr/>
        </p:nvSpPr>
        <p:spPr>
          <a:xfrm>
            <a:off x="2414016" y="4015444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29,4 → 31,3</a:t>
            </a:r>
          </a:p>
        </p:txBody>
      </p:sp>
      <p:sp>
        <p:nvSpPr>
          <p:cNvPr id="1044" name="Rounded Rectangle 1043"/>
          <p:cNvSpPr/>
          <p:nvPr/>
        </p:nvSpPr>
        <p:spPr>
          <a:xfrm>
            <a:off x="4146804" y="3877363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+17,2%</a:t>
            </a:r>
          </a:p>
        </p:txBody>
      </p:sp>
      <p:sp>
        <p:nvSpPr>
          <p:cNvPr id="1045" name="TextBox 1044"/>
          <p:cNvSpPr txBox="1"/>
          <p:nvPr/>
        </p:nvSpPr>
        <p:spPr>
          <a:xfrm>
            <a:off x="4878324" y="3859660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+40,4</a:t>
            </a:r>
          </a:p>
        </p:txBody>
      </p:sp>
      <p:sp>
        <p:nvSpPr>
          <p:cNvPr id="1046" name="TextBox 1045"/>
          <p:cNvSpPr txBox="1"/>
          <p:nvPr/>
        </p:nvSpPr>
        <p:spPr>
          <a:xfrm>
            <a:off x="4878324" y="4015444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234,3 → 274,7</a:t>
            </a:r>
          </a:p>
        </p:txBody>
      </p:sp>
      <p:sp>
        <p:nvSpPr>
          <p:cNvPr id="1047" name="Rounded Rectangle 1046"/>
          <p:cNvSpPr/>
          <p:nvPr/>
        </p:nvSpPr>
        <p:spPr>
          <a:xfrm>
            <a:off x="6611112" y="3877363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+13,1%</a:t>
            </a:r>
          </a:p>
        </p:txBody>
      </p:sp>
      <p:sp>
        <p:nvSpPr>
          <p:cNvPr id="1048" name="TextBox 1047"/>
          <p:cNvSpPr txBox="1"/>
          <p:nvPr/>
        </p:nvSpPr>
        <p:spPr>
          <a:xfrm>
            <a:off x="7342632" y="3859660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+52,3</a:t>
            </a:r>
          </a:p>
        </p:txBody>
      </p:sp>
      <p:sp>
        <p:nvSpPr>
          <p:cNvPr id="1049" name="TextBox 1048"/>
          <p:cNvSpPr txBox="1"/>
          <p:nvPr/>
        </p:nvSpPr>
        <p:spPr>
          <a:xfrm>
            <a:off x="7342632" y="4015444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397,8 → 450,1</a:t>
            </a:r>
          </a:p>
        </p:txBody>
      </p:sp>
      <p:sp>
        <p:nvSpPr>
          <p:cNvPr id="1050" name="Rounded Rectangle 1049"/>
          <p:cNvSpPr/>
          <p:nvPr/>
        </p:nvSpPr>
        <p:spPr>
          <a:xfrm>
            <a:off x="9075420" y="3877363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+14,3%</a:t>
            </a:r>
          </a:p>
        </p:txBody>
      </p:sp>
      <p:sp>
        <p:nvSpPr>
          <p:cNvPr id="1051" name="Rounded Rectangle 1050"/>
          <p:cNvSpPr/>
          <p:nvPr/>
        </p:nvSpPr>
        <p:spPr>
          <a:xfrm>
            <a:off x="9761220" y="3935211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val 1051"/>
          <p:cNvSpPr/>
          <p:nvPr/>
        </p:nvSpPr>
        <p:spPr>
          <a:xfrm>
            <a:off x="9773655" y="3955694"/>
            <a:ext cx="105338" cy="105338"/>
          </a:xfrm>
          <a:prstGeom prst="ellipse">
            <a:avLst/>
          </a:prstGeom>
          <a:solidFill>
            <a:srgbClr val="B53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3" name="Oval 1052"/>
          <p:cNvSpPr/>
          <p:nvPr/>
        </p:nvSpPr>
        <p:spPr>
          <a:xfrm>
            <a:off x="9891430" y="3955694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Oval 1053"/>
          <p:cNvSpPr/>
          <p:nvPr/>
        </p:nvSpPr>
        <p:spPr>
          <a:xfrm>
            <a:off x="10009205" y="3955694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TextBox 1054"/>
          <p:cNvSpPr txBox="1"/>
          <p:nvPr/>
        </p:nvSpPr>
        <p:spPr>
          <a:xfrm>
            <a:off x="10181844" y="3859660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+94,6</a:t>
            </a:r>
          </a:p>
        </p:txBody>
      </p:sp>
      <p:sp>
        <p:nvSpPr>
          <p:cNvPr id="1056" name="TextBox 1055"/>
          <p:cNvSpPr txBox="1"/>
          <p:nvPr/>
        </p:nvSpPr>
        <p:spPr>
          <a:xfrm>
            <a:off x="10181844" y="4015444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661,6 → 756,1</a:t>
            </a:r>
          </a:p>
        </p:txBody>
      </p:sp>
      <p:sp>
        <p:nvSpPr>
          <p:cNvPr id="1057" name="Rounded Rectangle 1056"/>
          <p:cNvSpPr/>
          <p:nvPr/>
        </p:nvSpPr>
        <p:spPr>
          <a:xfrm>
            <a:off x="603504" y="4233672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TextBox 1057"/>
          <p:cNvSpPr txBox="1"/>
          <p:nvPr/>
        </p:nvSpPr>
        <p:spPr>
          <a:xfrm>
            <a:off x="786384" y="4233672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Август</a:t>
            </a:r>
          </a:p>
        </p:txBody>
      </p:sp>
      <p:sp>
        <p:nvSpPr>
          <p:cNvPr id="1059" name="Rounded Rectangle 1058"/>
          <p:cNvSpPr/>
          <p:nvPr/>
        </p:nvSpPr>
        <p:spPr>
          <a:xfrm>
            <a:off x="1682496" y="4279699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+3,5%</a:t>
            </a:r>
          </a:p>
        </p:txBody>
      </p:sp>
      <p:sp>
        <p:nvSpPr>
          <p:cNvPr id="1060" name="TextBox 1059"/>
          <p:cNvSpPr txBox="1"/>
          <p:nvPr/>
        </p:nvSpPr>
        <p:spPr>
          <a:xfrm>
            <a:off x="2414016" y="4261996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+5,6</a:t>
            </a:r>
          </a:p>
        </p:txBody>
      </p:sp>
      <p:sp>
        <p:nvSpPr>
          <p:cNvPr id="1061" name="TextBox 1060"/>
          <p:cNvSpPr txBox="1"/>
          <p:nvPr/>
        </p:nvSpPr>
        <p:spPr>
          <a:xfrm>
            <a:off x="2414016" y="4417780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160,8 → 166,4</a:t>
            </a:r>
          </a:p>
        </p:txBody>
      </p:sp>
      <p:sp>
        <p:nvSpPr>
          <p:cNvPr id="1062" name="Rounded Rectangle 1061"/>
          <p:cNvSpPr/>
          <p:nvPr/>
        </p:nvSpPr>
        <p:spPr>
          <a:xfrm>
            <a:off x="4146804" y="4279699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8E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A8650F"/>
                </a:solidFill>
                <a:latin typeface="Arial"/>
              </a:rPr>
              <a:t>−7,7%</a:t>
            </a:r>
          </a:p>
        </p:txBody>
      </p:sp>
      <p:sp>
        <p:nvSpPr>
          <p:cNvPr id="1063" name="TextBox 1062"/>
          <p:cNvSpPr txBox="1"/>
          <p:nvPr/>
        </p:nvSpPr>
        <p:spPr>
          <a:xfrm>
            <a:off x="4878324" y="4261996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−22,2</a:t>
            </a:r>
          </a:p>
        </p:txBody>
      </p:sp>
      <p:sp>
        <p:nvSpPr>
          <p:cNvPr id="1064" name="TextBox 1063"/>
          <p:cNvSpPr txBox="1"/>
          <p:nvPr/>
        </p:nvSpPr>
        <p:spPr>
          <a:xfrm>
            <a:off x="4878324" y="4417780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287,5 → 265,2</a:t>
            </a:r>
          </a:p>
        </p:txBody>
      </p:sp>
      <p:sp>
        <p:nvSpPr>
          <p:cNvPr id="1065" name="Rounded Rectangle 1064"/>
          <p:cNvSpPr/>
          <p:nvPr/>
        </p:nvSpPr>
        <p:spPr>
          <a:xfrm>
            <a:off x="6611112" y="4279699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+17,3%</a:t>
            </a:r>
          </a:p>
        </p:txBody>
      </p:sp>
      <p:sp>
        <p:nvSpPr>
          <p:cNvPr id="1066" name="TextBox 1065"/>
          <p:cNvSpPr txBox="1"/>
          <p:nvPr/>
        </p:nvSpPr>
        <p:spPr>
          <a:xfrm>
            <a:off x="7342632" y="4261996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+52,9</a:t>
            </a:r>
          </a:p>
        </p:txBody>
      </p:sp>
      <p:sp>
        <p:nvSpPr>
          <p:cNvPr id="1067" name="TextBox 1066"/>
          <p:cNvSpPr txBox="1"/>
          <p:nvPr/>
        </p:nvSpPr>
        <p:spPr>
          <a:xfrm>
            <a:off x="7342632" y="4417780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305,2 → 358,1</a:t>
            </a:r>
          </a:p>
        </p:txBody>
      </p:sp>
      <p:sp>
        <p:nvSpPr>
          <p:cNvPr id="1068" name="Rounded Rectangle 1067"/>
          <p:cNvSpPr/>
          <p:nvPr/>
        </p:nvSpPr>
        <p:spPr>
          <a:xfrm>
            <a:off x="9075420" y="4279699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+4,8%</a:t>
            </a:r>
          </a:p>
        </p:txBody>
      </p:sp>
      <p:sp>
        <p:nvSpPr>
          <p:cNvPr id="1069" name="Rounded Rectangle 1068"/>
          <p:cNvSpPr/>
          <p:nvPr/>
        </p:nvSpPr>
        <p:spPr>
          <a:xfrm>
            <a:off x="9761220" y="4337547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Oval 1069"/>
          <p:cNvSpPr/>
          <p:nvPr/>
        </p:nvSpPr>
        <p:spPr>
          <a:xfrm>
            <a:off x="9773655" y="4358030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Oval 1070"/>
          <p:cNvSpPr/>
          <p:nvPr/>
        </p:nvSpPr>
        <p:spPr>
          <a:xfrm>
            <a:off x="9891430" y="4358030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Oval 1071"/>
          <p:cNvSpPr/>
          <p:nvPr/>
        </p:nvSpPr>
        <p:spPr>
          <a:xfrm>
            <a:off x="10009205" y="4358030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TextBox 1072"/>
          <p:cNvSpPr txBox="1"/>
          <p:nvPr/>
        </p:nvSpPr>
        <p:spPr>
          <a:xfrm>
            <a:off x="10181844" y="4261996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+36,3</a:t>
            </a:r>
          </a:p>
        </p:txBody>
      </p:sp>
      <p:sp>
        <p:nvSpPr>
          <p:cNvPr id="1074" name="TextBox 1073"/>
          <p:cNvSpPr txBox="1"/>
          <p:nvPr/>
        </p:nvSpPr>
        <p:spPr>
          <a:xfrm>
            <a:off x="10181844" y="4417780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753,5 → 789,8</a:t>
            </a:r>
          </a:p>
        </p:txBody>
      </p:sp>
      <p:sp>
        <p:nvSpPr>
          <p:cNvPr id="1075" name="Rounded Rectangle 1074"/>
          <p:cNvSpPr/>
          <p:nvPr/>
        </p:nvSpPr>
        <p:spPr>
          <a:xfrm>
            <a:off x="603504" y="4636008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TextBox 1075"/>
          <p:cNvSpPr txBox="1"/>
          <p:nvPr/>
        </p:nvSpPr>
        <p:spPr>
          <a:xfrm>
            <a:off x="786384" y="4636008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Сентябрь</a:t>
            </a:r>
          </a:p>
        </p:txBody>
      </p:sp>
      <p:sp>
        <p:nvSpPr>
          <p:cNvPr id="1077" name="Rounded Rectangle 1076"/>
          <p:cNvSpPr/>
          <p:nvPr/>
        </p:nvSpPr>
        <p:spPr>
          <a:xfrm>
            <a:off x="1682496" y="4682035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+2,3%</a:t>
            </a:r>
          </a:p>
        </p:txBody>
      </p:sp>
      <p:sp>
        <p:nvSpPr>
          <p:cNvPr id="1078" name="TextBox 1077"/>
          <p:cNvSpPr txBox="1"/>
          <p:nvPr/>
        </p:nvSpPr>
        <p:spPr>
          <a:xfrm>
            <a:off x="2414016" y="4664332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+3,0</a:t>
            </a:r>
          </a:p>
        </p:txBody>
      </p:sp>
      <p:sp>
        <p:nvSpPr>
          <p:cNvPr id="1079" name="TextBox 1078"/>
          <p:cNvSpPr txBox="1"/>
          <p:nvPr/>
        </p:nvSpPr>
        <p:spPr>
          <a:xfrm>
            <a:off x="2414016" y="4820116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129,9 → 132,9</a:t>
            </a:r>
          </a:p>
        </p:txBody>
      </p:sp>
      <p:sp>
        <p:nvSpPr>
          <p:cNvPr id="1080" name="Rounded Rectangle 1079"/>
          <p:cNvSpPr/>
          <p:nvPr/>
        </p:nvSpPr>
        <p:spPr>
          <a:xfrm>
            <a:off x="4146804" y="4682035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−3,3%</a:t>
            </a:r>
          </a:p>
        </p:txBody>
      </p:sp>
      <p:sp>
        <p:nvSpPr>
          <p:cNvPr id="1081" name="TextBox 1080"/>
          <p:cNvSpPr txBox="1"/>
          <p:nvPr/>
        </p:nvSpPr>
        <p:spPr>
          <a:xfrm>
            <a:off x="4878324" y="4664332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−7,1</a:t>
            </a:r>
          </a:p>
        </p:txBody>
      </p:sp>
      <p:sp>
        <p:nvSpPr>
          <p:cNvPr id="1082" name="TextBox 1081"/>
          <p:cNvSpPr txBox="1"/>
          <p:nvPr/>
        </p:nvSpPr>
        <p:spPr>
          <a:xfrm>
            <a:off x="4878324" y="4820116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216,5 → 209,4</a:t>
            </a:r>
          </a:p>
        </p:txBody>
      </p:sp>
      <p:sp>
        <p:nvSpPr>
          <p:cNvPr id="1083" name="Rounded Rectangle 1082"/>
          <p:cNvSpPr/>
          <p:nvPr/>
        </p:nvSpPr>
        <p:spPr>
          <a:xfrm>
            <a:off x="6611112" y="4682035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+0,6%</a:t>
            </a:r>
          </a:p>
        </p:txBody>
      </p:sp>
      <p:sp>
        <p:nvSpPr>
          <p:cNvPr id="1084" name="TextBox 1083"/>
          <p:cNvSpPr txBox="1"/>
          <p:nvPr/>
        </p:nvSpPr>
        <p:spPr>
          <a:xfrm>
            <a:off x="7342632" y="4664332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+2,4</a:t>
            </a:r>
          </a:p>
        </p:txBody>
      </p:sp>
      <p:sp>
        <p:nvSpPr>
          <p:cNvPr id="1085" name="TextBox 1084"/>
          <p:cNvSpPr txBox="1"/>
          <p:nvPr/>
        </p:nvSpPr>
        <p:spPr>
          <a:xfrm>
            <a:off x="7342632" y="4820116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422,5 → 424,8</a:t>
            </a:r>
          </a:p>
        </p:txBody>
      </p:sp>
      <p:sp>
        <p:nvSpPr>
          <p:cNvPr id="1086" name="Rounded Rectangle 1085"/>
          <p:cNvSpPr/>
          <p:nvPr/>
        </p:nvSpPr>
        <p:spPr>
          <a:xfrm>
            <a:off x="9075420" y="4682035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−0,2%</a:t>
            </a:r>
          </a:p>
        </p:txBody>
      </p:sp>
      <p:sp>
        <p:nvSpPr>
          <p:cNvPr id="1087" name="Rounded Rectangle 1086"/>
          <p:cNvSpPr/>
          <p:nvPr/>
        </p:nvSpPr>
        <p:spPr>
          <a:xfrm>
            <a:off x="9761220" y="4739883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Oval 1087"/>
          <p:cNvSpPr/>
          <p:nvPr/>
        </p:nvSpPr>
        <p:spPr>
          <a:xfrm>
            <a:off x="9773655" y="4760366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9" name="Oval 1088"/>
          <p:cNvSpPr/>
          <p:nvPr/>
        </p:nvSpPr>
        <p:spPr>
          <a:xfrm>
            <a:off x="9891430" y="4760366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0" name="Oval 1089"/>
          <p:cNvSpPr/>
          <p:nvPr/>
        </p:nvSpPr>
        <p:spPr>
          <a:xfrm>
            <a:off x="10009205" y="4760366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10181844" y="4664332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rial"/>
              </a:rPr>
              <a:t>Δ −1,7</a:t>
            </a:r>
          </a:p>
        </p:txBody>
      </p:sp>
      <p:sp>
        <p:nvSpPr>
          <p:cNvPr id="1092" name="TextBox 1091"/>
          <p:cNvSpPr txBox="1"/>
          <p:nvPr/>
        </p:nvSpPr>
        <p:spPr>
          <a:xfrm>
            <a:off x="10181844" y="4820116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768,9 → 767,1</a:t>
            </a:r>
          </a:p>
        </p:txBody>
      </p:sp>
      <p:sp>
        <p:nvSpPr>
          <p:cNvPr id="1093" name="Rounded Rectangle 1092"/>
          <p:cNvSpPr/>
          <p:nvPr/>
        </p:nvSpPr>
        <p:spPr>
          <a:xfrm>
            <a:off x="603504" y="5038344"/>
            <a:ext cx="10972800" cy="354055"/>
          </a:xfrm>
          <a:prstGeom prst="roundRect">
            <a:avLst>
              <a:gd name="adj" fmla="val 12000"/>
            </a:avLst>
          </a:prstGeom>
          <a:solidFill>
            <a:srgbClr val="F4F5F6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786384" y="5038344"/>
            <a:ext cx="1143000" cy="3540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F2933"/>
                </a:solidFill>
                <a:latin typeface="Arial"/>
              </a:rPr>
              <a:t>Итого 9 мес.</a:t>
            </a:r>
          </a:p>
        </p:txBody>
      </p:sp>
      <p:sp>
        <p:nvSpPr>
          <p:cNvPr id="1095" name="Rounded Rectangle 1094"/>
          <p:cNvSpPr/>
          <p:nvPr/>
        </p:nvSpPr>
        <p:spPr>
          <a:xfrm>
            <a:off x="1682496" y="5084371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−2,4%</a:t>
            </a:r>
          </a:p>
        </p:txBody>
      </p:sp>
      <p:sp>
        <p:nvSpPr>
          <p:cNvPr id="1096" name="TextBox 1095"/>
          <p:cNvSpPr txBox="1"/>
          <p:nvPr/>
        </p:nvSpPr>
        <p:spPr>
          <a:xfrm>
            <a:off x="2414016" y="5066668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−32,3</a:t>
            </a:r>
          </a:p>
        </p:txBody>
      </p:sp>
      <p:sp>
        <p:nvSpPr>
          <p:cNvPr id="1097" name="TextBox 1096"/>
          <p:cNvSpPr txBox="1"/>
          <p:nvPr/>
        </p:nvSpPr>
        <p:spPr>
          <a:xfrm>
            <a:off x="2414016" y="5222452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1 361,5 → 1 329,2</a:t>
            </a:r>
          </a:p>
        </p:txBody>
      </p:sp>
      <p:sp>
        <p:nvSpPr>
          <p:cNvPr id="1098" name="Rounded Rectangle 1097"/>
          <p:cNvSpPr/>
          <p:nvPr/>
        </p:nvSpPr>
        <p:spPr>
          <a:xfrm>
            <a:off x="4146804" y="5084371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−2,3%</a:t>
            </a:r>
          </a:p>
        </p:txBody>
      </p:sp>
      <p:sp>
        <p:nvSpPr>
          <p:cNvPr id="1099" name="TextBox 1098"/>
          <p:cNvSpPr txBox="1"/>
          <p:nvPr/>
        </p:nvSpPr>
        <p:spPr>
          <a:xfrm>
            <a:off x="4878324" y="5066668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−52,1</a:t>
            </a:r>
          </a:p>
        </p:txBody>
      </p:sp>
      <p:sp>
        <p:nvSpPr>
          <p:cNvPr id="1100" name="TextBox 1099"/>
          <p:cNvSpPr txBox="1"/>
          <p:nvPr/>
        </p:nvSpPr>
        <p:spPr>
          <a:xfrm>
            <a:off x="4878324" y="5222452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2 281,4 → 2 229,3</a:t>
            </a:r>
          </a:p>
        </p:txBody>
      </p:sp>
      <p:sp>
        <p:nvSpPr>
          <p:cNvPr id="1101" name="Rounded Rectangle 1100"/>
          <p:cNvSpPr/>
          <p:nvPr/>
        </p:nvSpPr>
        <p:spPr>
          <a:xfrm>
            <a:off x="6611112" y="5084371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F6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B53F2F"/>
                </a:solidFill>
                <a:latin typeface="Arial"/>
              </a:rPr>
              <a:t>+9,4%</a:t>
            </a:r>
          </a:p>
        </p:txBody>
      </p:sp>
      <p:sp>
        <p:nvSpPr>
          <p:cNvPr id="1102" name="TextBox 1101"/>
          <p:cNvSpPr txBox="1"/>
          <p:nvPr/>
        </p:nvSpPr>
        <p:spPr>
          <a:xfrm>
            <a:off x="7342632" y="5066668"/>
            <a:ext cx="1677924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+228,9</a:t>
            </a:r>
          </a:p>
        </p:txBody>
      </p:sp>
      <p:sp>
        <p:nvSpPr>
          <p:cNvPr id="1103" name="TextBox 1102"/>
          <p:cNvSpPr txBox="1"/>
          <p:nvPr/>
        </p:nvSpPr>
        <p:spPr>
          <a:xfrm>
            <a:off x="7342632" y="5222452"/>
            <a:ext cx="1769364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2 432,2 → 2 661,0</a:t>
            </a:r>
          </a:p>
        </p:txBody>
      </p:sp>
      <p:sp>
        <p:nvSpPr>
          <p:cNvPr id="1104" name="Rounded Rectangle 1103"/>
          <p:cNvSpPr/>
          <p:nvPr/>
        </p:nvSpPr>
        <p:spPr>
          <a:xfrm>
            <a:off x="9075420" y="5084371"/>
            <a:ext cx="640080" cy="262001"/>
          </a:xfrm>
          <a:prstGeom prst="roundRect">
            <a:avLst>
              <a:gd name="adj" fmla="val 25000"/>
            </a:avLst>
          </a:prstGeom>
          <a:solidFill>
            <a:srgbClr val="E4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50" b="1">
                <a:solidFill>
                  <a:srgbClr val="2E7D6B"/>
                </a:solidFill>
                <a:latin typeface="Arial"/>
              </a:rPr>
              <a:t>+2,4%</a:t>
            </a:r>
          </a:p>
        </p:txBody>
      </p:sp>
      <p:sp>
        <p:nvSpPr>
          <p:cNvPr id="1105" name="Rounded Rectangle 1104"/>
          <p:cNvSpPr/>
          <p:nvPr/>
        </p:nvSpPr>
        <p:spPr>
          <a:xfrm>
            <a:off x="9761220" y="5142219"/>
            <a:ext cx="365760" cy="146304"/>
          </a:xfrm>
          <a:prstGeom prst="roundRect">
            <a:avLst>
              <a:gd name="adj" fmla="val 50000"/>
            </a:avLst>
          </a:prstGeom>
          <a:solidFill>
            <a:srgbClr val="3A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Oval 1105"/>
          <p:cNvSpPr/>
          <p:nvPr/>
        </p:nvSpPr>
        <p:spPr>
          <a:xfrm>
            <a:off x="9773655" y="516270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7" name="Oval 1106"/>
          <p:cNvSpPr/>
          <p:nvPr/>
        </p:nvSpPr>
        <p:spPr>
          <a:xfrm>
            <a:off x="9891430" y="5162702"/>
            <a:ext cx="105338" cy="105338"/>
          </a:xfrm>
          <a:prstGeom prst="ellipse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8" name="Oval 1107"/>
          <p:cNvSpPr/>
          <p:nvPr/>
        </p:nvSpPr>
        <p:spPr>
          <a:xfrm>
            <a:off x="10009205" y="5162702"/>
            <a:ext cx="105338" cy="105338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10181844" y="5066668"/>
            <a:ext cx="1303020" cy="1628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1F2933"/>
                </a:solidFill>
                <a:latin typeface="Arial"/>
              </a:rPr>
              <a:t>Δ +144,4</a:t>
            </a:r>
          </a:p>
        </p:txBody>
      </p:sp>
      <p:sp>
        <p:nvSpPr>
          <p:cNvPr id="1110" name="TextBox 1109"/>
          <p:cNvSpPr txBox="1"/>
          <p:nvPr/>
        </p:nvSpPr>
        <p:spPr>
          <a:xfrm>
            <a:off x="10181844" y="5222452"/>
            <a:ext cx="1394460" cy="1487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6B7785"/>
                </a:solidFill>
                <a:latin typeface="Arial"/>
              </a:rPr>
              <a:t>6 075,1 → 6 219,5</a:t>
            </a:r>
          </a:p>
        </p:txBody>
      </p:sp>
      <p:sp>
        <p:nvSpPr>
          <p:cNvPr id="1111" name="Rounded Rectangle 1110"/>
          <p:cNvSpPr/>
          <p:nvPr/>
        </p:nvSpPr>
        <p:spPr>
          <a:xfrm>
            <a:off x="603504" y="5486400"/>
            <a:ext cx="919886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8872" rIns="118872" tIns="54864"/>
          <a:lstStyle/>
          <a:p>
            <a:pPr algn="l"/>
            <a:r>
              <a:rPr sz="900" b="1">
                <a:solidFill>
                  <a:srgbClr val="6B7785"/>
                </a:solidFill>
                <a:latin typeface="Arial"/>
              </a:rPr>
              <a:t>Комментарии: </a:t>
            </a:r>
            <a:r>
              <a:rPr sz="900" b="0">
                <a:solidFill>
                  <a:srgbClr val="404040"/>
                </a:solidFill>
                <a:latin typeface="Arial"/>
              </a:rPr>
              <a:t>Замер — маркшейдерская справка Токко по стадиям; учёт — места погрузки ST-1…ST-3. По стадиям отклонения больше, чем по карьеру: в феврале стадия 2 −32%, стадия 3 +32% — объём отнесён в ОУ к другой стадии. В июне–августе стадия 3 завышена в ОУ (+13…19%); за 9 месяцев: стадия 1 −2,4%, стадия 2 −2,3%, стадия 3 +9,4%.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64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Custom Design">
  <a:themeElements>
    <a:clrScheme name="NG_colors_r1">
      <a:dk1>
        <a:srgbClr val="191B1D"/>
      </a:dk1>
      <a:lt1>
        <a:srgbClr val="FFFFFF"/>
      </a:lt1>
      <a:dk2>
        <a:srgbClr val="404144"/>
      </a:dk2>
      <a:lt2>
        <a:srgbClr val="E7E6E6"/>
      </a:lt2>
      <a:accent1>
        <a:srgbClr val="F0AB00"/>
      </a:accent1>
      <a:accent2>
        <a:srgbClr val="A2AD00"/>
      </a:accent2>
      <a:accent3>
        <a:srgbClr val="A71930"/>
      </a:accent3>
      <a:accent4>
        <a:srgbClr val="786592"/>
      </a:accent4>
      <a:accent5>
        <a:srgbClr val="002C5F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Custom Design">
  <a:themeElements>
    <a:clrScheme name="NG_colors_r1">
      <a:dk1>
        <a:srgbClr val="191B1D"/>
      </a:dk1>
      <a:lt1>
        <a:srgbClr val="FFFFFF"/>
      </a:lt1>
      <a:dk2>
        <a:srgbClr val="404144"/>
      </a:dk2>
      <a:lt2>
        <a:srgbClr val="E7E6E6"/>
      </a:lt2>
      <a:accent1>
        <a:srgbClr val="F0AB00"/>
      </a:accent1>
      <a:accent2>
        <a:srgbClr val="A2AD00"/>
      </a:accent2>
      <a:accent3>
        <a:srgbClr val="A71930"/>
      </a:accent3>
      <a:accent4>
        <a:srgbClr val="786592"/>
      </a:accent4>
      <a:accent5>
        <a:srgbClr val="002C5F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NG_colors_r1">
      <a:dk1>
        <a:srgbClr val="191B1D"/>
      </a:dk1>
      <a:lt1>
        <a:srgbClr val="FFFFFF"/>
      </a:lt1>
      <a:dk2>
        <a:srgbClr val="404144"/>
      </a:dk2>
      <a:lt2>
        <a:srgbClr val="E7E6E6"/>
      </a:lt2>
      <a:accent1>
        <a:srgbClr val="F0AB00"/>
      </a:accent1>
      <a:accent2>
        <a:srgbClr val="A2AD00"/>
      </a:accent2>
      <a:accent3>
        <a:srgbClr val="A71930"/>
      </a:accent3>
      <a:accent4>
        <a:srgbClr val="786592"/>
      </a:accent4>
      <a:accent5>
        <a:srgbClr val="002C5F"/>
      </a:accent5>
      <a:accent6>
        <a:srgbClr val="666666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5371</TotalTime>
  <Words>132</Words>
  <Application>Microsoft Office PowerPoint</Application>
  <PresentationFormat>Широкоэкранный</PresentationFormat>
  <Paragraphs>47</Paragraphs>
  <Slides>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Arial</vt:lpstr>
      <vt:lpstr>Arial Regular</vt:lpstr>
      <vt:lpstr>Calibri</vt:lpstr>
      <vt:lpstr>3_Custom Design</vt:lpstr>
      <vt:lpstr>4_Custom Design</vt:lpstr>
      <vt:lpstr>1_Custom Design</vt:lpstr>
      <vt:lpstr>Слайд think-cell</vt:lpstr>
      <vt:lpstr>Презентация PowerPoint</vt:lpstr>
    </vt:vector>
  </TitlesOfParts>
  <Company>Severstal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FMS Gross Status — August 2026</dc:title>
  <dc:creator>Gushchin Stanislav</dc:creator>
  <cp:lastModifiedBy>Kinash Iakov</cp:lastModifiedBy>
  <cp:revision>126</cp:revision>
  <dcterms:created xsi:type="dcterms:W3CDTF">2025-05-26T09:10:38Z</dcterms:created>
  <dcterms:modified xsi:type="dcterms:W3CDTF">2026-10-26T07:28:51Z</dcterms:modified>
  <dc:language>ru-RU</dc:language>
</cp:coreProperties>
</file>